
<file path=[Content_Types].xml><?xml version="1.0" encoding="utf-8"?>
<Types xmlns="http://schemas.openxmlformats.org/package/2006/content-types">
  <Default Extension="jpg" ContentType="image/jp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304" r:id="rId2"/>
    <p:sldId id="303" r:id="rId3"/>
    <p:sldId id="305" r:id="rId4"/>
    <p:sldId id="306" r:id="rId5"/>
    <p:sldId id="307" r:id="rId6"/>
    <p:sldId id="308" r:id="rId7"/>
    <p:sldId id="309" r:id="rId8"/>
    <p:sldId id="310" r:id="rId9"/>
    <p:sldId id="311" r:id="rId10"/>
    <p:sldId id="312" r:id="rId11"/>
    <p:sldId id="313" r:id="rId12"/>
    <p:sldId id="314" r:id="rId13"/>
    <p:sldId id="315" r:id="rId14"/>
    <p:sldId id="316"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67" d="100"/>
          <a:sy n="67" d="100"/>
        </p:scale>
        <p:origin x="317"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149812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deck introduces Matter of Place to the first agents and brokerages we are inviting in. Matter of Place is a selective real-estate media platform for existing residential property in California, New York and Florida. Use the Agenda link on any slide to move between sections.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line is a link to its section. Every slide carries a small Agenda link in the top right corner that returns here.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Matter of Place is editorial first. We decide what deserves attention, present it properly, and then distribute it through owned media, social, email and precision programmatic media. We work in three markets only: California, New York and Florida, and only with existing residential property.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 qualities: Architecture, Design, Originality, Materiality, Setting, History, Craft, Sense of place. A property's price does not decide whether it belongs in Matter of Place. A thoughtful, architecturally significant residence can deserve more attention than a larger, generic 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property is reviewed against the editorial standard before any product is chosen or paid for. Payment never overrides editorial review, and a declined property is not charged. Five Features credits are not used by declined properties.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Feature, $295. The Feature is editorial presence: a permanent, search-indexable Matter of Place page with an edited narrative, curated images, a social carousel, attribution and direct inquiry routing. Call to action on the site: Submit a Property.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Reach, $695. The Reach is our recommended product. It adds Stories, newsletter inclusion, priority scheduling, homepage or market-page rotation and programmatic campaign planning. Programmatic media spend is not included in the $695; it is billed separately. Call to action on the site: Expand the Reach.</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Campaign, $1,495 (Recommended media investment: $500 to $2,500+). The Campaign is a deeper, multi-channel treatment over a 10 to 14 day window, including a short-form video from supplied assets and a standalone email. We suggest a media investment of $500 to $2,500 or more, billed separately. Media spend is never required. Call to action on the site: Build a Campaign.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Features, $1,250 ($250 per property). Five Features is a package of five Feature credits for agents, teams and brokerages with several qualifying properties: $250 per property. It is not a subscription or membership. Every property is still reviewed, and a declined property does not use a credit. Call to action on the site: Secure Five Features.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product begins with editorial review. The Reach is recommended for most properties. Programmatic media is always separate from product fees and is never required.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every campaign uses every channel. Distribution is chosen by property, location, audience, campaign objective, budget and available creative. Programmatic media begins from $250, with a management fee of 15% of media spend and a $100 minimum management fee. We never promise views, leads or sales.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about this with every partner. Matter of Place is not a brokerage, does not sell leads and does not guarantee a transaction. It covers existing residential property in three states only.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paying guarantee acceptance? No. Every property is subject to the Matter of Place editorial standard. Do you guarantee buyers or leads? No. Matter of Place provides editorial exposure and media distribution, not transaction guarantees. Can I submit properties outside California, New York or Florida? Not currently. Do you work with new developments? Not currently. Matter of Place is focused on existing residential property. Is paid media included? No. Programmatic media budgets are separate from editorial product fees. Can agents purchase multiple Features? Yes. Five Feature credits are available for $1,250. Can a property remain discreet? Yes. Sensitive property details can be handled discreetly where appropriate.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partners to matterofplace.com/submit. We review every submission and reply. Matter of Place is a product of Omnikom.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hyperlink" Target="https://matterofplace.com/submit"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hyperlink" Target="https://matterofplace.com/submit"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hyperlink" Target="https://matterofplace.com/submit"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hyperlink" Target="https://matterofplace.com/submit" TargetMode="Externa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hyperlink" Target="https://matterofplace.com/submit"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0F"/>
        </a:solidFill>
        <a:effectLst/>
      </p:bgPr>
    </p:bg>
    <p:spTree>
      <p:nvGrpSpPr>
        <p:cNvPr id="1" name=""/>
        <p:cNvGrpSpPr/>
        <p:nvPr/>
      </p:nvGrpSpPr>
      <p:grpSpPr>
        <a:xfrm>
          <a:off x="0" y="0"/>
          <a:ext cx="0" cy="0"/>
          <a:chOff x="0" y="0"/>
          <a:chExt cx="0" cy="0"/>
        </a:xfrm>
      </p:grpSpPr>
      <p:pic>
        <p:nvPicPr>
          <p:cNvPr id="2" name="!!Photo" descr="E:/Matter Of Place/Matter Of Place Codebase/src/assets/tiburon.jpg"/>
          <p:cNvPicPr>
            <a:picLocks noChangeAspect="1"/>
          </p:cNvPicPr>
          <p:nvPr/>
        </p:nvPicPr>
        <p:blipFill>
          <a:blip r:embed="rId3"/>
          <a:srcRect t="9238" b="9238"/>
          <a:stretch/>
        </p:blipFill>
        <p:spPr>
          <a:xfrm>
            <a:off x="0" y="0"/>
            <a:ext cx="12191695" cy="6858000"/>
          </a:xfrm>
          <a:prstGeom prst="rect">
            <a:avLst/>
          </a:prstGeom>
        </p:spPr>
      </p:pic>
      <p:sp>
        <p:nvSpPr>
          <p:cNvPr id="3" name="s1-3"/>
          <p:cNvSpPr/>
          <p:nvPr/>
        </p:nvSpPr>
        <p:spPr>
          <a:xfrm>
            <a:off x="7071055" y="502920"/>
            <a:ext cx="4617720" cy="5852160"/>
          </a:xfrm>
          <a:prstGeom prst="rect">
            <a:avLst/>
          </a:prstGeom>
          <a:solidFill>
            <a:srgbClr val="EEEAE1"/>
          </a:solidFill>
          <a:ln/>
        </p:spPr>
      </p:sp>
      <p:sp>
        <p:nvSpPr>
          <p:cNvPr id="4" name="s1-4"/>
          <p:cNvSpPr/>
          <p:nvPr/>
        </p:nvSpPr>
        <p:spPr>
          <a:xfrm>
            <a:off x="7679372" y="1134578"/>
            <a:ext cx="387898" cy="484873"/>
          </a:xfrm>
          <a:custGeom>
            <a:avLst/>
            <a:gdLst/>
            <a:ahLst/>
            <a:cxnLst/>
            <a:rect l="l" t="t" r="r" b="b"/>
            <a:pathLst>
              <a:path w="387898" h="484873">
                <a:moveTo>
                  <a:pt x="0" y="0"/>
                </a:moveTo>
                <a:lnTo>
                  <a:pt x="193949" y="82055"/>
                </a:lnTo>
                <a:lnTo>
                  <a:pt x="89515" y="119353"/>
                </a:lnTo>
                <a:lnTo>
                  <a:pt x="89515" y="440115"/>
                </a:lnTo>
                <a:lnTo>
                  <a:pt x="0" y="484873"/>
                </a:lnTo>
                <a:close/>
              </a:path>
            </a:pathLst>
          </a:custGeom>
          <a:solidFill>
            <a:srgbClr val="11110F">
              <a:alpha val="90000"/>
            </a:srgbClr>
          </a:solidFill>
          <a:ln/>
        </p:spPr>
      </p:sp>
      <p:sp>
        <p:nvSpPr>
          <p:cNvPr id="5" name="s1-5"/>
          <p:cNvSpPr/>
          <p:nvPr/>
        </p:nvSpPr>
        <p:spPr>
          <a:xfrm>
            <a:off x="7679372" y="1134578"/>
            <a:ext cx="387898" cy="484873"/>
          </a:xfrm>
          <a:custGeom>
            <a:avLst/>
            <a:gdLst/>
            <a:ahLst/>
            <a:cxnLst/>
            <a:rect l="l" t="t" r="r" b="b"/>
            <a:pathLst>
              <a:path w="387898" h="484873">
                <a:moveTo>
                  <a:pt x="0" y="0"/>
                </a:moveTo>
                <a:lnTo>
                  <a:pt x="387898" y="0"/>
                </a:lnTo>
                <a:lnTo>
                  <a:pt x="387898" y="484873"/>
                </a:lnTo>
                <a:lnTo>
                  <a:pt x="298383" y="440115"/>
                </a:lnTo>
                <a:lnTo>
                  <a:pt x="298383" y="119353"/>
                </a:lnTo>
                <a:close/>
              </a:path>
            </a:pathLst>
          </a:custGeom>
          <a:solidFill>
            <a:srgbClr val="11110F">
              <a:alpha val="40000"/>
            </a:srgbClr>
          </a:solidFill>
          <a:ln/>
        </p:spPr>
      </p:sp>
      <p:sp>
        <p:nvSpPr>
          <p:cNvPr id="6" name="s1-6"/>
          <p:cNvSpPr/>
          <p:nvPr/>
        </p:nvSpPr>
        <p:spPr>
          <a:xfrm>
            <a:off x="7619695" y="1828800"/>
            <a:ext cx="3840480" cy="342900"/>
          </a:xfrm>
          <a:prstGeom prst="rect">
            <a:avLst/>
          </a:prstGeom>
          <a:noFill/>
          <a:ln/>
        </p:spPr>
        <p:txBody>
          <a:bodyPr wrap="square" lIns="0" tIns="0" rIns="0" bIns="0" rtlCol="0" anchor="ctr"/>
          <a:lstStyle/>
          <a:p>
            <a:pPr marL="0" indent="0" algn="l">
              <a:buNone/>
            </a:pPr>
            <a:r>
              <a:rPr lang="en-US" sz="1500" kern="0" spc="360" dirty="0">
                <a:solidFill>
                  <a:srgbClr val="11110F"/>
                </a:solidFill>
                <a:latin typeface="Jost" pitchFamily="34" charset="0"/>
                <a:ea typeface="Jost" pitchFamily="34" charset="-122"/>
                <a:cs typeface="Jost" pitchFamily="34" charset="-120"/>
              </a:rPr>
              <a:t>MΛTTER </a:t>
            </a:r>
            <a:r>
              <a:rPr lang="en-US" sz="900" kern="0" spc="360" dirty="0">
                <a:solidFill>
                  <a:srgbClr val="11110F"/>
                </a:solidFill>
                <a:latin typeface="Jost" pitchFamily="34" charset="0"/>
                <a:ea typeface="Jost" pitchFamily="34" charset="-122"/>
                <a:cs typeface="Jost" pitchFamily="34" charset="-120"/>
              </a:rPr>
              <a:t>OF</a:t>
            </a:r>
            <a:r>
              <a:rPr lang="en-US" sz="1500" kern="0" spc="360" dirty="0">
                <a:solidFill>
                  <a:srgbClr val="11110F"/>
                </a:solidFill>
                <a:latin typeface="Jost" pitchFamily="34" charset="0"/>
                <a:ea typeface="Jost" pitchFamily="34" charset="-122"/>
                <a:cs typeface="Jost" pitchFamily="34" charset="-120"/>
              </a:rPr>
              <a:t> PLΛCE</a:t>
            </a:r>
            <a:endParaRPr lang="en-US" sz="1500" dirty="0"/>
          </a:p>
        </p:txBody>
      </p:sp>
      <p:sp>
        <p:nvSpPr>
          <p:cNvPr id="7" name="s1-7"/>
          <p:cNvSpPr/>
          <p:nvPr/>
        </p:nvSpPr>
        <p:spPr>
          <a:xfrm>
            <a:off x="7620000" y="2870200"/>
            <a:ext cx="3568700" cy="254000"/>
          </a:xfrm>
          <a:prstGeom prst="rect">
            <a:avLst/>
          </a:prstGeom>
          <a:noFill/>
          <a:ln/>
        </p:spPr>
        <p:txBody>
          <a:bodyPr wrap="square" lIns="0" tIns="0" rIns="0" bIns="0" rtlCol="0" anchor="ctr"/>
          <a:lstStyle/>
          <a:p>
            <a:pPr marL="0" indent="0">
              <a:buNone/>
            </a:pPr>
            <a:r>
              <a:rPr lang="en-US" sz="1050" kern="0" spc="300" dirty="0">
                <a:solidFill>
                  <a:srgbClr val="575751"/>
                </a:solidFill>
                <a:latin typeface="Jost" pitchFamily="34" charset="0"/>
                <a:ea typeface="Jost" pitchFamily="34" charset="-122"/>
                <a:cs typeface="Jost" pitchFamily="34" charset="-120"/>
              </a:rPr>
              <a:t>FOR PARTNERS</a:t>
            </a:r>
            <a:endParaRPr lang="en-US" sz="1050" dirty="0"/>
          </a:p>
        </p:txBody>
      </p:sp>
      <p:sp>
        <p:nvSpPr>
          <p:cNvPr id="8" name="s1-8"/>
          <p:cNvSpPr/>
          <p:nvPr/>
        </p:nvSpPr>
        <p:spPr>
          <a:xfrm>
            <a:off x="7620000" y="3225800"/>
            <a:ext cx="3568700" cy="1651000"/>
          </a:xfrm>
          <a:prstGeom prst="rect">
            <a:avLst/>
          </a:prstGeom>
          <a:noFill/>
          <a:ln/>
        </p:spPr>
        <p:txBody>
          <a:bodyPr wrap="square" lIns="0" tIns="0" rIns="0" bIns="0" rtlCol="0" anchor="t"/>
          <a:lstStyle/>
          <a:p>
            <a:pPr marL="0" indent="0">
              <a:buNone/>
            </a:pPr>
            <a:r>
              <a:rPr lang="en-US" sz="2600" dirty="0">
                <a:solidFill>
                  <a:srgbClr val="11110F"/>
                </a:solidFill>
                <a:latin typeface="Cormorant Garamond" pitchFamily="34" charset="0"/>
                <a:ea typeface="Cormorant Garamond" pitchFamily="34" charset="-122"/>
                <a:cs typeface="Cormorant Garamond" pitchFamily="34" charset="-120"/>
              </a:rPr>
              <a:t>An introduction for the first agents and brokerages invited into Matter of Place.</a:t>
            </a:r>
            <a:endParaRPr lang="en-US" sz="2600" dirty="0"/>
          </a:p>
        </p:txBody>
      </p:sp>
      <p:sp>
        <p:nvSpPr>
          <p:cNvPr id="9" name="!!Agenda">
            <a:hlinkClick r:id="" action="ppaction://noaction"/>
          </p:cNvPr>
          <p:cNvSpPr/>
          <p:nvPr/>
        </p:nvSpPr>
        <p:spPr>
          <a:xfrm>
            <a:off x="7620000" y="5740400"/>
            <a:ext cx="1778000" cy="254000"/>
          </a:xfrm>
          <a:prstGeom prst="rect">
            <a:avLst/>
          </a:prstGeom>
          <a:noFill/>
          <a:ln/>
        </p:spPr>
        <p:txBody>
          <a:bodyPr wrap="square" lIns="0" tIns="0" rIns="0" bIns="0" rtlCol="0" anchor="ctr"/>
          <a:lstStyle/>
          <a:p>
            <a:pPr marL="0" indent="0">
              <a:buNone/>
            </a:pPr>
            <a:r>
              <a:rPr lang="en-US" sz="1000" u="sng" kern="0" spc="250" dirty="0">
                <a:solidFill>
                  <a:srgbClr val="11110F"/>
                </a:solidFill>
                <a:latin typeface="Jost" pitchFamily="34" charset="0"/>
                <a:ea typeface="Jost" pitchFamily="34" charset="-122"/>
                <a:cs typeface="Jost" pitchFamily="34" charset="-120"/>
                <a:hlinkClick r:id="" action="ppaction://noaction">
                  <a:extLst>
                    <a:ext uri="{A12FA001-AC4F-418D-AE19-62706E023703}">
                      <ahyp:hlinkClr xmlns:ahyp="http://schemas.microsoft.com/office/drawing/2018/hyperlinkcolor" val="tx"/>
                    </a:ext>
                  </a:extLst>
                </a:hlinkClick>
              </a:rPr>
              <a:t>Agenda</a:t>
            </a:r>
            <a:endParaRPr lang="en-US" sz="1000" dirty="0"/>
          </a:p>
        </p:txBody>
      </p:sp>
      <p:sp>
        <p:nvSpPr>
          <p:cNvPr id="10" name="!!Page"/>
          <p:cNvSpPr/>
          <p:nvPr/>
        </p:nvSpPr>
        <p:spPr>
          <a:xfrm>
            <a:off x="9918700" y="5740400"/>
            <a:ext cx="1270000" cy="254000"/>
          </a:xfrm>
          <a:prstGeom prst="rect">
            <a:avLst/>
          </a:prstGeom>
          <a:noFill/>
          <a:ln/>
        </p:spPr>
        <p:txBody>
          <a:bodyPr wrap="square" lIns="0" tIns="0" rIns="0" bIns="0" rtlCol="0" anchor="ctr"/>
          <a:lstStyle/>
          <a:p>
            <a:pPr marL="0" indent="0" algn="r">
              <a:buNone/>
            </a:pPr>
            <a:r>
              <a:rPr lang="en-US" sz="900" kern="0" spc="250" dirty="0">
                <a:solidFill>
                  <a:srgbClr val="5E5A54"/>
                </a:solidFill>
                <a:latin typeface="Jost" pitchFamily="34" charset="0"/>
                <a:ea typeface="Jost" pitchFamily="34" charset="-122"/>
                <a:cs typeface="Jost" pitchFamily="34" charset="-120"/>
              </a:rPr>
              <a:t>01 / 14</a:t>
            </a:r>
            <a:endParaRPr lang="en-US" sz="900" dirty="0"/>
          </a:p>
        </p:txBody>
      </p:sp>
    </p:spTree>
    <p:extLst>
      <p:ext uri="{BB962C8B-B14F-4D97-AF65-F5344CB8AC3E}">
        <p14:creationId xmlns:p14="http://schemas.microsoft.com/office/powerpoint/2010/main" val="2436746907"/>
      </p:ext>
    </p:extLst>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withEffect">
                                  <p:stCondLst>
                                    <p:cond delay="0"/>
                                  </p:stCondLst>
                                  <p:childTnLst>
                                    <p:animScale>
                                      <p:cBhvr>
                                        <p:cTn id="6" dur="14000" decel="60000" fill="hold"/>
                                        <p:tgtEl>
                                          <p:spTgt spid="2"/>
                                        </p:tgtEl>
                                      </p:cBhvr>
                                      <p:by x="105000" y="105000"/>
                                    </p:animScale>
                                  </p:childTnLst>
                                </p:cTn>
                              </p:par>
                              <p:par>
                                <p:cTn id="7" presetID="10" presetClass="entr" presetSubtype="0" fill="hold" nodeType="withEffect">
                                  <p:stCondLst>
                                    <p:cond delay="300"/>
                                  </p:stCondLst>
                                  <p:childTnLst>
                                    <p:set>
                                      <p:cBhvr>
                                        <p:cTn id="8" dur="1" fill="hold">
                                          <p:stCondLst>
                                            <p:cond delay="0"/>
                                          </p:stCondLst>
                                        </p:cTn>
                                        <p:tgtEl>
                                          <p:spTgt spid="3"/>
                                        </p:tgtEl>
                                        <p:attrNameLst>
                                          <p:attrName>style.visibility</p:attrName>
                                        </p:attrNameLst>
                                      </p:cBhvr>
                                      <p:to>
                                        <p:strVal val="visible"/>
                                      </p:to>
                                    </p:set>
                                    <p:animEffect transition="in" filter="fade">
                                      <p:cBhvr>
                                        <p:cTn id="9" dur="1300"/>
                                        <p:tgtEl>
                                          <p:spTgt spid="3"/>
                                        </p:tgtEl>
                                      </p:cBhvr>
                                    </p:animEffect>
                                    <p:anim calcmode="lin" valueType="num">
                                      <p:cBhvr>
                                        <p:cTn id="10" dur="1300" decel="100000" fill="hold"/>
                                        <p:tgtEl>
                                          <p:spTgt spid="3"/>
                                        </p:tgtEl>
                                        <p:attrNameLst>
                                          <p:attrName>ppt_x</p:attrName>
                                        </p:attrNameLst>
                                      </p:cBhvr>
                                      <p:tavLst>
                                        <p:tav tm="0">
                                          <p:val>
                                            <p:strVal val="#ppt_x"/>
                                          </p:val>
                                        </p:tav>
                                        <p:tav tm="100000">
                                          <p:val>
                                            <p:strVal val="#ppt_x"/>
                                          </p:val>
                                        </p:tav>
                                      </p:tavLst>
                                    </p:anim>
                                    <p:anim calcmode="lin" valueType="num">
                                      <p:cBhvr>
                                        <p:cTn id="11" dur="1300" decel="100000" fill="hold"/>
                                        <p:tgtEl>
                                          <p:spTgt spid="3"/>
                                        </p:tgtEl>
                                        <p:attrNameLst>
                                          <p:attrName>ppt_y</p:attrName>
                                        </p:attrNameLst>
                                      </p:cBhvr>
                                      <p:tavLst>
                                        <p:tav tm="0">
                                          <p:val>
                                            <p:strVal val="#ppt_y+0.022"/>
                                          </p:val>
                                        </p:tav>
                                        <p:tav tm="100000">
                                          <p:val>
                                            <p:strVal val="#ppt_y"/>
                                          </p:val>
                                        </p:tav>
                                      </p:tavLst>
                                    </p:anim>
                                  </p:childTnLst>
                                </p:cTn>
                              </p:par>
                              <p:par>
                                <p:cTn id="12" presetID="10" presetClass="entr" presetSubtype="0" fill="hold" nodeType="withEffect">
                                  <p:stCondLst>
                                    <p:cond delay="48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300"/>
                                        <p:tgtEl>
                                          <p:spTgt spid="4"/>
                                        </p:tgtEl>
                                      </p:cBhvr>
                                    </p:animEffect>
                                    <p:anim calcmode="lin" valueType="num">
                                      <p:cBhvr>
                                        <p:cTn id="15" dur="1300" decel="100000" fill="hold"/>
                                        <p:tgtEl>
                                          <p:spTgt spid="4"/>
                                        </p:tgtEl>
                                        <p:attrNameLst>
                                          <p:attrName>ppt_x</p:attrName>
                                        </p:attrNameLst>
                                      </p:cBhvr>
                                      <p:tavLst>
                                        <p:tav tm="0">
                                          <p:val>
                                            <p:strVal val="#ppt_x"/>
                                          </p:val>
                                        </p:tav>
                                        <p:tav tm="100000">
                                          <p:val>
                                            <p:strVal val="#ppt_x"/>
                                          </p:val>
                                        </p:tav>
                                      </p:tavLst>
                                    </p:anim>
                                    <p:anim calcmode="lin" valueType="num">
                                      <p:cBhvr>
                                        <p:cTn id="16" dur="1300" decel="100000" fill="hold"/>
                                        <p:tgtEl>
                                          <p:spTgt spid="4"/>
                                        </p:tgtEl>
                                        <p:attrNameLst>
                                          <p:attrName>ppt_y</p:attrName>
                                        </p:attrNameLst>
                                      </p:cBhvr>
                                      <p:tavLst>
                                        <p:tav tm="0">
                                          <p:val>
                                            <p:strVal val="#ppt_y+0.022"/>
                                          </p:val>
                                        </p:tav>
                                        <p:tav tm="100000">
                                          <p:val>
                                            <p:strVal val="#ppt_y"/>
                                          </p:val>
                                        </p:tav>
                                      </p:tavLst>
                                    </p:anim>
                                  </p:childTnLst>
                                </p:cTn>
                              </p:par>
                              <p:par>
                                <p:cTn id="17" presetID="10" presetClass="entr" presetSubtype="0" fill="hold" nodeType="withEffect">
                                  <p:stCondLst>
                                    <p:cond delay="48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1300"/>
                                        <p:tgtEl>
                                          <p:spTgt spid="5"/>
                                        </p:tgtEl>
                                      </p:cBhvr>
                                    </p:animEffect>
                                    <p:anim calcmode="lin" valueType="num">
                                      <p:cBhvr>
                                        <p:cTn id="20" dur="1300" decel="100000" fill="hold"/>
                                        <p:tgtEl>
                                          <p:spTgt spid="5"/>
                                        </p:tgtEl>
                                        <p:attrNameLst>
                                          <p:attrName>ppt_x</p:attrName>
                                        </p:attrNameLst>
                                      </p:cBhvr>
                                      <p:tavLst>
                                        <p:tav tm="0">
                                          <p:val>
                                            <p:strVal val="#ppt_x"/>
                                          </p:val>
                                        </p:tav>
                                        <p:tav tm="100000">
                                          <p:val>
                                            <p:strVal val="#ppt_x"/>
                                          </p:val>
                                        </p:tav>
                                      </p:tavLst>
                                    </p:anim>
                                    <p:anim calcmode="lin" valueType="num">
                                      <p:cBhvr>
                                        <p:cTn id="21" dur="1300" decel="100000" fill="hold"/>
                                        <p:tgtEl>
                                          <p:spTgt spid="5"/>
                                        </p:tgtEl>
                                        <p:attrNameLst>
                                          <p:attrName>ppt_y</p:attrName>
                                        </p:attrNameLst>
                                      </p:cBhvr>
                                      <p:tavLst>
                                        <p:tav tm="0">
                                          <p:val>
                                            <p:strVal val="#ppt_y+0.022"/>
                                          </p:val>
                                        </p:tav>
                                        <p:tav tm="100000">
                                          <p:val>
                                            <p:strVal val="#ppt_y"/>
                                          </p:val>
                                        </p:tav>
                                      </p:tavLst>
                                    </p:anim>
                                  </p:childTnLst>
                                </p:cTn>
                              </p:par>
                              <p:par>
                                <p:cTn id="22" presetID="10" presetClass="entr" presetSubtype="0" fill="hold" grpId="0" nodeType="withEffect">
                                  <p:stCondLst>
                                    <p:cond delay="66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1300"/>
                                        <p:tgtEl>
                                          <p:spTgt spid="6"/>
                                        </p:tgtEl>
                                      </p:cBhvr>
                                    </p:animEffect>
                                    <p:anim calcmode="lin" valueType="num">
                                      <p:cBhvr>
                                        <p:cTn id="25" dur="1300" decel="100000" fill="hold"/>
                                        <p:tgtEl>
                                          <p:spTgt spid="6"/>
                                        </p:tgtEl>
                                        <p:attrNameLst>
                                          <p:attrName>ppt_x</p:attrName>
                                        </p:attrNameLst>
                                      </p:cBhvr>
                                      <p:tavLst>
                                        <p:tav tm="0">
                                          <p:val>
                                            <p:strVal val="#ppt_x"/>
                                          </p:val>
                                        </p:tav>
                                        <p:tav tm="100000">
                                          <p:val>
                                            <p:strVal val="#ppt_x"/>
                                          </p:val>
                                        </p:tav>
                                      </p:tavLst>
                                    </p:anim>
                                    <p:anim calcmode="lin" valueType="num">
                                      <p:cBhvr>
                                        <p:cTn id="26" dur="1300" decel="100000" fill="hold"/>
                                        <p:tgtEl>
                                          <p:spTgt spid="6"/>
                                        </p:tgtEl>
                                        <p:attrNameLst>
                                          <p:attrName>ppt_y</p:attrName>
                                        </p:attrNameLst>
                                      </p:cBhvr>
                                      <p:tavLst>
                                        <p:tav tm="0">
                                          <p:val>
                                            <p:strVal val="#ppt_y+0.022"/>
                                          </p:val>
                                        </p:tav>
                                        <p:tav tm="100000">
                                          <p:val>
                                            <p:strVal val="#ppt_y"/>
                                          </p:val>
                                        </p:tav>
                                      </p:tavLst>
                                    </p:anim>
                                  </p:childTnLst>
                                </p:cTn>
                              </p:par>
                              <p:par>
                                <p:cTn id="27" presetID="10" presetClass="entr" presetSubtype="0" fill="hold" grpId="0" nodeType="withEffect">
                                  <p:stCondLst>
                                    <p:cond delay="84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1300"/>
                                        <p:tgtEl>
                                          <p:spTgt spid="7"/>
                                        </p:tgtEl>
                                      </p:cBhvr>
                                    </p:animEffect>
                                    <p:anim calcmode="lin" valueType="num">
                                      <p:cBhvr>
                                        <p:cTn id="30" dur="1300" decel="100000" fill="hold"/>
                                        <p:tgtEl>
                                          <p:spTgt spid="7"/>
                                        </p:tgtEl>
                                        <p:attrNameLst>
                                          <p:attrName>ppt_x</p:attrName>
                                        </p:attrNameLst>
                                      </p:cBhvr>
                                      <p:tavLst>
                                        <p:tav tm="0">
                                          <p:val>
                                            <p:strVal val="#ppt_x"/>
                                          </p:val>
                                        </p:tav>
                                        <p:tav tm="100000">
                                          <p:val>
                                            <p:strVal val="#ppt_x"/>
                                          </p:val>
                                        </p:tav>
                                      </p:tavLst>
                                    </p:anim>
                                    <p:anim calcmode="lin" valueType="num">
                                      <p:cBhvr>
                                        <p:cTn id="31" dur="1300" decel="100000" fill="hold"/>
                                        <p:tgtEl>
                                          <p:spTgt spid="7"/>
                                        </p:tgtEl>
                                        <p:attrNameLst>
                                          <p:attrName>ppt_y</p:attrName>
                                        </p:attrNameLst>
                                      </p:cBhvr>
                                      <p:tavLst>
                                        <p:tav tm="0">
                                          <p:val>
                                            <p:strVal val="#ppt_y+0.022"/>
                                          </p:val>
                                        </p:tav>
                                        <p:tav tm="100000">
                                          <p:val>
                                            <p:strVal val="#ppt_y"/>
                                          </p:val>
                                        </p:tav>
                                      </p:tavLst>
                                    </p:anim>
                                  </p:childTnLst>
                                </p:cTn>
                              </p:par>
                              <p:par>
                                <p:cTn id="32" presetID="10" presetClass="entr" presetSubtype="0" fill="hold" grpId="0" nodeType="withEffect">
                                  <p:stCondLst>
                                    <p:cond delay="102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1300"/>
                                        <p:tgtEl>
                                          <p:spTgt spid="8"/>
                                        </p:tgtEl>
                                      </p:cBhvr>
                                    </p:animEffect>
                                    <p:anim calcmode="lin" valueType="num">
                                      <p:cBhvr>
                                        <p:cTn id="35" dur="1300" decel="100000" fill="hold"/>
                                        <p:tgtEl>
                                          <p:spTgt spid="8"/>
                                        </p:tgtEl>
                                        <p:attrNameLst>
                                          <p:attrName>ppt_x</p:attrName>
                                        </p:attrNameLst>
                                      </p:cBhvr>
                                      <p:tavLst>
                                        <p:tav tm="0">
                                          <p:val>
                                            <p:strVal val="#ppt_x"/>
                                          </p:val>
                                        </p:tav>
                                        <p:tav tm="100000">
                                          <p:val>
                                            <p:strVal val="#ppt_x"/>
                                          </p:val>
                                        </p:tav>
                                      </p:tavLst>
                                    </p:anim>
                                    <p:anim calcmode="lin" valueType="num">
                                      <p:cBhvr>
                                        <p:cTn id="36" dur="1300" decel="100000" fill="hold"/>
                                        <p:tgtEl>
                                          <p:spTgt spid="8"/>
                                        </p:tgtEl>
                                        <p:attrNameLst>
                                          <p:attrName>ppt_y</p:attrName>
                                        </p:attrNameLst>
                                      </p:cBhvr>
                                      <p:tavLst>
                                        <p:tav tm="0">
                                          <p:val>
                                            <p:strVal val="#ppt_y+0.022"/>
                                          </p:val>
                                        </p:tav>
                                        <p:tav tm="100000">
                                          <p:val>
                                            <p:strVal val="#ppt_y"/>
                                          </p:val>
                                        </p:tav>
                                      </p:tavLst>
                                    </p:anim>
                                  </p:childTnLst>
                                </p:cTn>
                              </p:par>
                              <p:par>
                                <p:cTn id="37" presetID="10" presetClass="entr" presetSubtype="0" fill="hold" grpId="0" nodeType="withEffect">
                                  <p:stCondLst>
                                    <p:cond delay="120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1300"/>
                                        <p:tgtEl>
                                          <p:spTgt spid="9"/>
                                        </p:tgtEl>
                                      </p:cBhvr>
                                    </p:animEffect>
                                    <p:anim calcmode="lin" valueType="num">
                                      <p:cBhvr>
                                        <p:cTn id="40" dur="1300" decel="100000" fill="hold"/>
                                        <p:tgtEl>
                                          <p:spTgt spid="9"/>
                                        </p:tgtEl>
                                        <p:attrNameLst>
                                          <p:attrName>ppt_x</p:attrName>
                                        </p:attrNameLst>
                                      </p:cBhvr>
                                      <p:tavLst>
                                        <p:tav tm="0">
                                          <p:val>
                                            <p:strVal val="#ppt_x"/>
                                          </p:val>
                                        </p:tav>
                                        <p:tav tm="100000">
                                          <p:val>
                                            <p:strVal val="#ppt_x"/>
                                          </p:val>
                                        </p:tav>
                                      </p:tavLst>
                                    </p:anim>
                                    <p:anim calcmode="lin" valueType="num">
                                      <p:cBhvr>
                                        <p:cTn id="41" dur="1300" decel="100000" fill="hold"/>
                                        <p:tgtEl>
                                          <p:spTgt spid="9"/>
                                        </p:tgtEl>
                                        <p:attrNameLst>
                                          <p:attrName>ppt_y</p:attrName>
                                        </p:attrNameLst>
                                      </p:cBhvr>
                                      <p:tavLst>
                                        <p:tav tm="0">
                                          <p:val>
                                            <p:strVal val="#ppt_y+0.022"/>
                                          </p:val>
                                        </p:tav>
                                        <p:tav tm="100000">
                                          <p:val>
                                            <p:strVal val="#ppt_y"/>
                                          </p:val>
                                        </p:tav>
                                      </p:tavLst>
                                    </p:anim>
                                  </p:childTnLst>
                                </p:cTn>
                              </p:par>
                              <p:par>
                                <p:cTn id="42" presetID="10" presetClass="entr" presetSubtype="0" fill="hold" grpId="0" nodeType="withEffect">
                                  <p:stCondLst>
                                    <p:cond delay="120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1300"/>
                                        <p:tgtEl>
                                          <p:spTgt spid="10"/>
                                        </p:tgtEl>
                                      </p:cBhvr>
                                    </p:animEffect>
                                    <p:anim calcmode="lin" valueType="num">
                                      <p:cBhvr>
                                        <p:cTn id="45" dur="1300" decel="100000" fill="hold"/>
                                        <p:tgtEl>
                                          <p:spTgt spid="10"/>
                                        </p:tgtEl>
                                        <p:attrNameLst>
                                          <p:attrName>ppt_x</p:attrName>
                                        </p:attrNameLst>
                                      </p:cBhvr>
                                      <p:tavLst>
                                        <p:tav tm="0">
                                          <p:val>
                                            <p:strVal val="#ppt_x"/>
                                          </p:val>
                                        </p:tav>
                                        <p:tav tm="100000">
                                          <p:val>
                                            <p:strVal val="#ppt_x"/>
                                          </p:val>
                                        </p:tav>
                                      </p:tavLst>
                                    </p:anim>
                                    <p:anim calcmode="lin" valueType="num">
                                      <p:cBhvr>
                                        <p:cTn id="46" dur="1300" decel="100000" fill="hold"/>
                                        <p:tgtEl>
                                          <p:spTgt spid="10"/>
                                        </p:tgtEl>
                                        <p:attrNameLst>
                                          <p:attrName>ppt_y</p:attrName>
                                        </p:attrNameLst>
                                      </p:cBhvr>
                                      <p:tavLst>
                                        <p:tav tm="0">
                                          <p:val>
                                            <p:strVal val="#ppt_y+0.02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B"/>
        </a:solidFill>
        <a:effectLst/>
      </p:bgPr>
    </p:bg>
    <p:spTree>
      <p:nvGrpSpPr>
        <p:cNvPr id="1" name=""/>
        <p:cNvGrpSpPr/>
        <p:nvPr/>
      </p:nvGrpSpPr>
      <p:grpSpPr>
        <a:xfrm>
          <a:off x="0" y="0"/>
          <a:ext cx="0" cy="0"/>
          <a:chOff x="0" y="0"/>
          <a:chExt cx="0" cy="0"/>
        </a:xfrm>
      </p:grpSpPr>
      <p:pic>
        <p:nvPicPr>
          <p:cNvPr id="2" name="!!Photo" descr="E:/Matter Of Place/Matter Of Place Codebase/src/assets/gallery/ca-stair.jpg"/>
          <p:cNvPicPr>
            <a:picLocks noChangeAspect="1"/>
          </p:cNvPicPr>
          <p:nvPr/>
        </p:nvPicPr>
        <p:blipFill>
          <a:blip r:embed="rId3"/>
          <a:srcRect l="12417" r="12417"/>
          <a:stretch/>
        </p:blipFill>
        <p:spPr>
          <a:xfrm>
            <a:off x="0" y="0"/>
            <a:ext cx="4023360" cy="6858000"/>
          </a:xfrm>
          <a:prstGeom prst="rect">
            <a:avLst/>
          </a:prstGeom>
        </p:spPr>
      </p:pic>
      <p:sp>
        <p:nvSpPr>
          <p:cNvPr id="3" name="!!Agenda">
            <a:hlinkClick r:id="" action="ppaction://noaction"/>
          </p:cNvPr>
          <p:cNvSpPr/>
          <p:nvPr/>
        </p:nvSpPr>
        <p:spPr>
          <a:xfrm>
            <a:off x="10591495" y="381000"/>
            <a:ext cx="1097280" cy="228600"/>
          </a:xfrm>
          <a:prstGeom prst="rect">
            <a:avLst/>
          </a:prstGeom>
          <a:noFill/>
          <a:ln/>
        </p:spPr>
        <p:txBody>
          <a:bodyPr wrap="square" lIns="0" tIns="0" rIns="0" bIns="0" rtlCol="0" anchor="ctr"/>
          <a:lstStyle/>
          <a:p>
            <a:pPr marL="0" indent="0" algn="r">
              <a:buNone/>
            </a:pPr>
            <a:r>
              <a:rPr lang="en-US" sz="1000" u="sng" kern="0" spc="250" dirty="0">
                <a:solidFill>
                  <a:srgbClr val="11110F"/>
                </a:solidFill>
                <a:latin typeface="Jost" pitchFamily="34" charset="0"/>
                <a:ea typeface="Jost" pitchFamily="34" charset="-122"/>
                <a:cs typeface="Jost" pitchFamily="34" charset="-120"/>
                <a:hlinkClick r:id="" action="ppaction://noaction">
                  <a:extLst>
                    <a:ext uri="{A12FA001-AC4F-418D-AE19-62706E023703}">
                      <ahyp:hlinkClr xmlns:ahyp="http://schemas.microsoft.com/office/drawing/2018/hyperlinkcolor" val="tx"/>
                    </a:ext>
                  </a:extLst>
                </a:hlinkClick>
              </a:rPr>
              <a:t>Agenda</a:t>
            </a:r>
            <a:endParaRPr lang="en-US" sz="1000" dirty="0"/>
          </a:p>
        </p:txBody>
      </p:sp>
      <p:sp>
        <p:nvSpPr>
          <p:cNvPr id="4" name="!!Footer"/>
          <p:cNvSpPr/>
          <p:nvPr/>
        </p:nvSpPr>
        <p:spPr>
          <a:xfrm>
            <a:off x="4754880" y="6172200"/>
            <a:ext cx="4572000" cy="228600"/>
          </a:xfrm>
          <a:prstGeom prst="rect">
            <a:avLst/>
          </a:prstGeom>
          <a:noFill/>
          <a:ln/>
        </p:spPr>
        <p:txBody>
          <a:bodyPr wrap="square" lIns="0" tIns="0" rIns="0" bIns="0" rtlCol="0" anchor="ctr"/>
          <a:lstStyle/>
          <a:p>
            <a:pPr marL="0" indent="0">
              <a:buNone/>
            </a:pPr>
            <a:r>
              <a:rPr lang="en-US" sz="900" kern="0" spc="250" dirty="0">
                <a:solidFill>
                  <a:srgbClr val="5E5A54"/>
                </a:solidFill>
                <a:latin typeface="Jost" pitchFamily="34" charset="0"/>
                <a:ea typeface="Jost" pitchFamily="34" charset="-122"/>
                <a:cs typeface="Jost" pitchFamily="34" charset="-120"/>
              </a:rPr>
              <a:t>MATTER OF PLACE  ·  FOR PARTNERS</a:t>
            </a:r>
            <a:endParaRPr lang="en-US" sz="900" dirty="0"/>
          </a:p>
        </p:txBody>
      </p:sp>
      <p:sp>
        <p:nvSpPr>
          <p:cNvPr id="5" name="!!Page"/>
          <p:cNvSpPr/>
          <p:nvPr/>
        </p:nvSpPr>
        <p:spPr>
          <a:xfrm>
            <a:off x="10591495" y="6172200"/>
            <a:ext cx="1097280" cy="228600"/>
          </a:xfrm>
          <a:prstGeom prst="rect">
            <a:avLst/>
          </a:prstGeom>
          <a:noFill/>
          <a:ln/>
        </p:spPr>
        <p:txBody>
          <a:bodyPr wrap="square" lIns="0" tIns="0" rIns="0" bIns="0" rtlCol="0" anchor="ctr"/>
          <a:lstStyle/>
          <a:p>
            <a:pPr marL="0" indent="0" algn="r">
              <a:buNone/>
            </a:pPr>
            <a:r>
              <a:rPr lang="en-US" sz="900" kern="0" spc="250" dirty="0">
                <a:solidFill>
                  <a:srgbClr val="5E5A54"/>
                </a:solidFill>
                <a:latin typeface="Jost" pitchFamily="34" charset="0"/>
                <a:ea typeface="Jost" pitchFamily="34" charset="-122"/>
                <a:cs typeface="Jost" pitchFamily="34" charset="-120"/>
              </a:rPr>
              <a:t>02 / 14</a:t>
            </a:r>
            <a:endParaRPr lang="en-US" sz="900" dirty="0"/>
          </a:p>
        </p:txBody>
      </p:sp>
      <p:sp>
        <p:nvSpPr>
          <p:cNvPr id="6" name="!!Eyebrow"/>
          <p:cNvSpPr/>
          <p:nvPr/>
        </p:nvSpPr>
        <p:spPr>
          <a:xfrm>
            <a:off x="4754880" y="868680"/>
            <a:ext cx="5486400" cy="274320"/>
          </a:xfrm>
          <a:prstGeom prst="rect">
            <a:avLst/>
          </a:prstGeom>
          <a:noFill/>
          <a:ln/>
        </p:spPr>
        <p:txBody>
          <a:bodyPr wrap="square" lIns="0" tIns="0" rIns="0" bIns="0" rtlCol="0" anchor="ctr"/>
          <a:lstStyle/>
          <a:p>
            <a:pPr marL="0" indent="0">
              <a:buNone/>
            </a:pPr>
            <a:r>
              <a:rPr lang="en-US" sz="1050" kern="0" spc="300" dirty="0">
                <a:solidFill>
                  <a:srgbClr val="575751"/>
                </a:solidFill>
                <a:latin typeface="Jost" pitchFamily="34" charset="0"/>
                <a:ea typeface="Jost" pitchFamily="34" charset="-122"/>
                <a:cs typeface="Jost" pitchFamily="34" charset="-120"/>
              </a:rPr>
              <a:t>AGENDA</a:t>
            </a:r>
            <a:endParaRPr lang="en-US" sz="1050" dirty="0"/>
          </a:p>
        </p:txBody>
      </p:sp>
      <p:sp>
        <p:nvSpPr>
          <p:cNvPr id="7" name="!!Title"/>
          <p:cNvSpPr/>
          <p:nvPr/>
        </p:nvSpPr>
        <p:spPr>
          <a:xfrm>
            <a:off x="4754880" y="1188720"/>
            <a:ext cx="6400800" cy="711200"/>
          </a:xfrm>
          <a:prstGeom prst="rect">
            <a:avLst/>
          </a:prstGeom>
          <a:noFill/>
          <a:ln/>
        </p:spPr>
        <p:txBody>
          <a:bodyPr wrap="square" lIns="0" tIns="0" rIns="0" bIns="0" rtlCol="0" anchor="t"/>
          <a:lstStyle/>
          <a:p>
            <a:pPr marL="0" indent="0">
              <a:buNone/>
            </a:pPr>
            <a:r>
              <a:rPr lang="en-US" sz="3800" dirty="0">
                <a:solidFill>
                  <a:srgbClr val="11110F"/>
                </a:solidFill>
                <a:latin typeface="Cormorant Garamond" pitchFamily="34" charset="0"/>
                <a:ea typeface="Cormorant Garamond" pitchFamily="34" charset="-122"/>
                <a:cs typeface="Cormorant Garamond" pitchFamily="34" charset="-120"/>
              </a:rPr>
              <a:t>In this deck.</a:t>
            </a:r>
            <a:endParaRPr lang="en-US" sz="3800" dirty="0"/>
          </a:p>
        </p:txBody>
      </p:sp>
      <p:sp>
        <p:nvSpPr>
          <p:cNvPr id="8" name="s2-8"/>
          <p:cNvSpPr/>
          <p:nvPr/>
        </p:nvSpPr>
        <p:spPr>
          <a:xfrm>
            <a:off x="4749800" y="2336800"/>
            <a:ext cx="3200400" cy="0"/>
          </a:xfrm>
          <a:prstGeom prst="line">
            <a:avLst/>
          </a:prstGeom>
          <a:noFill/>
          <a:ln w="9525">
            <a:solidFill>
              <a:srgbClr val="C9C0B2"/>
            </a:solidFill>
            <a:prstDash val="solid"/>
          </a:ln>
        </p:spPr>
      </p:sp>
      <p:sp>
        <p:nvSpPr>
          <p:cNvPr id="9" name="s2-9"/>
          <p:cNvSpPr/>
          <p:nvPr/>
        </p:nvSpPr>
        <p:spPr>
          <a:xfrm>
            <a:off x="4749800" y="2336800"/>
            <a:ext cx="457200" cy="558800"/>
          </a:xfrm>
          <a:prstGeom prst="rect">
            <a:avLst/>
          </a:prstGeom>
          <a:noFill/>
          <a:ln/>
        </p:spPr>
        <p:txBody>
          <a:bodyPr wrap="square" lIns="0" tIns="0" rIns="0" bIns="0" rtlCol="0" anchor="ctr"/>
          <a:lstStyle/>
          <a:p>
            <a:pPr marL="0" indent="0">
              <a:buNone/>
            </a:pPr>
            <a:r>
              <a:rPr lang="en-US" sz="1050" kern="0" spc="200" dirty="0">
                <a:solidFill>
                  <a:srgbClr val="5E5A54"/>
                </a:solidFill>
                <a:latin typeface="Jost" pitchFamily="34" charset="0"/>
                <a:ea typeface="Jost" pitchFamily="34" charset="-122"/>
                <a:cs typeface="Jost" pitchFamily="34" charset="-120"/>
              </a:rPr>
              <a:t>01</a:t>
            </a:r>
            <a:endParaRPr lang="en-US" sz="1050" dirty="0"/>
          </a:p>
        </p:txBody>
      </p:sp>
      <p:sp>
        <p:nvSpPr>
          <p:cNvPr id="10" name="s2-10">
            <a:hlinkClick r:id="" action="ppaction://noaction"/>
          </p:cNvPr>
          <p:cNvSpPr/>
          <p:nvPr/>
        </p:nvSpPr>
        <p:spPr>
          <a:xfrm>
            <a:off x="5207000" y="2336800"/>
            <a:ext cx="2743200" cy="558800"/>
          </a:xfrm>
          <a:prstGeom prst="rect">
            <a:avLst/>
          </a:prstGeom>
          <a:noFill/>
          <a:ln/>
        </p:spPr>
        <p:txBody>
          <a:bodyPr wrap="square" lIns="0" tIns="0" rIns="0" bIns="0" rtlCol="0" anchor="ctr"/>
          <a:lstStyle/>
          <a:p>
            <a:pPr marL="0" indent="0">
              <a:buNone/>
            </a:pPr>
            <a:r>
              <a:rPr lang="en-US" sz="1700" u="sng" dirty="0">
                <a:solidFill>
                  <a:srgbClr val="11110F"/>
                </a:solidFill>
                <a:latin typeface="Cormorant Garamond" pitchFamily="34" charset="0"/>
                <a:ea typeface="Cormorant Garamond" pitchFamily="34" charset="-122"/>
                <a:cs typeface="Cormorant Garamond" pitchFamily="34" charset="-120"/>
                <a:hlinkClick r:id="" action="ppaction://noaction">
                  <a:extLst>
                    <a:ext uri="{A12FA001-AC4F-418D-AE19-62706E023703}">
                      <ahyp:hlinkClr xmlns:ahyp="http://schemas.microsoft.com/office/drawing/2018/hyperlinkcolor" val="tx"/>
                    </a:ext>
                  </a:extLst>
                </a:hlinkClick>
              </a:rPr>
              <a:t>Who we are</a:t>
            </a:r>
            <a:endParaRPr lang="en-US" sz="1700" dirty="0"/>
          </a:p>
        </p:txBody>
      </p:sp>
      <p:sp>
        <p:nvSpPr>
          <p:cNvPr id="11" name="s2-11"/>
          <p:cNvSpPr/>
          <p:nvPr/>
        </p:nvSpPr>
        <p:spPr>
          <a:xfrm>
            <a:off x="4749800" y="2895600"/>
            <a:ext cx="3200400" cy="0"/>
          </a:xfrm>
          <a:prstGeom prst="line">
            <a:avLst/>
          </a:prstGeom>
          <a:noFill/>
          <a:ln w="9525">
            <a:solidFill>
              <a:srgbClr val="C9C0B2"/>
            </a:solidFill>
            <a:prstDash val="solid"/>
          </a:ln>
        </p:spPr>
      </p:sp>
      <p:sp>
        <p:nvSpPr>
          <p:cNvPr id="12" name="s2-12"/>
          <p:cNvSpPr/>
          <p:nvPr/>
        </p:nvSpPr>
        <p:spPr>
          <a:xfrm>
            <a:off x="4749800" y="2895600"/>
            <a:ext cx="457200" cy="558800"/>
          </a:xfrm>
          <a:prstGeom prst="rect">
            <a:avLst/>
          </a:prstGeom>
          <a:noFill/>
          <a:ln/>
        </p:spPr>
        <p:txBody>
          <a:bodyPr wrap="square" lIns="0" tIns="0" rIns="0" bIns="0" rtlCol="0" anchor="ctr"/>
          <a:lstStyle/>
          <a:p>
            <a:pPr marL="0" indent="0">
              <a:buNone/>
            </a:pPr>
            <a:r>
              <a:rPr lang="en-US" sz="1050" kern="0" spc="200" dirty="0">
                <a:solidFill>
                  <a:srgbClr val="5E5A54"/>
                </a:solidFill>
                <a:latin typeface="Jost" pitchFamily="34" charset="0"/>
                <a:ea typeface="Jost" pitchFamily="34" charset="-122"/>
                <a:cs typeface="Jost" pitchFamily="34" charset="-120"/>
              </a:rPr>
              <a:t>02</a:t>
            </a:r>
            <a:endParaRPr lang="en-US" sz="1050" dirty="0"/>
          </a:p>
        </p:txBody>
      </p:sp>
      <p:sp>
        <p:nvSpPr>
          <p:cNvPr id="13" name="s2-13">
            <a:hlinkClick r:id="" action="ppaction://noaction"/>
          </p:cNvPr>
          <p:cNvSpPr/>
          <p:nvPr/>
        </p:nvSpPr>
        <p:spPr>
          <a:xfrm>
            <a:off x="5207000" y="2895600"/>
            <a:ext cx="2743200" cy="558800"/>
          </a:xfrm>
          <a:prstGeom prst="rect">
            <a:avLst/>
          </a:prstGeom>
          <a:noFill/>
          <a:ln/>
        </p:spPr>
        <p:txBody>
          <a:bodyPr wrap="square" lIns="0" tIns="0" rIns="0" bIns="0" rtlCol="0" anchor="ctr"/>
          <a:lstStyle/>
          <a:p>
            <a:pPr marL="0" indent="0">
              <a:buNone/>
            </a:pPr>
            <a:r>
              <a:rPr lang="en-US" sz="1700" u="sng" dirty="0">
                <a:solidFill>
                  <a:srgbClr val="11110F"/>
                </a:solidFill>
                <a:latin typeface="Cormorant Garamond" pitchFamily="34" charset="0"/>
                <a:ea typeface="Cormorant Garamond" pitchFamily="34" charset="-122"/>
                <a:cs typeface="Cormorant Garamond" pitchFamily="34" charset="-120"/>
                <a:hlinkClick r:id="" action="ppaction://noaction">
                  <a:extLst>
                    <a:ext uri="{A12FA001-AC4F-418D-AE19-62706E023703}">
                      <ahyp:hlinkClr xmlns:ahyp="http://schemas.microsoft.com/office/drawing/2018/hyperlinkcolor" val="tx"/>
                    </a:ext>
                  </a:extLst>
                </a:hlinkClick>
              </a:rPr>
              <a:t>The editorial standard</a:t>
            </a:r>
            <a:endParaRPr lang="en-US" sz="1700" dirty="0"/>
          </a:p>
        </p:txBody>
      </p:sp>
      <p:sp>
        <p:nvSpPr>
          <p:cNvPr id="14" name="s2-14"/>
          <p:cNvSpPr/>
          <p:nvPr/>
        </p:nvSpPr>
        <p:spPr>
          <a:xfrm>
            <a:off x="4749800" y="3454400"/>
            <a:ext cx="3200400" cy="0"/>
          </a:xfrm>
          <a:prstGeom prst="line">
            <a:avLst/>
          </a:prstGeom>
          <a:noFill/>
          <a:ln w="9525">
            <a:solidFill>
              <a:srgbClr val="C9C0B2"/>
            </a:solidFill>
            <a:prstDash val="solid"/>
          </a:ln>
        </p:spPr>
      </p:sp>
      <p:sp>
        <p:nvSpPr>
          <p:cNvPr id="15" name="s2-15"/>
          <p:cNvSpPr/>
          <p:nvPr/>
        </p:nvSpPr>
        <p:spPr>
          <a:xfrm>
            <a:off x="4749800" y="3454400"/>
            <a:ext cx="457200" cy="558800"/>
          </a:xfrm>
          <a:prstGeom prst="rect">
            <a:avLst/>
          </a:prstGeom>
          <a:noFill/>
          <a:ln/>
        </p:spPr>
        <p:txBody>
          <a:bodyPr wrap="square" lIns="0" tIns="0" rIns="0" bIns="0" rtlCol="0" anchor="ctr"/>
          <a:lstStyle/>
          <a:p>
            <a:pPr marL="0" indent="0">
              <a:buNone/>
            </a:pPr>
            <a:r>
              <a:rPr lang="en-US" sz="1050" kern="0" spc="200" dirty="0">
                <a:solidFill>
                  <a:srgbClr val="5E5A54"/>
                </a:solidFill>
                <a:latin typeface="Jost" pitchFamily="34" charset="0"/>
                <a:ea typeface="Jost" pitchFamily="34" charset="-122"/>
                <a:cs typeface="Jost" pitchFamily="34" charset="-120"/>
              </a:rPr>
              <a:t>03</a:t>
            </a:r>
            <a:endParaRPr lang="en-US" sz="1050" dirty="0"/>
          </a:p>
        </p:txBody>
      </p:sp>
      <p:sp>
        <p:nvSpPr>
          <p:cNvPr id="16" name="s2-16">
            <a:hlinkClick r:id="" action="ppaction://noaction"/>
          </p:cNvPr>
          <p:cNvSpPr/>
          <p:nvPr/>
        </p:nvSpPr>
        <p:spPr>
          <a:xfrm>
            <a:off x="5207000" y="3454400"/>
            <a:ext cx="2743200" cy="558800"/>
          </a:xfrm>
          <a:prstGeom prst="rect">
            <a:avLst/>
          </a:prstGeom>
          <a:noFill/>
          <a:ln/>
        </p:spPr>
        <p:txBody>
          <a:bodyPr wrap="square" lIns="0" tIns="0" rIns="0" bIns="0" rtlCol="0" anchor="ctr"/>
          <a:lstStyle/>
          <a:p>
            <a:pPr marL="0" indent="0">
              <a:buNone/>
            </a:pPr>
            <a:r>
              <a:rPr lang="en-US" sz="1700" u="sng" dirty="0">
                <a:solidFill>
                  <a:srgbClr val="11110F"/>
                </a:solidFill>
                <a:latin typeface="Cormorant Garamond" pitchFamily="34" charset="0"/>
                <a:ea typeface="Cormorant Garamond" pitchFamily="34" charset="-122"/>
                <a:cs typeface="Cormorant Garamond" pitchFamily="34" charset="-120"/>
                <a:hlinkClick r:id="" action="ppaction://noaction">
                  <a:extLst>
                    <a:ext uri="{A12FA001-AC4F-418D-AE19-62706E023703}">
                      <ahyp:hlinkClr xmlns:ahyp="http://schemas.microsoft.com/office/drawing/2018/hyperlinkcolor" val="tx"/>
                    </a:ext>
                  </a:extLst>
                </a:hlinkClick>
              </a:rPr>
              <a:t>How selection works</a:t>
            </a:r>
            <a:endParaRPr lang="en-US" sz="1700" dirty="0"/>
          </a:p>
        </p:txBody>
      </p:sp>
      <p:sp>
        <p:nvSpPr>
          <p:cNvPr id="17" name="s2-17"/>
          <p:cNvSpPr/>
          <p:nvPr/>
        </p:nvSpPr>
        <p:spPr>
          <a:xfrm>
            <a:off x="4749800" y="4013200"/>
            <a:ext cx="3200400" cy="0"/>
          </a:xfrm>
          <a:prstGeom prst="line">
            <a:avLst/>
          </a:prstGeom>
          <a:noFill/>
          <a:ln w="9525">
            <a:solidFill>
              <a:srgbClr val="C9C0B2"/>
            </a:solidFill>
            <a:prstDash val="solid"/>
          </a:ln>
        </p:spPr>
      </p:sp>
      <p:sp>
        <p:nvSpPr>
          <p:cNvPr id="18" name="s2-18"/>
          <p:cNvSpPr/>
          <p:nvPr/>
        </p:nvSpPr>
        <p:spPr>
          <a:xfrm>
            <a:off x="4749800" y="4013200"/>
            <a:ext cx="457200" cy="558800"/>
          </a:xfrm>
          <a:prstGeom prst="rect">
            <a:avLst/>
          </a:prstGeom>
          <a:noFill/>
          <a:ln/>
        </p:spPr>
        <p:txBody>
          <a:bodyPr wrap="square" lIns="0" tIns="0" rIns="0" bIns="0" rtlCol="0" anchor="ctr"/>
          <a:lstStyle/>
          <a:p>
            <a:pPr marL="0" indent="0">
              <a:buNone/>
            </a:pPr>
            <a:r>
              <a:rPr lang="en-US" sz="1050" kern="0" spc="200" dirty="0">
                <a:solidFill>
                  <a:srgbClr val="5E5A54"/>
                </a:solidFill>
                <a:latin typeface="Jost" pitchFamily="34" charset="0"/>
                <a:ea typeface="Jost" pitchFamily="34" charset="-122"/>
                <a:cs typeface="Jost" pitchFamily="34" charset="-120"/>
              </a:rPr>
              <a:t>04</a:t>
            </a:r>
            <a:endParaRPr lang="en-US" sz="1050" dirty="0"/>
          </a:p>
        </p:txBody>
      </p:sp>
      <p:sp>
        <p:nvSpPr>
          <p:cNvPr id="19" name="s2-19">
            <a:hlinkClick r:id="" action="ppaction://noaction"/>
          </p:cNvPr>
          <p:cNvSpPr/>
          <p:nvPr/>
        </p:nvSpPr>
        <p:spPr>
          <a:xfrm>
            <a:off x="5207000" y="4013200"/>
            <a:ext cx="2743200" cy="558800"/>
          </a:xfrm>
          <a:prstGeom prst="rect">
            <a:avLst/>
          </a:prstGeom>
          <a:noFill/>
          <a:ln/>
        </p:spPr>
        <p:txBody>
          <a:bodyPr wrap="square" lIns="0" tIns="0" rIns="0" bIns="0" rtlCol="0" anchor="ctr"/>
          <a:lstStyle/>
          <a:p>
            <a:pPr marL="0" indent="0">
              <a:buNone/>
            </a:pPr>
            <a:r>
              <a:rPr lang="en-US" sz="1700" u="sng" dirty="0">
                <a:solidFill>
                  <a:srgbClr val="11110F"/>
                </a:solidFill>
                <a:latin typeface="Cormorant Garamond" pitchFamily="34" charset="0"/>
                <a:ea typeface="Cormorant Garamond" pitchFamily="34" charset="-122"/>
                <a:cs typeface="Cormorant Garamond" pitchFamily="34" charset="-120"/>
                <a:hlinkClick r:id="" action="ppaction://noaction">
                  <a:extLst>
                    <a:ext uri="{A12FA001-AC4F-418D-AE19-62706E023703}">
                      <ahyp:hlinkClr xmlns:ahyp="http://schemas.microsoft.com/office/drawing/2018/hyperlinkcolor" val="tx"/>
                    </a:ext>
                  </a:extLst>
                </a:hlinkClick>
              </a:rPr>
              <a:t>The Feature</a:t>
            </a:r>
            <a:endParaRPr lang="en-US" sz="1700" dirty="0"/>
          </a:p>
        </p:txBody>
      </p:sp>
      <p:sp>
        <p:nvSpPr>
          <p:cNvPr id="20" name="s2-20"/>
          <p:cNvSpPr/>
          <p:nvPr/>
        </p:nvSpPr>
        <p:spPr>
          <a:xfrm>
            <a:off x="4749800" y="4572000"/>
            <a:ext cx="3200400" cy="0"/>
          </a:xfrm>
          <a:prstGeom prst="line">
            <a:avLst/>
          </a:prstGeom>
          <a:noFill/>
          <a:ln w="9525">
            <a:solidFill>
              <a:srgbClr val="C9C0B2"/>
            </a:solidFill>
            <a:prstDash val="solid"/>
          </a:ln>
        </p:spPr>
      </p:sp>
      <p:sp>
        <p:nvSpPr>
          <p:cNvPr id="21" name="s2-21"/>
          <p:cNvSpPr/>
          <p:nvPr/>
        </p:nvSpPr>
        <p:spPr>
          <a:xfrm>
            <a:off x="4749800" y="4572000"/>
            <a:ext cx="457200" cy="558800"/>
          </a:xfrm>
          <a:prstGeom prst="rect">
            <a:avLst/>
          </a:prstGeom>
          <a:noFill/>
          <a:ln/>
        </p:spPr>
        <p:txBody>
          <a:bodyPr wrap="square" lIns="0" tIns="0" rIns="0" bIns="0" rtlCol="0" anchor="ctr"/>
          <a:lstStyle/>
          <a:p>
            <a:pPr marL="0" indent="0">
              <a:buNone/>
            </a:pPr>
            <a:r>
              <a:rPr lang="en-US" sz="1050" kern="0" spc="200" dirty="0">
                <a:solidFill>
                  <a:srgbClr val="5E5A54"/>
                </a:solidFill>
                <a:latin typeface="Jost" pitchFamily="34" charset="0"/>
                <a:ea typeface="Jost" pitchFamily="34" charset="-122"/>
                <a:cs typeface="Jost" pitchFamily="34" charset="-120"/>
              </a:rPr>
              <a:t>05</a:t>
            </a:r>
            <a:endParaRPr lang="en-US" sz="1050" dirty="0"/>
          </a:p>
        </p:txBody>
      </p:sp>
      <p:sp>
        <p:nvSpPr>
          <p:cNvPr id="22" name="s2-22">
            <a:hlinkClick r:id="" action="ppaction://noaction"/>
          </p:cNvPr>
          <p:cNvSpPr/>
          <p:nvPr/>
        </p:nvSpPr>
        <p:spPr>
          <a:xfrm>
            <a:off x="5207000" y="4572000"/>
            <a:ext cx="2743200" cy="558800"/>
          </a:xfrm>
          <a:prstGeom prst="rect">
            <a:avLst/>
          </a:prstGeom>
          <a:noFill/>
          <a:ln/>
        </p:spPr>
        <p:txBody>
          <a:bodyPr wrap="square" lIns="0" tIns="0" rIns="0" bIns="0" rtlCol="0" anchor="ctr"/>
          <a:lstStyle/>
          <a:p>
            <a:pPr marL="0" indent="0">
              <a:buNone/>
            </a:pPr>
            <a:r>
              <a:rPr lang="en-US" sz="1700" u="sng" dirty="0">
                <a:solidFill>
                  <a:srgbClr val="11110F"/>
                </a:solidFill>
                <a:latin typeface="Cormorant Garamond" pitchFamily="34" charset="0"/>
                <a:ea typeface="Cormorant Garamond" pitchFamily="34" charset="-122"/>
                <a:cs typeface="Cormorant Garamond" pitchFamily="34" charset="-120"/>
                <a:hlinkClick r:id="" action="ppaction://noaction">
                  <a:extLst>
                    <a:ext uri="{A12FA001-AC4F-418D-AE19-62706E023703}">
                      <ahyp:hlinkClr xmlns:ahyp="http://schemas.microsoft.com/office/drawing/2018/hyperlinkcolor" val="tx"/>
                    </a:ext>
                  </a:extLst>
                </a:hlinkClick>
              </a:rPr>
              <a:t>The Reach</a:t>
            </a:r>
            <a:endParaRPr lang="en-US" sz="1700" dirty="0"/>
          </a:p>
        </p:txBody>
      </p:sp>
      <p:sp>
        <p:nvSpPr>
          <p:cNvPr id="23" name="s2-23"/>
          <p:cNvSpPr/>
          <p:nvPr/>
        </p:nvSpPr>
        <p:spPr>
          <a:xfrm>
            <a:off x="4749800" y="5130800"/>
            <a:ext cx="3200400" cy="0"/>
          </a:xfrm>
          <a:prstGeom prst="line">
            <a:avLst/>
          </a:prstGeom>
          <a:noFill/>
          <a:ln w="9525">
            <a:solidFill>
              <a:srgbClr val="C9C0B2"/>
            </a:solidFill>
            <a:prstDash val="solid"/>
          </a:ln>
        </p:spPr>
      </p:sp>
      <p:sp>
        <p:nvSpPr>
          <p:cNvPr id="24" name="s2-24"/>
          <p:cNvSpPr/>
          <p:nvPr/>
        </p:nvSpPr>
        <p:spPr>
          <a:xfrm>
            <a:off x="4749800" y="5130800"/>
            <a:ext cx="457200" cy="558800"/>
          </a:xfrm>
          <a:prstGeom prst="rect">
            <a:avLst/>
          </a:prstGeom>
          <a:noFill/>
          <a:ln/>
        </p:spPr>
        <p:txBody>
          <a:bodyPr wrap="square" lIns="0" tIns="0" rIns="0" bIns="0" rtlCol="0" anchor="ctr"/>
          <a:lstStyle/>
          <a:p>
            <a:pPr marL="0" indent="0">
              <a:buNone/>
            </a:pPr>
            <a:r>
              <a:rPr lang="en-US" sz="1050" kern="0" spc="200" dirty="0">
                <a:solidFill>
                  <a:srgbClr val="5E5A54"/>
                </a:solidFill>
                <a:latin typeface="Jost" pitchFamily="34" charset="0"/>
                <a:ea typeface="Jost" pitchFamily="34" charset="-122"/>
                <a:cs typeface="Jost" pitchFamily="34" charset="-120"/>
              </a:rPr>
              <a:t>06</a:t>
            </a:r>
            <a:endParaRPr lang="en-US" sz="1050" dirty="0"/>
          </a:p>
        </p:txBody>
      </p:sp>
      <p:sp>
        <p:nvSpPr>
          <p:cNvPr id="25" name="s2-25">
            <a:hlinkClick r:id="" action="ppaction://noaction"/>
          </p:cNvPr>
          <p:cNvSpPr/>
          <p:nvPr/>
        </p:nvSpPr>
        <p:spPr>
          <a:xfrm>
            <a:off x="5207000" y="5130800"/>
            <a:ext cx="2743200" cy="558800"/>
          </a:xfrm>
          <a:prstGeom prst="rect">
            <a:avLst/>
          </a:prstGeom>
          <a:noFill/>
          <a:ln/>
        </p:spPr>
        <p:txBody>
          <a:bodyPr wrap="square" lIns="0" tIns="0" rIns="0" bIns="0" rtlCol="0" anchor="ctr"/>
          <a:lstStyle/>
          <a:p>
            <a:pPr marL="0" indent="0">
              <a:buNone/>
            </a:pPr>
            <a:r>
              <a:rPr lang="en-US" sz="1700" u="sng" dirty="0">
                <a:solidFill>
                  <a:srgbClr val="11110F"/>
                </a:solidFill>
                <a:latin typeface="Cormorant Garamond" pitchFamily="34" charset="0"/>
                <a:ea typeface="Cormorant Garamond" pitchFamily="34" charset="-122"/>
                <a:cs typeface="Cormorant Garamond" pitchFamily="34" charset="-120"/>
                <a:hlinkClick r:id="" action="ppaction://noaction">
                  <a:extLst>
                    <a:ext uri="{A12FA001-AC4F-418D-AE19-62706E023703}">
                      <ahyp:hlinkClr xmlns:ahyp="http://schemas.microsoft.com/office/drawing/2018/hyperlinkcolor" val="tx"/>
                    </a:ext>
                  </a:extLst>
                </a:hlinkClick>
              </a:rPr>
              <a:t>The Campaign</a:t>
            </a:r>
            <a:endParaRPr lang="en-US" sz="1700" dirty="0"/>
          </a:p>
        </p:txBody>
      </p:sp>
      <p:sp>
        <p:nvSpPr>
          <p:cNvPr id="26" name="s2-26"/>
          <p:cNvSpPr/>
          <p:nvPr/>
        </p:nvSpPr>
        <p:spPr>
          <a:xfrm>
            <a:off x="8318500" y="2336800"/>
            <a:ext cx="3200400" cy="0"/>
          </a:xfrm>
          <a:prstGeom prst="line">
            <a:avLst/>
          </a:prstGeom>
          <a:noFill/>
          <a:ln w="9525">
            <a:solidFill>
              <a:srgbClr val="C9C0B2"/>
            </a:solidFill>
            <a:prstDash val="solid"/>
          </a:ln>
        </p:spPr>
      </p:sp>
      <p:sp>
        <p:nvSpPr>
          <p:cNvPr id="27" name="s2-27"/>
          <p:cNvSpPr/>
          <p:nvPr/>
        </p:nvSpPr>
        <p:spPr>
          <a:xfrm>
            <a:off x="8318500" y="2336800"/>
            <a:ext cx="457200" cy="558800"/>
          </a:xfrm>
          <a:prstGeom prst="rect">
            <a:avLst/>
          </a:prstGeom>
          <a:noFill/>
          <a:ln/>
        </p:spPr>
        <p:txBody>
          <a:bodyPr wrap="square" lIns="0" tIns="0" rIns="0" bIns="0" rtlCol="0" anchor="ctr"/>
          <a:lstStyle/>
          <a:p>
            <a:pPr marL="0" indent="0">
              <a:buNone/>
            </a:pPr>
            <a:r>
              <a:rPr lang="en-US" sz="1050" kern="0" spc="200" dirty="0">
                <a:solidFill>
                  <a:srgbClr val="5E5A54"/>
                </a:solidFill>
                <a:latin typeface="Jost" pitchFamily="34" charset="0"/>
                <a:ea typeface="Jost" pitchFamily="34" charset="-122"/>
                <a:cs typeface="Jost" pitchFamily="34" charset="-120"/>
              </a:rPr>
              <a:t>07</a:t>
            </a:r>
            <a:endParaRPr lang="en-US" sz="1050" dirty="0"/>
          </a:p>
        </p:txBody>
      </p:sp>
      <p:sp>
        <p:nvSpPr>
          <p:cNvPr id="28" name="s2-28">
            <a:hlinkClick r:id="" action="ppaction://noaction"/>
          </p:cNvPr>
          <p:cNvSpPr/>
          <p:nvPr/>
        </p:nvSpPr>
        <p:spPr>
          <a:xfrm>
            <a:off x="8775700" y="2336800"/>
            <a:ext cx="2743200" cy="558800"/>
          </a:xfrm>
          <a:prstGeom prst="rect">
            <a:avLst/>
          </a:prstGeom>
          <a:noFill/>
          <a:ln/>
        </p:spPr>
        <p:txBody>
          <a:bodyPr wrap="square" lIns="0" tIns="0" rIns="0" bIns="0" rtlCol="0" anchor="ctr"/>
          <a:lstStyle/>
          <a:p>
            <a:pPr marL="0" indent="0">
              <a:buNone/>
            </a:pPr>
            <a:r>
              <a:rPr lang="en-US" sz="1700" u="sng" dirty="0">
                <a:solidFill>
                  <a:srgbClr val="11110F"/>
                </a:solidFill>
                <a:latin typeface="Cormorant Garamond" pitchFamily="34" charset="0"/>
                <a:ea typeface="Cormorant Garamond" pitchFamily="34" charset="-122"/>
                <a:cs typeface="Cormorant Garamond" pitchFamily="34" charset="-120"/>
                <a:hlinkClick r:id="" action="ppaction://noaction">
                  <a:extLst>
                    <a:ext uri="{A12FA001-AC4F-418D-AE19-62706E023703}">
                      <ahyp:hlinkClr xmlns:ahyp="http://schemas.microsoft.com/office/drawing/2018/hyperlinkcolor" val="tx"/>
                    </a:ext>
                  </a:extLst>
                </a:hlinkClick>
              </a:rPr>
              <a:t>Five Features</a:t>
            </a:r>
            <a:endParaRPr lang="en-US" sz="1700" dirty="0"/>
          </a:p>
        </p:txBody>
      </p:sp>
      <p:sp>
        <p:nvSpPr>
          <p:cNvPr id="29" name="s2-29"/>
          <p:cNvSpPr/>
          <p:nvPr/>
        </p:nvSpPr>
        <p:spPr>
          <a:xfrm>
            <a:off x="8318500" y="2895600"/>
            <a:ext cx="3200400" cy="0"/>
          </a:xfrm>
          <a:prstGeom prst="line">
            <a:avLst/>
          </a:prstGeom>
          <a:noFill/>
          <a:ln w="9525">
            <a:solidFill>
              <a:srgbClr val="C9C0B2"/>
            </a:solidFill>
            <a:prstDash val="solid"/>
          </a:ln>
        </p:spPr>
      </p:sp>
      <p:sp>
        <p:nvSpPr>
          <p:cNvPr id="30" name="s2-30"/>
          <p:cNvSpPr/>
          <p:nvPr/>
        </p:nvSpPr>
        <p:spPr>
          <a:xfrm>
            <a:off x="8318500" y="2895600"/>
            <a:ext cx="457200" cy="558800"/>
          </a:xfrm>
          <a:prstGeom prst="rect">
            <a:avLst/>
          </a:prstGeom>
          <a:noFill/>
          <a:ln/>
        </p:spPr>
        <p:txBody>
          <a:bodyPr wrap="square" lIns="0" tIns="0" rIns="0" bIns="0" rtlCol="0" anchor="ctr"/>
          <a:lstStyle/>
          <a:p>
            <a:pPr marL="0" indent="0">
              <a:buNone/>
            </a:pPr>
            <a:r>
              <a:rPr lang="en-US" sz="1050" kern="0" spc="200" dirty="0">
                <a:solidFill>
                  <a:srgbClr val="5E5A54"/>
                </a:solidFill>
                <a:latin typeface="Jost" pitchFamily="34" charset="0"/>
                <a:ea typeface="Jost" pitchFamily="34" charset="-122"/>
                <a:cs typeface="Jost" pitchFamily="34" charset="-120"/>
              </a:rPr>
              <a:t>08</a:t>
            </a:r>
            <a:endParaRPr lang="en-US" sz="1050" dirty="0"/>
          </a:p>
        </p:txBody>
      </p:sp>
      <p:sp>
        <p:nvSpPr>
          <p:cNvPr id="31" name="s2-31">
            <a:hlinkClick r:id="" action="ppaction://noaction"/>
          </p:cNvPr>
          <p:cNvSpPr/>
          <p:nvPr/>
        </p:nvSpPr>
        <p:spPr>
          <a:xfrm>
            <a:off x="8775700" y="2895600"/>
            <a:ext cx="2743200" cy="558800"/>
          </a:xfrm>
          <a:prstGeom prst="rect">
            <a:avLst/>
          </a:prstGeom>
          <a:noFill/>
          <a:ln/>
        </p:spPr>
        <p:txBody>
          <a:bodyPr wrap="square" lIns="0" tIns="0" rIns="0" bIns="0" rtlCol="0" anchor="ctr"/>
          <a:lstStyle/>
          <a:p>
            <a:pPr marL="0" indent="0">
              <a:buNone/>
            </a:pPr>
            <a:r>
              <a:rPr lang="en-US" sz="1700" u="sng" dirty="0">
                <a:solidFill>
                  <a:srgbClr val="11110F"/>
                </a:solidFill>
                <a:latin typeface="Cormorant Garamond" pitchFamily="34" charset="0"/>
                <a:ea typeface="Cormorant Garamond" pitchFamily="34" charset="-122"/>
                <a:cs typeface="Cormorant Garamond" pitchFamily="34" charset="-120"/>
                <a:hlinkClick r:id="" action="ppaction://noaction">
                  <a:extLst>
                    <a:ext uri="{A12FA001-AC4F-418D-AE19-62706E023703}">
                      <ahyp:hlinkClr xmlns:ahyp="http://schemas.microsoft.com/office/drawing/2018/hyperlinkcolor" val="tx"/>
                    </a:ext>
                  </a:extLst>
                </a:hlinkClick>
              </a:rPr>
              <a:t>The four products compared</a:t>
            </a:r>
            <a:endParaRPr lang="en-US" sz="1700" dirty="0"/>
          </a:p>
        </p:txBody>
      </p:sp>
      <p:sp>
        <p:nvSpPr>
          <p:cNvPr id="32" name="s2-32"/>
          <p:cNvSpPr/>
          <p:nvPr/>
        </p:nvSpPr>
        <p:spPr>
          <a:xfrm>
            <a:off x="8318500" y="3454400"/>
            <a:ext cx="3200400" cy="0"/>
          </a:xfrm>
          <a:prstGeom prst="line">
            <a:avLst/>
          </a:prstGeom>
          <a:noFill/>
          <a:ln w="9525">
            <a:solidFill>
              <a:srgbClr val="C9C0B2"/>
            </a:solidFill>
            <a:prstDash val="solid"/>
          </a:ln>
        </p:spPr>
      </p:sp>
      <p:sp>
        <p:nvSpPr>
          <p:cNvPr id="33" name="s2-33"/>
          <p:cNvSpPr/>
          <p:nvPr/>
        </p:nvSpPr>
        <p:spPr>
          <a:xfrm>
            <a:off x="8318500" y="3454400"/>
            <a:ext cx="457200" cy="558800"/>
          </a:xfrm>
          <a:prstGeom prst="rect">
            <a:avLst/>
          </a:prstGeom>
          <a:noFill/>
          <a:ln/>
        </p:spPr>
        <p:txBody>
          <a:bodyPr wrap="square" lIns="0" tIns="0" rIns="0" bIns="0" rtlCol="0" anchor="ctr"/>
          <a:lstStyle/>
          <a:p>
            <a:pPr marL="0" indent="0">
              <a:buNone/>
            </a:pPr>
            <a:r>
              <a:rPr lang="en-US" sz="1050" kern="0" spc="200" dirty="0">
                <a:solidFill>
                  <a:srgbClr val="5E5A54"/>
                </a:solidFill>
                <a:latin typeface="Jost" pitchFamily="34" charset="0"/>
                <a:ea typeface="Jost" pitchFamily="34" charset="-122"/>
                <a:cs typeface="Jost" pitchFamily="34" charset="-120"/>
              </a:rPr>
              <a:t>09</a:t>
            </a:r>
            <a:endParaRPr lang="en-US" sz="1050" dirty="0"/>
          </a:p>
        </p:txBody>
      </p:sp>
      <p:sp>
        <p:nvSpPr>
          <p:cNvPr id="34" name="s2-34">
            <a:hlinkClick r:id="" action="ppaction://noaction"/>
          </p:cNvPr>
          <p:cNvSpPr/>
          <p:nvPr/>
        </p:nvSpPr>
        <p:spPr>
          <a:xfrm>
            <a:off x="8775700" y="3454400"/>
            <a:ext cx="2743200" cy="558800"/>
          </a:xfrm>
          <a:prstGeom prst="rect">
            <a:avLst/>
          </a:prstGeom>
          <a:noFill/>
          <a:ln/>
        </p:spPr>
        <p:txBody>
          <a:bodyPr wrap="square" lIns="0" tIns="0" rIns="0" bIns="0" rtlCol="0" anchor="ctr"/>
          <a:lstStyle/>
          <a:p>
            <a:pPr marL="0" indent="0">
              <a:buNone/>
            </a:pPr>
            <a:r>
              <a:rPr lang="en-US" sz="1700" u="sng" dirty="0">
                <a:solidFill>
                  <a:srgbClr val="11110F"/>
                </a:solidFill>
                <a:latin typeface="Cormorant Garamond" pitchFamily="34" charset="0"/>
                <a:ea typeface="Cormorant Garamond" pitchFamily="34" charset="-122"/>
                <a:cs typeface="Cormorant Garamond" pitchFamily="34" charset="-120"/>
                <a:hlinkClick r:id="" action="ppaction://noaction">
                  <a:extLst>
                    <a:ext uri="{A12FA001-AC4F-418D-AE19-62706E023703}">
                      <ahyp:hlinkClr xmlns:ahyp="http://schemas.microsoft.com/office/drawing/2018/hyperlinkcolor" val="tx"/>
                    </a:ext>
                  </a:extLst>
                </a:hlinkClick>
              </a:rPr>
              <a:t>Precision distribution</a:t>
            </a:r>
            <a:endParaRPr lang="en-US" sz="1700" dirty="0"/>
          </a:p>
        </p:txBody>
      </p:sp>
      <p:sp>
        <p:nvSpPr>
          <p:cNvPr id="35" name="s2-35"/>
          <p:cNvSpPr/>
          <p:nvPr/>
        </p:nvSpPr>
        <p:spPr>
          <a:xfrm>
            <a:off x="8318500" y="4013200"/>
            <a:ext cx="3200400" cy="0"/>
          </a:xfrm>
          <a:prstGeom prst="line">
            <a:avLst/>
          </a:prstGeom>
          <a:noFill/>
          <a:ln w="9525">
            <a:solidFill>
              <a:srgbClr val="C9C0B2"/>
            </a:solidFill>
            <a:prstDash val="solid"/>
          </a:ln>
        </p:spPr>
      </p:sp>
      <p:sp>
        <p:nvSpPr>
          <p:cNvPr id="36" name="s2-36"/>
          <p:cNvSpPr/>
          <p:nvPr/>
        </p:nvSpPr>
        <p:spPr>
          <a:xfrm>
            <a:off x="8318500" y="4013200"/>
            <a:ext cx="457200" cy="558800"/>
          </a:xfrm>
          <a:prstGeom prst="rect">
            <a:avLst/>
          </a:prstGeom>
          <a:noFill/>
          <a:ln/>
        </p:spPr>
        <p:txBody>
          <a:bodyPr wrap="square" lIns="0" tIns="0" rIns="0" bIns="0" rtlCol="0" anchor="ctr"/>
          <a:lstStyle/>
          <a:p>
            <a:pPr marL="0" indent="0">
              <a:buNone/>
            </a:pPr>
            <a:r>
              <a:rPr lang="en-US" sz="1050" kern="0" spc="200" dirty="0">
                <a:solidFill>
                  <a:srgbClr val="5E5A54"/>
                </a:solidFill>
                <a:latin typeface="Jost" pitchFamily="34" charset="0"/>
                <a:ea typeface="Jost" pitchFamily="34" charset="-122"/>
                <a:cs typeface="Jost" pitchFamily="34" charset="-120"/>
              </a:rPr>
              <a:t>10</a:t>
            </a:r>
            <a:endParaRPr lang="en-US" sz="1050" dirty="0"/>
          </a:p>
        </p:txBody>
      </p:sp>
      <p:sp>
        <p:nvSpPr>
          <p:cNvPr id="37" name="s2-37">
            <a:hlinkClick r:id="" action="ppaction://noaction"/>
          </p:cNvPr>
          <p:cNvSpPr/>
          <p:nvPr/>
        </p:nvSpPr>
        <p:spPr>
          <a:xfrm>
            <a:off x="8775700" y="4013200"/>
            <a:ext cx="2743200" cy="558800"/>
          </a:xfrm>
          <a:prstGeom prst="rect">
            <a:avLst/>
          </a:prstGeom>
          <a:noFill/>
          <a:ln/>
        </p:spPr>
        <p:txBody>
          <a:bodyPr wrap="square" lIns="0" tIns="0" rIns="0" bIns="0" rtlCol="0" anchor="ctr"/>
          <a:lstStyle/>
          <a:p>
            <a:pPr marL="0" indent="0">
              <a:buNone/>
            </a:pPr>
            <a:r>
              <a:rPr lang="en-US" sz="1700" u="sng" dirty="0">
                <a:solidFill>
                  <a:srgbClr val="11110F"/>
                </a:solidFill>
                <a:latin typeface="Cormorant Garamond" pitchFamily="34" charset="0"/>
                <a:ea typeface="Cormorant Garamond" pitchFamily="34" charset="-122"/>
                <a:cs typeface="Cormorant Garamond" pitchFamily="34" charset="-120"/>
                <a:hlinkClick r:id="" action="ppaction://noaction">
                  <a:extLst>
                    <a:ext uri="{A12FA001-AC4F-418D-AE19-62706E023703}">
                      <ahyp:hlinkClr xmlns:ahyp="http://schemas.microsoft.com/office/drawing/2018/hyperlinkcolor" val="tx"/>
                    </a:ext>
                  </a:extLst>
                </a:hlinkClick>
              </a:rPr>
              <a:t>What we do not do</a:t>
            </a:r>
            <a:endParaRPr lang="en-US" sz="1700" dirty="0"/>
          </a:p>
        </p:txBody>
      </p:sp>
      <p:sp>
        <p:nvSpPr>
          <p:cNvPr id="38" name="s2-38"/>
          <p:cNvSpPr/>
          <p:nvPr/>
        </p:nvSpPr>
        <p:spPr>
          <a:xfrm>
            <a:off x="8318500" y="4572000"/>
            <a:ext cx="3200400" cy="0"/>
          </a:xfrm>
          <a:prstGeom prst="line">
            <a:avLst/>
          </a:prstGeom>
          <a:noFill/>
          <a:ln w="9525">
            <a:solidFill>
              <a:srgbClr val="C9C0B2"/>
            </a:solidFill>
            <a:prstDash val="solid"/>
          </a:ln>
        </p:spPr>
      </p:sp>
      <p:sp>
        <p:nvSpPr>
          <p:cNvPr id="39" name="s2-39"/>
          <p:cNvSpPr/>
          <p:nvPr/>
        </p:nvSpPr>
        <p:spPr>
          <a:xfrm>
            <a:off x="8318500" y="4572000"/>
            <a:ext cx="457200" cy="558800"/>
          </a:xfrm>
          <a:prstGeom prst="rect">
            <a:avLst/>
          </a:prstGeom>
          <a:noFill/>
          <a:ln/>
        </p:spPr>
        <p:txBody>
          <a:bodyPr wrap="square" lIns="0" tIns="0" rIns="0" bIns="0" rtlCol="0" anchor="ctr"/>
          <a:lstStyle/>
          <a:p>
            <a:pPr marL="0" indent="0">
              <a:buNone/>
            </a:pPr>
            <a:r>
              <a:rPr lang="en-US" sz="1050" kern="0" spc="200" dirty="0">
                <a:solidFill>
                  <a:srgbClr val="5E5A54"/>
                </a:solidFill>
                <a:latin typeface="Jost" pitchFamily="34" charset="0"/>
                <a:ea typeface="Jost" pitchFamily="34" charset="-122"/>
                <a:cs typeface="Jost" pitchFamily="34" charset="-120"/>
              </a:rPr>
              <a:t>11</a:t>
            </a:r>
            <a:endParaRPr lang="en-US" sz="1050" dirty="0"/>
          </a:p>
        </p:txBody>
      </p:sp>
      <p:sp>
        <p:nvSpPr>
          <p:cNvPr id="40" name="s2-40">
            <a:hlinkClick r:id="" action="ppaction://noaction"/>
          </p:cNvPr>
          <p:cNvSpPr/>
          <p:nvPr/>
        </p:nvSpPr>
        <p:spPr>
          <a:xfrm>
            <a:off x="8775700" y="4572000"/>
            <a:ext cx="2743200" cy="558800"/>
          </a:xfrm>
          <a:prstGeom prst="rect">
            <a:avLst/>
          </a:prstGeom>
          <a:noFill/>
          <a:ln/>
        </p:spPr>
        <p:txBody>
          <a:bodyPr wrap="square" lIns="0" tIns="0" rIns="0" bIns="0" rtlCol="0" anchor="ctr"/>
          <a:lstStyle/>
          <a:p>
            <a:pPr marL="0" indent="0">
              <a:buNone/>
            </a:pPr>
            <a:r>
              <a:rPr lang="en-US" sz="1700" u="sng" dirty="0">
                <a:solidFill>
                  <a:srgbClr val="11110F"/>
                </a:solidFill>
                <a:latin typeface="Cormorant Garamond" pitchFamily="34" charset="0"/>
                <a:ea typeface="Cormorant Garamond" pitchFamily="34" charset="-122"/>
                <a:cs typeface="Cormorant Garamond" pitchFamily="34" charset="-120"/>
                <a:hlinkClick r:id="" action="ppaction://noaction">
                  <a:extLst>
                    <a:ext uri="{A12FA001-AC4F-418D-AE19-62706E023703}">
                      <ahyp:hlinkClr xmlns:ahyp="http://schemas.microsoft.com/office/drawing/2018/hyperlinkcolor" val="tx"/>
                    </a:ext>
                  </a:extLst>
                </a:hlinkClick>
              </a:rPr>
              <a:t>Questions</a:t>
            </a:r>
            <a:endParaRPr lang="en-US" sz="1700" dirty="0"/>
          </a:p>
        </p:txBody>
      </p:sp>
      <p:sp>
        <p:nvSpPr>
          <p:cNvPr id="41" name="s2-41"/>
          <p:cNvSpPr/>
          <p:nvPr/>
        </p:nvSpPr>
        <p:spPr>
          <a:xfrm>
            <a:off x="8318500" y="5130800"/>
            <a:ext cx="3200400" cy="0"/>
          </a:xfrm>
          <a:prstGeom prst="line">
            <a:avLst/>
          </a:prstGeom>
          <a:noFill/>
          <a:ln w="9525">
            <a:solidFill>
              <a:srgbClr val="C9C0B2"/>
            </a:solidFill>
            <a:prstDash val="solid"/>
          </a:ln>
        </p:spPr>
      </p:sp>
      <p:sp>
        <p:nvSpPr>
          <p:cNvPr id="42" name="s2-42"/>
          <p:cNvSpPr/>
          <p:nvPr/>
        </p:nvSpPr>
        <p:spPr>
          <a:xfrm>
            <a:off x="8318500" y="5130800"/>
            <a:ext cx="457200" cy="558800"/>
          </a:xfrm>
          <a:prstGeom prst="rect">
            <a:avLst/>
          </a:prstGeom>
          <a:noFill/>
          <a:ln/>
        </p:spPr>
        <p:txBody>
          <a:bodyPr wrap="square" lIns="0" tIns="0" rIns="0" bIns="0" rtlCol="0" anchor="ctr"/>
          <a:lstStyle/>
          <a:p>
            <a:pPr marL="0" indent="0">
              <a:buNone/>
            </a:pPr>
            <a:r>
              <a:rPr lang="en-US" sz="1050" kern="0" spc="200" dirty="0">
                <a:solidFill>
                  <a:srgbClr val="5E5A54"/>
                </a:solidFill>
                <a:latin typeface="Jost" pitchFamily="34" charset="0"/>
                <a:ea typeface="Jost" pitchFamily="34" charset="-122"/>
                <a:cs typeface="Jost" pitchFamily="34" charset="-120"/>
              </a:rPr>
              <a:t>12</a:t>
            </a:r>
            <a:endParaRPr lang="en-US" sz="1050" dirty="0"/>
          </a:p>
        </p:txBody>
      </p:sp>
      <p:sp>
        <p:nvSpPr>
          <p:cNvPr id="43" name="s2-43">
            <a:hlinkClick r:id="" action="ppaction://noaction"/>
          </p:cNvPr>
          <p:cNvSpPr/>
          <p:nvPr/>
        </p:nvSpPr>
        <p:spPr>
          <a:xfrm>
            <a:off x="8775700" y="5130800"/>
            <a:ext cx="2743200" cy="558800"/>
          </a:xfrm>
          <a:prstGeom prst="rect">
            <a:avLst/>
          </a:prstGeom>
          <a:noFill/>
          <a:ln/>
        </p:spPr>
        <p:txBody>
          <a:bodyPr wrap="square" lIns="0" tIns="0" rIns="0" bIns="0" rtlCol="0" anchor="ctr"/>
          <a:lstStyle/>
          <a:p>
            <a:pPr marL="0" indent="0">
              <a:buNone/>
            </a:pPr>
            <a:r>
              <a:rPr lang="en-US" sz="1700" u="sng" dirty="0">
                <a:solidFill>
                  <a:srgbClr val="11110F"/>
                </a:solidFill>
                <a:latin typeface="Cormorant Garamond" pitchFamily="34" charset="0"/>
                <a:ea typeface="Cormorant Garamond" pitchFamily="34" charset="-122"/>
                <a:cs typeface="Cormorant Garamond" pitchFamily="34" charset="-120"/>
                <a:hlinkClick r:id="" action="ppaction://noaction">
                  <a:extLst>
                    <a:ext uri="{A12FA001-AC4F-418D-AE19-62706E023703}">
                      <ahyp:hlinkClr xmlns:ahyp="http://schemas.microsoft.com/office/drawing/2018/hyperlinkcolor" val="tx"/>
                    </a:ext>
                  </a:extLst>
                </a:hlinkClick>
              </a:rPr>
              <a:t>How to submit</a:t>
            </a:r>
            <a:endParaRPr lang="en-US" sz="1700" dirty="0"/>
          </a:p>
        </p:txBody>
      </p:sp>
      <p:sp>
        <p:nvSpPr>
          <p:cNvPr id="44" name="s2-44"/>
          <p:cNvSpPr/>
          <p:nvPr/>
        </p:nvSpPr>
        <p:spPr>
          <a:xfrm>
            <a:off x="4749800" y="5689600"/>
            <a:ext cx="3200400" cy="0"/>
          </a:xfrm>
          <a:prstGeom prst="line">
            <a:avLst/>
          </a:prstGeom>
          <a:noFill/>
          <a:ln w="9525">
            <a:solidFill>
              <a:srgbClr val="C9C0B2"/>
            </a:solidFill>
            <a:prstDash val="solid"/>
          </a:ln>
        </p:spPr>
      </p:sp>
      <p:sp>
        <p:nvSpPr>
          <p:cNvPr id="45" name="s2-45"/>
          <p:cNvSpPr/>
          <p:nvPr/>
        </p:nvSpPr>
        <p:spPr>
          <a:xfrm>
            <a:off x="8318500" y="5689600"/>
            <a:ext cx="3200400" cy="0"/>
          </a:xfrm>
          <a:prstGeom prst="line">
            <a:avLst/>
          </a:prstGeom>
          <a:noFill/>
          <a:ln w="9525">
            <a:solidFill>
              <a:srgbClr val="C9C0B2"/>
            </a:solidFill>
            <a:prstDash val="solid"/>
          </a:ln>
        </p:spPr>
      </p:sp>
    </p:spTree>
    <p:extLst>
      <p:ext uri="{BB962C8B-B14F-4D97-AF65-F5344CB8AC3E}">
        <p14:creationId xmlns:p14="http://schemas.microsoft.com/office/powerpoint/2010/main" val="38326952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15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1250" decel="100000"/>
                                        <p:tgtEl>
                                          <p:spTgt spid="8"/>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950"/>
                                        <p:tgtEl>
                                          <p:spTgt spid="9"/>
                                        </p:tgtEl>
                                      </p:cBhvr>
                                    </p:animEffect>
                                    <p:anim calcmode="lin" valueType="num">
                                      <p:cBhvr>
                                        <p:cTn id="11" dur="950" decel="100000" fill="hold"/>
                                        <p:tgtEl>
                                          <p:spTgt spid="9"/>
                                        </p:tgtEl>
                                        <p:attrNameLst>
                                          <p:attrName>ppt_x</p:attrName>
                                        </p:attrNameLst>
                                      </p:cBhvr>
                                      <p:tavLst>
                                        <p:tav tm="0">
                                          <p:val>
                                            <p:strVal val="#ppt_x"/>
                                          </p:val>
                                        </p:tav>
                                        <p:tav tm="100000">
                                          <p:val>
                                            <p:strVal val="#ppt_x"/>
                                          </p:val>
                                        </p:tav>
                                      </p:tavLst>
                                    </p:anim>
                                    <p:anim calcmode="lin" valueType="num">
                                      <p:cBhvr>
                                        <p:cTn id="12" dur="950" decel="100000" fill="hold"/>
                                        <p:tgtEl>
                                          <p:spTgt spid="9"/>
                                        </p:tgtEl>
                                        <p:attrNameLst>
                                          <p:attrName>ppt_y</p:attrName>
                                        </p:attrNameLst>
                                      </p:cBhvr>
                                      <p:tavLst>
                                        <p:tav tm="0">
                                          <p:val>
                                            <p:strVal val="#ppt_y+0.022"/>
                                          </p:val>
                                        </p:tav>
                                        <p:tav tm="100000">
                                          <p:val>
                                            <p:strVal val="#ppt_y"/>
                                          </p:val>
                                        </p:tav>
                                      </p:tavLst>
                                    </p:anim>
                                  </p:childTnLst>
                                </p:cTn>
                              </p:par>
                              <p:par>
                                <p:cTn id="13" presetID="10" presetClass="entr" presetSubtype="0" fill="hold" grpId="0" nodeType="withEffect">
                                  <p:stCondLst>
                                    <p:cond delay="1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950"/>
                                        <p:tgtEl>
                                          <p:spTgt spid="10"/>
                                        </p:tgtEl>
                                      </p:cBhvr>
                                    </p:animEffect>
                                    <p:anim calcmode="lin" valueType="num">
                                      <p:cBhvr>
                                        <p:cTn id="16" dur="950" decel="100000" fill="hold"/>
                                        <p:tgtEl>
                                          <p:spTgt spid="10"/>
                                        </p:tgtEl>
                                        <p:attrNameLst>
                                          <p:attrName>ppt_x</p:attrName>
                                        </p:attrNameLst>
                                      </p:cBhvr>
                                      <p:tavLst>
                                        <p:tav tm="0">
                                          <p:val>
                                            <p:strVal val="#ppt_x"/>
                                          </p:val>
                                        </p:tav>
                                        <p:tav tm="100000">
                                          <p:val>
                                            <p:strVal val="#ppt_x"/>
                                          </p:val>
                                        </p:tav>
                                      </p:tavLst>
                                    </p:anim>
                                    <p:anim calcmode="lin" valueType="num">
                                      <p:cBhvr>
                                        <p:cTn id="17" dur="950" decel="100000" fill="hold"/>
                                        <p:tgtEl>
                                          <p:spTgt spid="10"/>
                                        </p:tgtEl>
                                        <p:attrNameLst>
                                          <p:attrName>ppt_y</p:attrName>
                                        </p:attrNameLst>
                                      </p:cBhvr>
                                      <p:tavLst>
                                        <p:tav tm="0">
                                          <p:val>
                                            <p:strVal val="#ppt_y+0.022"/>
                                          </p:val>
                                        </p:tav>
                                        <p:tav tm="100000">
                                          <p:val>
                                            <p:strVal val="#ppt_y"/>
                                          </p:val>
                                        </p:tav>
                                      </p:tavLst>
                                    </p:anim>
                                  </p:childTnLst>
                                </p:cTn>
                              </p:par>
                              <p:par>
                                <p:cTn id="18" presetID="22" presetClass="entr" presetSubtype="8" fill="hold" nodeType="withEffect">
                                  <p:stCondLst>
                                    <p:cond delay="150"/>
                                  </p:stCondLst>
                                  <p:childTnLst>
                                    <p:set>
                                      <p:cBhvr>
                                        <p:cTn id="19" dur="1" fill="hold">
                                          <p:stCondLst>
                                            <p:cond delay="0"/>
                                          </p:stCondLst>
                                        </p:cTn>
                                        <p:tgtEl>
                                          <p:spTgt spid="26"/>
                                        </p:tgtEl>
                                        <p:attrNameLst>
                                          <p:attrName>style.visibility</p:attrName>
                                        </p:attrNameLst>
                                      </p:cBhvr>
                                      <p:to>
                                        <p:strVal val="visible"/>
                                      </p:to>
                                    </p:set>
                                    <p:animEffect transition="in" filter="wipe(left)">
                                      <p:cBhvr>
                                        <p:cTn id="20" dur="1250" decel="100000"/>
                                        <p:tgtEl>
                                          <p:spTgt spid="26"/>
                                        </p:tgtEl>
                                      </p:cBhvr>
                                    </p:animEffect>
                                  </p:childTnLst>
                                </p:cTn>
                              </p:par>
                              <p:par>
                                <p:cTn id="21" presetID="10" presetClass="entr" presetSubtype="0" fill="hold" grpId="0" nodeType="withEffect">
                                  <p:stCondLst>
                                    <p:cond delay="15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950"/>
                                        <p:tgtEl>
                                          <p:spTgt spid="27"/>
                                        </p:tgtEl>
                                      </p:cBhvr>
                                    </p:animEffect>
                                    <p:anim calcmode="lin" valueType="num">
                                      <p:cBhvr>
                                        <p:cTn id="24" dur="950" decel="100000" fill="hold"/>
                                        <p:tgtEl>
                                          <p:spTgt spid="27"/>
                                        </p:tgtEl>
                                        <p:attrNameLst>
                                          <p:attrName>ppt_x</p:attrName>
                                        </p:attrNameLst>
                                      </p:cBhvr>
                                      <p:tavLst>
                                        <p:tav tm="0">
                                          <p:val>
                                            <p:strVal val="#ppt_x"/>
                                          </p:val>
                                        </p:tav>
                                        <p:tav tm="100000">
                                          <p:val>
                                            <p:strVal val="#ppt_x"/>
                                          </p:val>
                                        </p:tav>
                                      </p:tavLst>
                                    </p:anim>
                                    <p:anim calcmode="lin" valueType="num">
                                      <p:cBhvr>
                                        <p:cTn id="25" dur="950" decel="100000" fill="hold"/>
                                        <p:tgtEl>
                                          <p:spTgt spid="27"/>
                                        </p:tgtEl>
                                        <p:attrNameLst>
                                          <p:attrName>ppt_y</p:attrName>
                                        </p:attrNameLst>
                                      </p:cBhvr>
                                      <p:tavLst>
                                        <p:tav tm="0">
                                          <p:val>
                                            <p:strVal val="#ppt_y+0.022"/>
                                          </p:val>
                                        </p:tav>
                                        <p:tav tm="100000">
                                          <p:val>
                                            <p:strVal val="#ppt_y"/>
                                          </p:val>
                                        </p:tav>
                                      </p:tavLst>
                                    </p:anim>
                                  </p:childTnLst>
                                </p:cTn>
                              </p:par>
                              <p:par>
                                <p:cTn id="26" presetID="10" presetClass="entr" presetSubtype="0" fill="hold" grpId="0" nodeType="withEffect">
                                  <p:stCondLst>
                                    <p:cond delay="15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950"/>
                                        <p:tgtEl>
                                          <p:spTgt spid="28"/>
                                        </p:tgtEl>
                                      </p:cBhvr>
                                    </p:animEffect>
                                    <p:anim calcmode="lin" valueType="num">
                                      <p:cBhvr>
                                        <p:cTn id="29" dur="950" decel="100000" fill="hold"/>
                                        <p:tgtEl>
                                          <p:spTgt spid="28"/>
                                        </p:tgtEl>
                                        <p:attrNameLst>
                                          <p:attrName>ppt_x</p:attrName>
                                        </p:attrNameLst>
                                      </p:cBhvr>
                                      <p:tavLst>
                                        <p:tav tm="0">
                                          <p:val>
                                            <p:strVal val="#ppt_x"/>
                                          </p:val>
                                        </p:tav>
                                        <p:tav tm="100000">
                                          <p:val>
                                            <p:strVal val="#ppt_x"/>
                                          </p:val>
                                        </p:tav>
                                      </p:tavLst>
                                    </p:anim>
                                    <p:anim calcmode="lin" valueType="num">
                                      <p:cBhvr>
                                        <p:cTn id="30" dur="950" decel="100000" fill="hold"/>
                                        <p:tgtEl>
                                          <p:spTgt spid="28"/>
                                        </p:tgtEl>
                                        <p:attrNameLst>
                                          <p:attrName>ppt_y</p:attrName>
                                        </p:attrNameLst>
                                      </p:cBhvr>
                                      <p:tavLst>
                                        <p:tav tm="0">
                                          <p:val>
                                            <p:strVal val="#ppt_y+0.022"/>
                                          </p:val>
                                        </p:tav>
                                        <p:tav tm="100000">
                                          <p:val>
                                            <p:strVal val="#ppt_y"/>
                                          </p:val>
                                        </p:tav>
                                      </p:tavLst>
                                    </p:anim>
                                  </p:childTnLst>
                                </p:cTn>
                              </p:par>
                              <p:par>
                                <p:cTn id="31" presetID="22" presetClass="entr" presetSubtype="8" fill="hold" nodeType="withEffect">
                                  <p:stCondLst>
                                    <p:cond delay="260"/>
                                  </p:stCondLst>
                                  <p:childTnLst>
                                    <p:set>
                                      <p:cBhvr>
                                        <p:cTn id="32" dur="1" fill="hold">
                                          <p:stCondLst>
                                            <p:cond delay="0"/>
                                          </p:stCondLst>
                                        </p:cTn>
                                        <p:tgtEl>
                                          <p:spTgt spid="11"/>
                                        </p:tgtEl>
                                        <p:attrNameLst>
                                          <p:attrName>style.visibility</p:attrName>
                                        </p:attrNameLst>
                                      </p:cBhvr>
                                      <p:to>
                                        <p:strVal val="visible"/>
                                      </p:to>
                                    </p:set>
                                    <p:animEffect transition="in" filter="wipe(left)">
                                      <p:cBhvr>
                                        <p:cTn id="33" dur="1250" decel="100000"/>
                                        <p:tgtEl>
                                          <p:spTgt spid="11"/>
                                        </p:tgtEl>
                                      </p:cBhvr>
                                    </p:animEffect>
                                  </p:childTnLst>
                                </p:cTn>
                              </p:par>
                              <p:par>
                                <p:cTn id="34" presetID="10" presetClass="entr" presetSubtype="0" fill="hold" grpId="0" nodeType="withEffect">
                                  <p:stCondLst>
                                    <p:cond delay="26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950"/>
                                        <p:tgtEl>
                                          <p:spTgt spid="12"/>
                                        </p:tgtEl>
                                      </p:cBhvr>
                                    </p:animEffect>
                                    <p:anim calcmode="lin" valueType="num">
                                      <p:cBhvr>
                                        <p:cTn id="37" dur="950" decel="100000" fill="hold"/>
                                        <p:tgtEl>
                                          <p:spTgt spid="12"/>
                                        </p:tgtEl>
                                        <p:attrNameLst>
                                          <p:attrName>ppt_x</p:attrName>
                                        </p:attrNameLst>
                                      </p:cBhvr>
                                      <p:tavLst>
                                        <p:tav tm="0">
                                          <p:val>
                                            <p:strVal val="#ppt_x"/>
                                          </p:val>
                                        </p:tav>
                                        <p:tav tm="100000">
                                          <p:val>
                                            <p:strVal val="#ppt_x"/>
                                          </p:val>
                                        </p:tav>
                                      </p:tavLst>
                                    </p:anim>
                                    <p:anim calcmode="lin" valueType="num">
                                      <p:cBhvr>
                                        <p:cTn id="38" dur="950" decel="100000" fill="hold"/>
                                        <p:tgtEl>
                                          <p:spTgt spid="12"/>
                                        </p:tgtEl>
                                        <p:attrNameLst>
                                          <p:attrName>ppt_y</p:attrName>
                                        </p:attrNameLst>
                                      </p:cBhvr>
                                      <p:tavLst>
                                        <p:tav tm="0">
                                          <p:val>
                                            <p:strVal val="#ppt_y+0.022"/>
                                          </p:val>
                                        </p:tav>
                                        <p:tav tm="100000">
                                          <p:val>
                                            <p:strVal val="#ppt_y"/>
                                          </p:val>
                                        </p:tav>
                                      </p:tavLst>
                                    </p:anim>
                                  </p:childTnLst>
                                </p:cTn>
                              </p:par>
                              <p:par>
                                <p:cTn id="39" presetID="10" presetClass="entr" presetSubtype="0" fill="hold" grpId="0" nodeType="withEffect">
                                  <p:stCondLst>
                                    <p:cond delay="26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950"/>
                                        <p:tgtEl>
                                          <p:spTgt spid="13"/>
                                        </p:tgtEl>
                                      </p:cBhvr>
                                    </p:animEffect>
                                    <p:anim calcmode="lin" valueType="num">
                                      <p:cBhvr>
                                        <p:cTn id="42" dur="950" decel="100000" fill="hold"/>
                                        <p:tgtEl>
                                          <p:spTgt spid="13"/>
                                        </p:tgtEl>
                                        <p:attrNameLst>
                                          <p:attrName>ppt_x</p:attrName>
                                        </p:attrNameLst>
                                      </p:cBhvr>
                                      <p:tavLst>
                                        <p:tav tm="0">
                                          <p:val>
                                            <p:strVal val="#ppt_x"/>
                                          </p:val>
                                        </p:tav>
                                        <p:tav tm="100000">
                                          <p:val>
                                            <p:strVal val="#ppt_x"/>
                                          </p:val>
                                        </p:tav>
                                      </p:tavLst>
                                    </p:anim>
                                    <p:anim calcmode="lin" valueType="num">
                                      <p:cBhvr>
                                        <p:cTn id="43" dur="950" decel="100000" fill="hold"/>
                                        <p:tgtEl>
                                          <p:spTgt spid="13"/>
                                        </p:tgtEl>
                                        <p:attrNameLst>
                                          <p:attrName>ppt_y</p:attrName>
                                        </p:attrNameLst>
                                      </p:cBhvr>
                                      <p:tavLst>
                                        <p:tav tm="0">
                                          <p:val>
                                            <p:strVal val="#ppt_y+0.022"/>
                                          </p:val>
                                        </p:tav>
                                        <p:tav tm="100000">
                                          <p:val>
                                            <p:strVal val="#ppt_y"/>
                                          </p:val>
                                        </p:tav>
                                      </p:tavLst>
                                    </p:anim>
                                  </p:childTnLst>
                                </p:cTn>
                              </p:par>
                              <p:par>
                                <p:cTn id="44" presetID="22" presetClass="entr" presetSubtype="8" fill="hold" nodeType="withEffect">
                                  <p:stCondLst>
                                    <p:cond delay="260"/>
                                  </p:stCondLst>
                                  <p:childTnLst>
                                    <p:set>
                                      <p:cBhvr>
                                        <p:cTn id="45" dur="1" fill="hold">
                                          <p:stCondLst>
                                            <p:cond delay="0"/>
                                          </p:stCondLst>
                                        </p:cTn>
                                        <p:tgtEl>
                                          <p:spTgt spid="29"/>
                                        </p:tgtEl>
                                        <p:attrNameLst>
                                          <p:attrName>style.visibility</p:attrName>
                                        </p:attrNameLst>
                                      </p:cBhvr>
                                      <p:to>
                                        <p:strVal val="visible"/>
                                      </p:to>
                                    </p:set>
                                    <p:animEffect transition="in" filter="wipe(left)">
                                      <p:cBhvr>
                                        <p:cTn id="46" dur="1250" decel="100000"/>
                                        <p:tgtEl>
                                          <p:spTgt spid="29"/>
                                        </p:tgtEl>
                                      </p:cBhvr>
                                    </p:animEffect>
                                  </p:childTnLst>
                                </p:cTn>
                              </p:par>
                              <p:par>
                                <p:cTn id="47" presetID="10" presetClass="entr" presetSubtype="0" fill="hold" grpId="0" nodeType="withEffect">
                                  <p:stCondLst>
                                    <p:cond delay="260"/>
                                  </p:stCondLst>
                                  <p:childTnLst>
                                    <p:set>
                                      <p:cBhvr>
                                        <p:cTn id="48" dur="1" fill="hold">
                                          <p:stCondLst>
                                            <p:cond delay="0"/>
                                          </p:stCondLst>
                                        </p:cTn>
                                        <p:tgtEl>
                                          <p:spTgt spid="30"/>
                                        </p:tgtEl>
                                        <p:attrNameLst>
                                          <p:attrName>style.visibility</p:attrName>
                                        </p:attrNameLst>
                                      </p:cBhvr>
                                      <p:to>
                                        <p:strVal val="visible"/>
                                      </p:to>
                                    </p:set>
                                    <p:animEffect transition="in" filter="fade">
                                      <p:cBhvr>
                                        <p:cTn id="49" dur="950"/>
                                        <p:tgtEl>
                                          <p:spTgt spid="30"/>
                                        </p:tgtEl>
                                      </p:cBhvr>
                                    </p:animEffect>
                                    <p:anim calcmode="lin" valueType="num">
                                      <p:cBhvr>
                                        <p:cTn id="50" dur="950" decel="100000" fill="hold"/>
                                        <p:tgtEl>
                                          <p:spTgt spid="30"/>
                                        </p:tgtEl>
                                        <p:attrNameLst>
                                          <p:attrName>ppt_x</p:attrName>
                                        </p:attrNameLst>
                                      </p:cBhvr>
                                      <p:tavLst>
                                        <p:tav tm="0">
                                          <p:val>
                                            <p:strVal val="#ppt_x"/>
                                          </p:val>
                                        </p:tav>
                                        <p:tav tm="100000">
                                          <p:val>
                                            <p:strVal val="#ppt_x"/>
                                          </p:val>
                                        </p:tav>
                                      </p:tavLst>
                                    </p:anim>
                                    <p:anim calcmode="lin" valueType="num">
                                      <p:cBhvr>
                                        <p:cTn id="51" dur="950" decel="100000" fill="hold"/>
                                        <p:tgtEl>
                                          <p:spTgt spid="30"/>
                                        </p:tgtEl>
                                        <p:attrNameLst>
                                          <p:attrName>ppt_y</p:attrName>
                                        </p:attrNameLst>
                                      </p:cBhvr>
                                      <p:tavLst>
                                        <p:tav tm="0">
                                          <p:val>
                                            <p:strVal val="#ppt_y+0.022"/>
                                          </p:val>
                                        </p:tav>
                                        <p:tav tm="100000">
                                          <p:val>
                                            <p:strVal val="#ppt_y"/>
                                          </p:val>
                                        </p:tav>
                                      </p:tavLst>
                                    </p:anim>
                                  </p:childTnLst>
                                </p:cTn>
                              </p:par>
                              <p:par>
                                <p:cTn id="52" presetID="10" presetClass="entr" presetSubtype="0" fill="hold" grpId="0" nodeType="withEffect">
                                  <p:stCondLst>
                                    <p:cond delay="260"/>
                                  </p:stCondLst>
                                  <p:childTnLst>
                                    <p:set>
                                      <p:cBhvr>
                                        <p:cTn id="53" dur="1" fill="hold">
                                          <p:stCondLst>
                                            <p:cond delay="0"/>
                                          </p:stCondLst>
                                        </p:cTn>
                                        <p:tgtEl>
                                          <p:spTgt spid="31"/>
                                        </p:tgtEl>
                                        <p:attrNameLst>
                                          <p:attrName>style.visibility</p:attrName>
                                        </p:attrNameLst>
                                      </p:cBhvr>
                                      <p:to>
                                        <p:strVal val="visible"/>
                                      </p:to>
                                    </p:set>
                                    <p:animEffect transition="in" filter="fade">
                                      <p:cBhvr>
                                        <p:cTn id="54" dur="950"/>
                                        <p:tgtEl>
                                          <p:spTgt spid="31"/>
                                        </p:tgtEl>
                                      </p:cBhvr>
                                    </p:animEffect>
                                    <p:anim calcmode="lin" valueType="num">
                                      <p:cBhvr>
                                        <p:cTn id="55" dur="950" decel="100000" fill="hold"/>
                                        <p:tgtEl>
                                          <p:spTgt spid="31"/>
                                        </p:tgtEl>
                                        <p:attrNameLst>
                                          <p:attrName>ppt_x</p:attrName>
                                        </p:attrNameLst>
                                      </p:cBhvr>
                                      <p:tavLst>
                                        <p:tav tm="0">
                                          <p:val>
                                            <p:strVal val="#ppt_x"/>
                                          </p:val>
                                        </p:tav>
                                        <p:tav tm="100000">
                                          <p:val>
                                            <p:strVal val="#ppt_x"/>
                                          </p:val>
                                        </p:tav>
                                      </p:tavLst>
                                    </p:anim>
                                    <p:anim calcmode="lin" valueType="num">
                                      <p:cBhvr>
                                        <p:cTn id="56" dur="950" decel="100000" fill="hold"/>
                                        <p:tgtEl>
                                          <p:spTgt spid="31"/>
                                        </p:tgtEl>
                                        <p:attrNameLst>
                                          <p:attrName>ppt_y</p:attrName>
                                        </p:attrNameLst>
                                      </p:cBhvr>
                                      <p:tavLst>
                                        <p:tav tm="0">
                                          <p:val>
                                            <p:strVal val="#ppt_y+0.022"/>
                                          </p:val>
                                        </p:tav>
                                        <p:tav tm="100000">
                                          <p:val>
                                            <p:strVal val="#ppt_y"/>
                                          </p:val>
                                        </p:tav>
                                      </p:tavLst>
                                    </p:anim>
                                  </p:childTnLst>
                                </p:cTn>
                              </p:par>
                              <p:par>
                                <p:cTn id="57" presetID="22" presetClass="entr" presetSubtype="8" fill="hold" nodeType="withEffect">
                                  <p:stCondLst>
                                    <p:cond delay="370"/>
                                  </p:stCondLst>
                                  <p:childTnLst>
                                    <p:set>
                                      <p:cBhvr>
                                        <p:cTn id="58" dur="1" fill="hold">
                                          <p:stCondLst>
                                            <p:cond delay="0"/>
                                          </p:stCondLst>
                                        </p:cTn>
                                        <p:tgtEl>
                                          <p:spTgt spid="14"/>
                                        </p:tgtEl>
                                        <p:attrNameLst>
                                          <p:attrName>style.visibility</p:attrName>
                                        </p:attrNameLst>
                                      </p:cBhvr>
                                      <p:to>
                                        <p:strVal val="visible"/>
                                      </p:to>
                                    </p:set>
                                    <p:animEffect transition="in" filter="wipe(left)">
                                      <p:cBhvr>
                                        <p:cTn id="59" dur="1250" decel="100000"/>
                                        <p:tgtEl>
                                          <p:spTgt spid="14"/>
                                        </p:tgtEl>
                                      </p:cBhvr>
                                    </p:animEffect>
                                  </p:childTnLst>
                                </p:cTn>
                              </p:par>
                              <p:par>
                                <p:cTn id="60" presetID="10" presetClass="entr" presetSubtype="0" fill="hold" grpId="0" nodeType="withEffect">
                                  <p:stCondLst>
                                    <p:cond delay="37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950"/>
                                        <p:tgtEl>
                                          <p:spTgt spid="15"/>
                                        </p:tgtEl>
                                      </p:cBhvr>
                                    </p:animEffect>
                                    <p:anim calcmode="lin" valueType="num">
                                      <p:cBhvr>
                                        <p:cTn id="63" dur="950" decel="100000" fill="hold"/>
                                        <p:tgtEl>
                                          <p:spTgt spid="15"/>
                                        </p:tgtEl>
                                        <p:attrNameLst>
                                          <p:attrName>ppt_x</p:attrName>
                                        </p:attrNameLst>
                                      </p:cBhvr>
                                      <p:tavLst>
                                        <p:tav tm="0">
                                          <p:val>
                                            <p:strVal val="#ppt_x"/>
                                          </p:val>
                                        </p:tav>
                                        <p:tav tm="100000">
                                          <p:val>
                                            <p:strVal val="#ppt_x"/>
                                          </p:val>
                                        </p:tav>
                                      </p:tavLst>
                                    </p:anim>
                                    <p:anim calcmode="lin" valueType="num">
                                      <p:cBhvr>
                                        <p:cTn id="64" dur="950" decel="100000" fill="hold"/>
                                        <p:tgtEl>
                                          <p:spTgt spid="15"/>
                                        </p:tgtEl>
                                        <p:attrNameLst>
                                          <p:attrName>ppt_y</p:attrName>
                                        </p:attrNameLst>
                                      </p:cBhvr>
                                      <p:tavLst>
                                        <p:tav tm="0">
                                          <p:val>
                                            <p:strVal val="#ppt_y+0.022"/>
                                          </p:val>
                                        </p:tav>
                                        <p:tav tm="100000">
                                          <p:val>
                                            <p:strVal val="#ppt_y"/>
                                          </p:val>
                                        </p:tav>
                                      </p:tavLst>
                                    </p:anim>
                                  </p:childTnLst>
                                </p:cTn>
                              </p:par>
                              <p:par>
                                <p:cTn id="65" presetID="10" presetClass="entr" presetSubtype="0" fill="hold" grpId="0" nodeType="withEffect">
                                  <p:stCondLst>
                                    <p:cond delay="37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950"/>
                                        <p:tgtEl>
                                          <p:spTgt spid="16"/>
                                        </p:tgtEl>
                                      </p:cBhvr>
                                    </p:animEffect>
                                    <p:anim calcmode="lin" valueType="num">
                                      <p:cBhvr>
                                        <p:cTn id="68" dur="950" decel="100000" fill="hold"/>
                                        <p:tgtEl>
                                          <p:spTgt spid="16"/>
                                        </p:tgtEl>
                                        <p:attrNameLst>
                                          <p:attrName>ppt_x</p:attrName>
                                        </p:attrNameLst>
                                      </p:cBhvr>
                                      <p:tavLst>
                                        <p:tav tm="0">
                                          <p:val>
                                            <p:strVal val="#ppt_x"/>
                                          </p:val>
                                        </p:tav>
                                        <p:tav tm="100000">
                                          <p:val>
                                            <p:strVal val="#ppt_x"/>
                                          </p:val>
                                        </p:tav>
                                      </p:tavLst>
                                    </p:anim>
                                    <p:anim calcmode="lin" valueType="num">
                                      <p:cBhvr>
                                        <p:cTn id="69" dur="950" decel="100000" fill="hold"/>
                                        <p:tgtEl>
                                          <p:spTgt spid="16"/>
                                        </p:tgtEl>
                                        <p:attrNameLst>
                                          <p:attrName>ppt_y</p:attrName>
                                        </p:attrNameLst>
                                      </p:cBhvr>
                                      <p:tavLst>
                                        <p:tav tm="0">
                                          <p:val>
                                            <p:strVal val="#ppt_y+0.022"/>
                                          </p:val>
                                        </p:tav>
                                        <p:tav tm="100000">
                                          <p:val>
                                            <p:strVal val="#ppt_y"/>
                                          </p:val>
                                        </p:tav>
                                      </p:tavLst>
                                    </p:anim>
                                  </p:childTnLst>
                                </p:cTn>
                              </p:par>
                              <p:par>
                                <p:cTn id="70" presetID="22" presetClass="entr" presetSubtype="8" fill="hold" nodeType="withEffect">
                                  <p:stCondLst>
                                    <p:cond delay="370"/>
                                  </p:stCondLst>
                                  <p:childTnLst>
                                    <p:set>
                                      <p:cBhvr>
                                        <p:cTn id="71" dur="1" fill="hold">
                                          <p:stCondLst>
                                            <p:cond delay="0"/>
                                          </p:stCondLst>
                                        </p:cTn>
                                        <p:tgtEl>
                                          <p:spTgt spid="32"/>
                                        </p:tgtEl>
                                        <p:attrNameLst>
                                          <p:attrName>style.visibility</p:attrName>
                                        </p:attrNameLst>
                                      </p:cBhvr>
                                      <p:to>
                                        <p:strVal val="visible"/>
                                      </p:to>
                                    </p:set>
                                    <p:animEffect transition="in" filter="wipe(left)">
                                      <p:cBhvr>
                                        <p:cTn id="72" dur="1250" decel="100000"/>
                                        <p:tgtEl>
                                          <p:spTgt spid="32"/>
                                        </p:tgtEl>
                                      </p:cBhvr>
                                    </p:animEffect>
                                  </p:childTnLst>
                                </p:cTn>
                              </p:par>
                              <p:par>
                                <p:cTn id="73" presetID="10" presetClass="entr" presetSubtype="0" fill="hold" grpId="0" nodeType="withEffect">
                                  <p:stCondLst>
                                    <p:cond delay="37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950"/>
                                        <p:tgtEl>
                                          <p:spTgt spid="33"/>
                                        </p:tgtEl>
                                      </p:cBhvr>
                                    </p:animEffect>
                                    <p:anim calcmode="lin" valueType="num">
                                      <p:cBhvr>
                                        <p:cTn id="76" dur="950" decel="100000" fill="hold"/>
                                        <p:tgtEl>
                                          <p:spTgt spid="33"/>
                                        </p:tgtEl>
                                        <p:attrNameLst>
                                          <p:attrName>ppt_x</p:attrName>
                                        </p:attrNameLst>
                                      </p:cBhvr>
                                      <p:tavLst>
                                        <p:tav tm="0">
                                          <p:val>
                                            <p:strVal val="#ppt_x"/>
                                          </p:val>
                                        </p:tav>
                                        <p:tav tm="100000">
                                          <p:val>
                                            <p:strVal val="#ppt_x"/>
                                          </p:val>
                                        </p:tav>
                                      </p:tavLst>
                                    </p:anim>
                                    <p:anim calcmode="lin" valueType="num">
                                      <p:cBhvr>
                                        <p:cTn id="77" dur="950" decel="100000" fill="hold"/>
                                        <p:tgtEl>
                                          <p:spTgt spid="33"/>
                                        </p:tgtEl>
                                        <p:attrNameLst>
                                          <p:attrName>ppt_y</p:attrName>
                                        </p:attrNameLst>
                                      </p:cBhvr>
                                      <p:tavLst>
                                        <p:tav tm="0">
                                          <p:val>
                                            <p:strVal val="#ppt_y+0.022"/>
                                          </p:val>
                                        </p:tav>
                                        <p:tav tm="100000">
                                          <p:val>
                                            <p:strVal val="#ppt_y"/>
                                          </p:val>
                                        </p:tav>
                                      </p:tavLst>
                                    </p:anim>
                                  </p:childTnLst>
                                </p:cTn>
                              </p:par>
                              <p:par>
                                <p:cTn id="78" presetID="10" presetClass="entr" presetSubtype="0" fill="hold" grpId="0" nodeType="withEffect">
                                  <p:stCondLst>
                                    <p:cond delay="370"/>
                                  </p:stCondLst>
                                  <p:childTnLst>
                                    <p:set>
                                      <p:cBhvr>
                                        <p:cTn id="79" dur="1" fill="hold">
                                          <p:stCondLst>
                                            <p:cond delay="0"/>
                                          </p:stCondLst>
                                        </p:cTn>
                                        <p:tgtEl>
                                          <p:spTgt spid="34"/>
                                        </p:tgtEl>
                                        <p:attrNameLst>
                                          <p:attrName>style.visibility</p:attrName>
                                        </p:attrNameLst>
                                      </p:cBhvr>
                                      <p:to>
                                        <p:strVal val="visible"/>
                                      </p:to>
                                    </p:set>
                                    <p:animEffect transition="in" filter="fade">
                                      <p:cBhvr>
                                        <p:cTn id="80" dur="950"/>
                                        <p:tgtEl>
                                          <p:spTgt spid="34"/>
                                        </p:tgtEl>
                                      </p:cBhvr>
                                    </p:animEffect>
                                    <p:anim calcmode="lin" valueType="num">
                                      <p:cBhvr>
                                        <p:cTn id="81" dur="950" decel="100000" fill="hold"/>
                                        <p:tgtEl>
                                          <p:spTgt spid="34"/>
                                        </p:tgtEl>
                                        <p:attrNameLst>
                                          <p:attrName>ppt_x</p:attrName>
                                        </p:attrNameLst>
                                      </p:cBhvr>
                                      <p:tavLst>
                                        <p:tav tm="0">
                                          <p:val>
                                            <p:strVal val="#ppt_x"/>
                                          </p:val>
                                        </p:tav>
                                        <p:tav tm="100000">
                                          <p:val>
                                            <p:strVal val="#ppt_x"/>
                                          </p:val>
                                        </p:tav>
                                      </p:tavLst>
                                    </p:anim>
                                    <p:anim calcmode="lin" valueType="num">
                                      <p:cBhvr>
                                        <p:cTn id="82" dur="950" decel="100000" fill="hold"/>
                                        <p:tgtEl>
                                          <p:spTgt spid="34"/>
                                        </p:tgtEl>
                                        <p:attrNameLst>
                                          <p:attrName>ppt_y</p:attrName>
                                        </p:attrNameLst>
                                      </p:cBhvr>
                                      <p:tavLst>
                                        <p:tav tm="0">
                                          <p:val>
                                            <p:strVal val="#ppt_y+0.022"/>
                                          </p:val>
                                        </p:tav>
                                        <p:tav tm="100000">
                                          <p:val>
                                            <p:strVal val="#ppt_y"/>
                                          </p:val>
                                        </p:tav>
                                      </p:tavLst>
                                    </p:anim>
                                  </p:childTnLst>
                                </p:cTn>
                              </p:par>
                              <p:par>
                                <p:cTn id="83" presetID="22" presetClass="entr" presetSubtype="8" fill="hold" nodeType="withEffect">
                                  <p:stCondLst>
                                    <p:cond delay="480"/>
                                  </p:stCondLst>
                                  <p:childTnLst>
                                    <p:set>
                                      <p:cBhvr>
                                        <p:cTn id="84" dur="1" fill="hold">
                                          <p:stCondLst>
                                            <p:cond delay="0"/>
                                          </p:stCondLst>
                                        </p:cTn>
                                        <p:tgtEl>
                                          <p:spTgt spid="17"/>
                                        </p:tgtEl>
                                        <p:attrNameLst>
                                          <p:attrName>style.visibility</p:attrName>
                                        </p:attrNameLst>
                                      </p:cBhvr>
                                      <p:to>
                                        <p:strVal val="visible"/>
                                      </p:to>
                                    </p:set>
                                    <p:animEffect transition="in" filter="wipe(left)">
                                      <p:cBhvr>
                                        <p:cTn id="85" dur="1250" decel="100000"/>
                                        <p:tgtEl>
                                          <p:spTgt spid="17"/>
                                        </p:tgtEl>
                                      </p:cBhvr>
                                    </p:animEffect>
                                  </p:childTnLst>
                                </p:cTn>
                              </p:par>
                              <p:par>
                                <p:cTn id="86" presetID="10" presetClass="entr" presetSubtype="0" fill="hold" grpId="0" nodeType="withEffect">
                                  <p:stCondLst>
                                    <p:cond delay="48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950"/>
                                        <p:tgtEl>
                                          <p:spTgt spid="18"/>
                                        </p:tgtEl>
                                      </p:cBhvr>
                                    </p:animEffect>
                                    <p:anim calcmode="lin" valueType="num">
                                      <p:cBhvr>
                                        <p:cTn id="89" dur="950" decel="100000" fill="hold"/>
                                        <p:tgtEl>
                                          <p:spTgt spid="18"/>
                                        </p:tgtEl>
                                        <p:attrNameLst>
                                          <p:attrName>ppt_x</p:attrName>
                                        </p:attrNameLst>
                                      </p:cBhvr>
                                      <p:tavLst>
                                        <p:tav tm="0">
                                          <p:val>
                                            <p:strVal val="#ppt_x"/>
                                          </p:val>
                                        </p:tav>
                                        <p:tav tm="100000">
                                          <p:val>
                                            <p:strVal val="#ppt_x"/>
                                          </p:val>
                                        </p:tav>
                                      </p:tavLst>
                                    </p:anim>
                                    <p:anim calcmode="lin" valueType="num">
                                      <p:cBhvr>
                                        <p:cTn id="90" dur="950" decel="100000" fill="hold"/>
                                        <p:tgtEl>
                                          <p:spTgt spid="18"/>
                                        </p:tgtEl>
                                        <p:attrNameLst>
                                          <p:attrName>ppt_y</p:attrName>
                                        </p:attrNameLst>
                                      </p:cBhvr>
                                      <p:tavLst>
                                        <p:tav tm="0">
                                          <p:val>
                                            <p:strVal val="#ppt_y+0.022"/>
                                          </p:val>
                                        </p:tav>
                                        <p:tav tm="100000">
                                          <p:val>
                                            <p:strVal val="#ppt_y"/>
                                          </p:val>
                                        </p:tav>
                                      </p:tavLst>
                                    </p:anim>
                                  </p:childTnLst>
                                </p:cTn>
                              </p:par>
                              <p:par>
                                <p:cTn id="91" presetID="10" presetClass="entr" presetSubtype="0" fill="hold" grpId="0" nodeType="withEffect">
                                  <p:stCondLst>
                                    <p:cond delay="480"/>
                                  </p:stCondLst>
                                  <p:childTnLst>
                                    <p:set>
                                      <p:cBhvr>
                                        <p:cTn id="92" dur="1" fill="hold">
                                          <p:stCondLst>
                                            <p:cond delay="0"/>
                                          </p:stCondLst>
                                        </p:cTn>
                                        <p:tgtEl>
                                          <p:spTgt spid="19"/>
                                        </p:tgtEl>
                                        <p:attrNameLst>
                                          <p:attrName>style.visibility</p:attrName>
                                        </p:attrNameLst>
                                      </p:cBhvr>
                                      <p:to>
                                        <p:strVal val="visible"/>
                                      </p:to>
                                    </p:set>
                                    <p:animEffect transition="in" filter="fade">
                                      <p:cBhvr>
                                        <p:cTn id="93" dur="950"/>
                                        <p:tgtEl>
                                          <p:spTgt spid="19"/>
                                        </p:tgtEl>
                                      </p:cBhvr>
                                    </p:animEffect>
                                    <p:anim calcmode="lin" valueType="num">
                                      <p:cBhvr>
                                        <p:cTn id="94" dur="950" decel="100000" fill="hold"/>
                                        <p:tgtEl>
                                          <p:spTgt spid="19"/>
                                        </p:tgtEl>
                                        <p:attrNameLst>
                                          <p:attrName>ppt_x</p:attrName>
                                        </p:attrNameLst>
                                      </p:cBhvr>
                                      <p:tavLst>
                                        <p:tav tm="0">
                                          <p:val>
                                            <p:strVal val="#ppt_x"/>
                                          </p:val>
                                        </p:tav>
                                        <p:tav tm="100000">
                                          <p:val>
                                            <p:strVal val="#ppt_x"/>
                                          </p:val>
                                        </p:tav>
                                      </p:tavLst>
                                    </p:anim>
                                    <p:anim calcmode="lin" valueType="num">
                                      <p:cBhvr>
                                        <p:cTn id="95" dur="950" decel="100000" fill="hold"/>
                                        <p:tgtEl>
                                          <p:spTgt spid="19"/>
                                        </p:tgtEl>
                                        <p:attrNameLst>
                                          <p:attrName>ppt_y</p:attrName>
                                        </p:attrNameLst>
                                      </p:cBhvr>
                                      <p:tavLst>
                                        <p:tav tm="0">
                                          <p:val>
                                            <p:strVal val="#ppt_y+0.022"/>
                                          </p:val>
                                        </p:tav>
                                        <p:tav tm="100000">
                                          <p:val>
                                            <p:strVal val="#ppt_y"/>
                                          </p:val>
                                        </p:tav>
                                      </p:tavLst>
                                    </p:anim>
                                  </p:childTnLst>
                                </p:cTn>
                              </p:par>
                              <p:par>
                                <p:cTn id="96" presetID="22" presetClass="entr" presetSubtype="8" fill="hold" nodeType="withEffect">
                                  <p:stCondLst>
                                    <p:cond delay="480"/>
                                  </p:stCondLst>
                                  <p:childTnLst>
                                    <p:set>
                                      <p:cBhvr>
                                        <p:cTn id="97" dur="1" fill="hold">
                                          <p:stCondLst>
                                            <p:cond delay="0"/>
                                          </p:stCondLst>
                                        </p:cTn>
                                        <p:tgtEl>
                                          <p:spTgt spid="35"/>
                                        </p:tgtEl>
                                        <p:attrNameLst>
                                          <p:attrName>style.visibility</p:attrName>
                                        </p:attrNameLst>
                                      </p:cBhvr>
                                      <p:to>
                                        <p:strVal val="visible"/>
                                      </p:to>
                                    </p:set>
                                    <p:animEffect transition="in" filter="wipe(left)">
                                      <p:cBhvr>
                                        <p:cTn id="98" dur="1250" decel="100000"/>
                                        <p:tgtEl>
                                          <p:spTgt spid="35"/>
                                        </p:tgtEl>
                                      </p:cBhvr>
                                    </p:animEffect>
                                  </p:childTnLst>
                                </p:cTn>
                              </p:par>
                              <p:par>
                                <p:cTn id="99" presetID="10" presetClass="entr" presetSubtype="0" fill="hold" grpId="0" nodeType="withEffect">
                                  <p:stCondLst>
                                    <p:cond delay="480"/>
                                  </p:stCondLst>
                                  <p:childTnLst>
                                    <p:set>
                                      <p:cBhvr>
                                        <p:cTn id="100" dur="1" fill="hold">
                                          <p:stCondLst>
                                            <p:cond delay="0"/>
                                          </p:stCondLst>
                                        </p:cTn>
                                        <p:tgtEl>
                                          <p:spTgt spid="36"/>
                                        </p:tgtEl>
                                        <p:attrNameLst>
                                          <p:attrName>style.visibility</p:attrName>
                                        </p:attrNameLst>
                                      </p:cBhvr>
                                      <p:to>
                                        <p:strVal val="visible"/>
                                      </p:to>
                                    </p:set>
                                    <p:animEffect transition="in" filter="fade">
                                      <p:cBhvr>
                                        <p:cTn id="101" dur="950"/>
                                        <p:tgtEl>
                                          <p:spTgt spid="36"/>
                                        </p:tgtEl>
                                      </p:cBhvr>
                                    </p:animEffect>
                                    <p:anim calcmode="lin" valueType="num">
                                      <p:cBhvr>
                                        <p:cTn id="102" dur="950" decel="100000" fill="hold"/>
                                        <p:tgtEl>
                                          <p:spTgt spid="36"/>
                                        </p:tgtEl>
                                        <p:attrNameLst>
                                          <p:attrName>ppt_x</p:attrName>
                                        </p:attrNameLst>
                                      </p:cBhvr>
                                      <p:tavLst>
                                        <p:tav tm="0">
                                          <p:val>
                                            <p:strVal val="#ppt_x"/>
                                          </p:val>
                                        </p:tav>
                                        <p:tav tm="100000">
                                          <p:val>
                                            <p:strVal val="#ppt_x"/>
                                          </p:val>
                                        </p:tav>
                                      </p:tavLst>
                                    </p:anim>
                                    <p:anim calcmode="lin" valueType="num">
                                      <p:cBhvr>
                                        <p:cTn id="103" dur="950" decel="100000" fill="hold"/>
                                        <p:tgtEl>
                                          <p:spTgt spid="36"/>
                                        </p:tgtEl>
                                        <p:attrNameLst>
                                          <p:attrName>ppt_y</p:attrName>
                                        </p:attrNameLst>
                                      </p:cBhvr>
                                      <p:tavLst>
                                        <p:tav tm="0">
                                          <p:val>
                                            <p:strVal val="#ppt_y+0.022"/>
                                          </p:val>
                                        </p:tav>
                                        <p:tav tm="100000">
                                          <p:val>
                                            <p:strVal val="#ppt_y"/>
                                          </p:val>
                                        </p:tav>
                                      </p:tavLst>
                                    </p:anim>
                                  </p:childTnLst>
                                </p:cTn>
                              </p:par>
                              <p:par>
                                <p:cTn id="104" presetID="10" presetClass="entr" presetSubtype="0" fill="hold" grpId="0" nodeType="withEffect">
                                  <p:stCondLst>
                                    <p:cond delay="480"/>
                                  </p:stCondLst>
                                  <p:childTnLst>
                                    <p:set>
                                      <p:cBhvr>
                                        <p:cTn id="105" dur="1" fill="hold">
                                          <p:stCondLst>
                                            <p:cond delay="0"/>
                                          </p:stCondLst>
                                        </p:cTn>
                                        <p:tgtEl>
                                          <p:spTgt spid="37"/>
                                        </p:tgtEl>
                                        <p:attrNameLst>
                                          <p:attrName>style.visibility</p:attrName>
                                        </p:attrNameLst>
                                      </p:cBhvr>
                                      <p:to>
                                        <p:strVal val="visible"/>
                                      </p:to>
                                    </p:set>
                                    <p:animEffect transition="in" filter="fade">
                                      <p:cBhvr>
                                        <p:cTn id="106" dur="950"/>
                                        <p:tgtEl>
                                          <p:spTgt spid="37"/>
                                        </p:tgtEl>
                                      </p:cBhvr>
                                    </p:animEffect>
                                    <p:anim calcmode="lin" valueType="num">
                                      <p:cBhvr>
                                        <p:cTn id="107" dur="950" decel="100000" fill="hold"/>
                                        <p:tgtEl>
                                          <p:spTgt spid="37"/>
                                        </p:tgtEl>
                                        <p:attrNameLst>
                                          <p:attrName>ppt_x</p:attrName>
                                        </p:attrNameLst>
                                      </p:cBhvr>
                                      <p:tavLst>
                                        <p:tav tm="0">
                                          <p:val>
                                            <p:strVal val="#ppt_x"/>
                                          </p:val>
                                        </p:tav>
                                        <p:tav tm="100000">
                                          <p:val>
                                            <p:strVal val="#ppt_x"/>
                                          </p:val>
                                        </p:tav>
                                      </p:tavLst>
                                    </p:anim>
                                    <p:anim calcmode="lin" valueType="num">
                                      <p:cBhvr>
                                        <p:cTn id="108" dur="950" decel="100000" fill="hold"/>
                                        <p:tgtEl>
                                          <p:spTgt spid="37"/>
                                        </p:tgtEl>
                                        <p:attrNameLst>
                                          <p:attrName>ppt_y</p:attrName>
                                        </p:attrNameLst>
                                      </p:cBhvr>
                                      <p:tavLst>
                                        <p:tav tm="0">
                                          <p:val>
                                            <p:strVal val="#ppt_y+0.022"/>
                                          </p:val>
                                        </p:tav>
                                        <p:tav tm="100000">
                                          <p:val>
                                            <p:strVal val="#ppt_y"/>
                                          </p:val>
                                        </p:tav>
                                      </p:tavLst>
                                    </p:anim>
                                  </p:childTnLst>
                                </p:cTn>
                              </p:par>
                              <p:par>
                                <p:cTn id="109" presetID="22" presetClass="entr" presetSubtype="8" fill="hold" nodeType="withEffect">
                                  <p:stCondLst>
                                    <p:cond delay="590"/>
                                  </p:stCondLst>
                                  <p:childTnLst>
                                    <p:set>
                                      <p:cBhvr>
                                        <p:cTn id="110" dur="1" fill="hold">
                                          <p:stCondLst>
                                            <p:cond delay="0"/>
                                          </p:stCondLst>
                                        </p:cTn>
                                        <p:tgtEl>
                                          <p:spTgt spid="20"/>
                                        </p:tgtEl>
                                        <p:attrNameLst>
                                          <p:attrName>style.visibility</p:attrName>
                                        </p:attrNameLst>
                                      </p:cBhvr>
                                      <p:to>
                                        <p:strVal val="visible"/>
                                      </p:to>
                                    </p:set>
                                    <p:animEffect transition="in" filter="wipe(left)">
                                      <p:cBhvr>
                                        <p:cTn id="111" dur="1250" decel="100000"/>
                                        <p:tgtEl>
                                          <p:spTgt spid="20"/>
                                        </p:tgtEl>
                                      </p:cBhvr>
                                    </p:animEffect>
                                  </p:childTnLst>
                                </p:cTn>
                              </p:par>
                              <p:par>
                                <p:cTn id="112" presetID="10" presetClass="entr" presetSubtype="0" fill="hold" grpId="0" nodeType="withEffect">
                                  <p:stCondLst>
                                    <p:cond delay="590"/>
                                  </p:stCondLst>
                                  <p:childTnLst>
                                    <p:set>
                                      <p:cBhvr>
                                        <p:cTn id="113" dur="1" fill="hold">
                                          <p:stCondLst>
                                            <p:cond delay="0"/>
                                          </p:stCondLst>
                                        </p:cTn>
                                        <p:tgtEl>
                                          <p:spTgt spid="21"/>
                                        </p:tgtEl>
                                        <p:attrNameLst>
                                          <p:attrName>style.visibility</p:attrName>
                                        </p:attrNameLst>
                                      </p:cBhvr>
                                      <p:to>
                                        <p:strVal val="visible"/>
                                      </p:to>
                                    </p:set>
                                    <p:animEffect transition="in" filter="fade">
                                      <p:cBhvr>
                                        <p:cTn id="114" dur="950"/>
                                        <p:tgtEl>
                                          <p:spTgt spid="21"/>
                                        </p:tgtEl>
                                      </p:cBhvr>
                                    </p:animEffect>
                                    <p:anim calcmode="lin" valueType="num">
                                      <p:cBhvr>
                                        <p:cTn id="115" dur="950" decel="100000" fill="hold"/>
                                        <p:tgtEl>
                                          <p:spTgt spid="21"/>
                                        </p:tgtEl>
                                        <p:attrNameLst>
                                          <p:attrName>ppt_x</p:attrName>
                                        </p:attrNameLst>
                                      </p:cBhvr>
                                      <p:tavLst>
                                        <p:tav tm="0">
                                          <p:val>
                                            <p:strVal val="#ppt_x"/>
                                          </p:val>
                                        </p:tav>
                                        <p:tav tm="100000">
                                          <p:val>
                                            <p:strVal val="#ppt_x"/>
                                          </p:val>
                                        </p:tav>
                                      </p:tavLst>
                                    </p:anim>
                                    <p:anim calcmode="lin" valueType="num">
                                      <p:cBhvr>
                                        <p:cTn id="116" dur="950" decel="100000" fill="hold"/>
                                        <p:tgtEl>
                                          <p:spTgt spid="21"/>
                                        </p:tgtEl>
                                        <p:attrNameLst>
                                          <p:attrName>ppt_y</p:attrName>
                                        </p:attrNameLst>
                                      </p:cBhvr>
                                      <p:tavLst>
                                        <p:tav tm="0">
                                          <p:val>
                                            <p:strVal val="#ppt_y+0.022"/>
                                          </p:val>
                                        </p:tav>
                                        <p:tav tm="100000">
                                          <p:val>
                                            <p:strVal val="#ppt_y"/>
                                          </p:val>
                                        </p:tav>
                                      </p:tavLst>
                                    </p:anim>
                                  </p:childTnLst>
                                </p:cTn>
                              </p:par>
                              <p:par>
                                <p:cTn id="117" presetID="10" presetClass="entr" presetSubtype="0" fill="hold" grpId="0" nodeType="withEffect">
                                  <p:stCondLst>
                                    <p:cond delay="590"/>
                                  </p:stCondLst>
                                  <p:childTnLst>
                                    <p:set>
                                      <p:cBhvr>
                                        <p:cTn id="118" dur="1" fill="hold">
                                          <p:stCondLst>
                                            <p:cond delay="0"/>
                                          </p:stCondLst>
                                        </p:cTn>
                                        <p:tgtEl>
                                          <p:spTgt spid="22"/>
                                        </p:tgtEl>
                                        <p:attrNameLst>
                                          <p:attrName>style.visibility</p:attrName>
                                        </p:attrNameLst>
                                      </p:cBhvr>
                                      <p:to>
                                        <p:strVal val="visible"/>
                                      </p:to>
                                    </p:set>
                                    <p:animEffect transition="in" filter="fade">
                                      <p:cBhvr>
                                        <p:cTn id="119" dur="950"/>
                                        <p:tgtEl>
                                          <p:spTgt spid="22"/>
                                        </p:tgtEl>
                                      </p:cBhvr>
                                    </p:animEffect>
                                    <p:anim calcmode="lin" valueType="num">
                                      <p:cBhvr>
                                        <p:cTn id="120" dur="950" decel="100000" fill="hold"/>
                                        <p:tgtEl>
                                          <p:spTgt spid="22"/>
                                        </p:tgtEl>
                                        <p:attrNameLst>
                                          <p:attrName>ppt_x</p:attrName>
                                        </p:attrNameLst>
                                      </p:cBhvr>
                                      <p:tavLst>
                                        <p:tav tm="0">
                                          <p:val>
                                            <p:strVal val="#ppt_x"/>
                                          </p:val>
                                        </p:tav>
                                        <p:tav tm="100000">
                                          <p:val>
                                            <p:strVal val="#ppt_x"/>
                                          </p:val>
                                        </p:tav>
                                      </p:tavLst>
                                    </p:anim>
                                    <p:anim calcmode="lin" valueType="num">
                                      <p:cBhvr>
                                        <p:cTn id="121" dur="950" decel="100000" fill="hold"/>
                                        <p:tgtEl>
                                          <p:spTgt spid="22"/>
                                        </p:tgtEl>
                                        <p:attrNameLst>
                                          <p:attrName>ppt_y</p:attrName>
                                        </p:attrNameLst>
                                      </p:cBhvr>
                                      <p:tavLst>
                                        <p:tav tm="0">
                                          <p:val>
                                            <p:strVal val="#ppt_y+0.022"/>
                                          </p:val>
                                        </p:tav>
                                        <p:tav tm="100000">
                                          <p:val>
                                            <p:strVal val="#ppt_y"/>
                                          </p:val>
                                        </p:tav>
                                      </p:tavLst>
                                    </p:anim>
                                  </p:childTnLst>
                                </p:cTn>
                              </p:par>
                              <p:par>
                                <p:cTn id="122" presetID="22" presetClass="entr" presetSubtype="8" fill="hold" nodeType="withEffect">
                                  <p:stCondLst>
                                    <p:cond delay="590"/>
                                  </p:stCondLst>
                                  <p:childTnLst>
                                    <p:set>
                                      <p:cBhvr>
                                        <p:cTn id="123" dur="1" fill="hold">
                                          <p:stCondLst>
                                            <p:cond delay="0"/>
                                          </p:stCondLst>
                                        </p:cTn>
                                        <p:tgtEl>
                                          <p:spTgt spid="38"/>
                                        </p:tgtEl>
                                        <p:attrNameLst>
                                          <p:attrName>style.visibility</p:attrName>
                                        </p:attrNameLst>
                                      </p:cBhvr>
                                      <p:to>
                                        <p:strVal val="visible"/>
                                      </p:to>
                                    </p:set>
                                    <p:animEffect transition="in" filter="wipe(left)">
                                      <p:cBhvr>
                                        <p:cTn id="124" dur="1250" decel="100000"/>
                                        <p:tgtEl>
                                          <p:spTgt spid="38"/>
                                        </p:tgtEl>
                                      </p:cBhvr>
                                    </p:animEffect>
                                  </p:childTnLst>
                                </p:cTn>
                              </p:par>
                              <p:par>
                                <p:cTn id="125" presetID="10" presetClass="entr" presetSubtype="0" fill="hold" grpId="0" nodeType="withEffect">
                                  <p:stCondLst>
                                    <p:cond delay="590"/>
                                  </p:stCondLst>
                                  <p:childTnLst>
                                    <p:set>
                                      <p:cBhvr>
                                        <p:cTn id="126" dur="1" fill="hold">
                                          <p:stCondLst>
                                            <p:cond delay="0"/>
                                          </p:stCondLst>
                                        </p:cTn>
                                        <p:tgtEl>
                                          <p:spTgt spid="39"/>
                                        </p:tgtEl>
                                        <p:attrNameLst>
                                          <p:attrName>style.visibility</p:attrName>
                                        </p:attrNameLst>
                                      </p:cBhvr>
                                      <p:to>
                                        <p:strVal val="visible"/>
                                      </p:to>
                                    </p:set>
                                    <p:animEffect transition="in" filter="fade">
                                      <p:cBhvr>
                                        <p:cTn id="127" dur="950"/>
                                        <p:tgtEl>
                                          <p:spTgt spid="39"/>
                                        </p:tgtEl>
                                      </p:cBhvr>
                                    </p:animEffect>
                                    <p:anim calcmode="lin" valueType="num">
                                      <p:cBhvr>
                                        <p:cTn id="128" dur="950" decel="100000" fill="hold"/>
                                        <p:tgtEl>
                                          <p:spTgt spid="39"/>
                                        </p:tgtEl>
                                        <p:attrNameLst>
                                          <p:attrName>ppt_x</p:attrName>
                                        </p:attrNameLst>
                                      </p:cBhvr>
                                      <p:tavLst>
                                        <p:tav tm="0">
                                          <p:val>
                                            <p:strVal val="#ppt_x"/>
                                          </p:val>
                                        </p:tav>
                                        <p:tav tm="100000">
                                          <p:val>
                                            <p:strVal val="#ppt_x"/>
                                          </p:val>
                                        </p:tav>
                                      </p:tavLst>
                                    </p:anim>
                                    <p:anim calcmode="lin" valueType="num">
                                      <p:cBhvr>
                                        <p:cTn id="129" dur="950" decel="100000" fill="hold"/>
                                        <p:tgtEl>
                                          <p:spTgt spid="39"/>
                                        </p:tgtEl>
                                        <p:attrNameLst>
                                          <p:attrName>ppt_y</p:attrName>
                                        </p:attrNameLst>
                                      </p:cBhvr>
                                      <p:tavLst>
                                        <p:tav tm="0">
                                          <p:val>
                                            <p:strVal val="#ppt_y+0.022"/>
                                          </p:val>
                                        </p:tav>
                                        <p:tav tm="100000">
                                          <p:val>
                                            <p:strVal val="#ppt_y"/>
                                          </p:val>
                                        </p:tav>
                                      </p:tavLst>
                                    </p:anim>
                                  </p:childTnLst>
                                </p:cTn>
                              </p:par>
                              <p:par>
                                <p:cTn id="130" presetID="10" presetClass="entr" presetSubtype="0" fill="hold" grpId="0" nodeType="withEffect">
                                  <p:stCondLst>
                                    <p:cond delay="59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950"/>
                                        <p:tgtEl>
                                          <p:spTgt spid="40"/>
                                        </p:tgtEl>
                                      </p:cBhvr>
                                    </p:animEffect>
                                    <p:anim calcmode="lin" valueType="num">
                                      <p:cBhvr>
                                        <p:cTn id="133" dur="950" decel="100000" fill="hold"/>
                                        <p:tgtEl>
                                          <p:spTgt spid="40"/>
                                        </p:tgtEl>
                                        <p:attrNameLst>
                                          <p:attrName>ppt_x</p:attrName>
                                        </p:attrNameLst>
                                      </p:cBhvr>
                                      <p:tavLst>
                                        <p:tav tm="0">
                                          <p:val>
                                            <p:strVal val="#ppt_x"/>
                                          </p:val>
                                        </p:tav>
                                        <p:tav tm="100000">
                                          <p:val>
                                            <p:strVal val="#ppt_x"/>
                                          </p:val>
                                        </p:tav>
                                      </p:tavLst>
                                    </p:anim>
                                    <p:anim calcmode="lin" valueType="num">
                                      <p:cBhvr>
                                        <p:cTn id="134" dur="950" decel="100000" fill="hold"/>
                                        <p:tgtEl>
                                          <p:spTgt spid="40"/>
                                        </p:tgtEl>
                                        <p:attrNameLst>
                                          <p:attrName>ppt_y</p:attrName>
                                        </p:attrNameLst>
                                      </p:cBhvr>
                                      <p:tavLst>
                                        <p:tav tm="0">
                                          <p:val>
                                            <p:strVal val="#ppt_y+0.022"/>
                                          </p:val>
                                        </p:tav>
                                        <p:tav tm="100000">
                                          <p:val>
                                            <p:strVal val="#ppt_y"/>
                                          </p:val>
                                        </p:tav>
                                      </p:tavLst>
                                    </p:anim>
                                  </p:childTnLst>
                                </p:cTn>
                              </p:par>
                              <p:par>
                                <p:cTn id="135" presetID="22" presetClass="entr" presetSubtype="8" fill="hold" nodeType="withEffect">
                                  <p:stCondLst>
                                    <p:cond delay="700"/>
                                  </p:stCondLst>
                                  <p:childTnLst>
                                    <p:set>
                                      <p:cBhvr>
                                        <p:cTn id="136" dur="1" fill="hold">
                                          <p:stCondLst>
                                            <p:cond delay="0"/>
                                          </p:stCondLst>
                                        </p:cTn>
                                        <p:tgtEl>
                                          <p:spTgt spid="23"/>
                                        </p:tgtEl>
                                        <p:attrNameLst>
                                          <p:attrName>style.visibility</p:attrName>
                                        </p:attrNameLst>
                                      </p:cBhvr>
                                      <p:to>
                                        <p:strVal val="visible"/>
                                      </p:to>
                                    </p:set>
                                    <p:animEffect transition="in" filter="wipe(left)">
                                      <p:cBhvr>
                                        <p:cTn id="137" dur="1250" decel="100000"/>
                                        <p:tgtEl>
                                          <p:spTgt spid="23"/>
                                        </p:tgtEl>
                                      </p:cBhvr>
                                    </p:animEffect>
                                  </p:childTnLst>
                                </p:cTn>
                              </p:par>
                              <p:par>
                                <p:cTn id="138" presetID="10" presetClass="entr" presetSubtype="0" fill="hold" grpId="0" nodeType="withEffect">
                                  <p:stCondLst>
                                    <p:cond delay="700"/>
                                  </p:stCondLst>
                                  <p:childTnLst>
                                    <p:set>
                                      <p:cBhvr>
                                        <p:cTn id="139" dur="1" fill="hold">
                                          <p:stCondLst>
                                            <p:cond delay="0"/>
                                          </p:stCondLst>
                                        </p:cTn>
                                        <p:tgtEl>
                                          <p:spTgt spid="24"/>
                                        </p:tgtEl>
                                        <p:attrNameLst>
                                          <p:attrName>style.visibility</p:attrName>
                                        </p:attrNameLst>
                                      </p:cBhvr>
                                      <p:to>
                                        <p:strVal val="visible"/>
                                      </p:to>
                                    </p:set>
                                    <p:animEffect transition="in" filter="fade">
                                      <p:cBhvr>
                                        <p:cTn id="140" dur="950"/>
                                        <p:tgtEl>
                                          <p:spTgt spid="24"/>
                                        </p:tgtEl>
                                      </p:cBhvr>
                                    </p:animEffect>
                                    <p:anim calcmode="lin" valueType="num">
                                      <p:cBhvr>
                                        <p:cTn id="141" dur="950" decel="100000" fill="hold"/>
                                        <p:tgtEl>
                                          <p:spTgt spid="24"/>
                                        </p:tgtEl>
                                        <p:attrNameLst>
                                          <p:attrName>ppt_x</p:attrName>
                                        </p:attrNameLst>
                                      </p:cBhvr>
                                      <p:tavLst>
                                        <p:tav tm="0">
                                          <p:val>
                                            <p:strVal val="#ppt_x"/>
                                          </p:val>
                                        </p:tav>
                                        <p:tav tm="100000">
                                          <p:val>
                                            <p:strVal val="#ppt_x"/>
                                          </p:val>
                                        </p:tav>
                                      </p:tavLst>
                                    </p:anim>
                                    <p:anim calcmode="lin" valueType="num">
                                      <p:cBhvr>
                                        <p:cTn id="142" dur="950" decel="100000" fill="hold"/>
                                        <p:tgtEl>
                                          <p:spTgt spid="24"/>
                                        </p:tgtEl>
                                        <p:attrNameLst>
                                          <p:attrName>ppt_y</p:attrName>
                                        </p:attrNameLst>
                                      </p:cBhvr>
                                      <p:tavLst>
                                        <p:tav tm="0">
                                          <p:val>
                                            <p:strVal val="#ppt_y+0.022"/>
                                          </p:val>
                                        </p:tav>
                                        <p:tav tm="100000">
                                          <p:val>
                                            <p:strVal val="#ppt_y"/>
                                          </p:val>
                                        </p:tav>
                                      </p:tavLst>
                                    </p:anim>
                                  </p:childTnLst>
                                </p:cTn>
                              </p:par>
                              <p:par>
                                <p:cTn id="143" presetID="10" presetClass="entr" presetSubtype="0" fill="hold" grpId="0" nodeType="withEffect">
                                  <p:stCondLst>
                                    <p:cond delay="700"/>
                                  </p:stCondLst>
                                  <p:childTnLst>
                                    <p:set>
                                      <p:cBhvr>
                                        <p:cTn id="144" dur="1" fill="hold">
                                          <p:stCondLst>
                                            <p:cond delay="0"/>
                                          </p:stCondLst>
                                        </p:cTn>
                                        <p:tgtEl>
                                          <p:spTgt spid="25"/>
                                        </p:tgtEl>
                                        <p:attrNameLst>
                                          <p:attrName>style.visibility</p:attrName>
                                        </p:attrNameLst>
                                      </p:cBhvr>
                                      <p:to>
                                        <p:strVal val="visible"/>
                                      </p:to>
                                    </p:set>
                                    <p:animEffect transition="in" filter="fade">
                                      <p:cBhvr>
                                        <p:cTn id="145" dur="950"/>
                                        <p:tgtEl>
                                          <p:spTgt spid="25"/>
                                        </p:tgtEl>
                                      </p:cBhvr>
                                    </p:animEffect>
                                    <p:anim calcmode="lin" valueType="num">
                                      <p:cBhvr>
                                        <p:cTn id="146" dur="950" decel="100000" fill="hold"/>
                                        <p:tgtEl>
                                          <p:spTgt spid="25"/>
                                        </p:tgtEl>
                                        <p:attrNameLst>
                                          <p:attrName>ppt_x</p:attrName>
                                        </p:attrNameLst>
                                      </p:cBhvr>
                                      <p:tavLst>
                                        <p:tav tm="0">
                                          <p:val>
                                            <p:strVal val="#ppt_x"/>
                                          </p:val>
                                        </p:tav>
                                        <p:tav tm="100000">
                                          <p:val>
                                            <p:strVal val="#ppt_x"/>
                                          </p:val>
                                        </p:tav>
                                      </p:tavLst>
                                    </p:anim>
                                    <p:anim calcmode="lin" valueType="num">
                                      <p:cBhvr>
                                        <p:cTn id="147" dur="950" decel="100000" fill="hold"/>
                                        <p:tgtEl>
                                          <p:spTgt spid="25"/>
                                        </p:tgtEl>
                                        <p:attrNameLst>
                                          <p:attrName>ppt_y</p:attrName>
                                        </p:attrNameLst>
                                      </p:cBhvr>
                                      <p:tavLst>
                                        <p:tav tm="0">
                                          <p:val>
                                            <p:strVal val="#ppt_y+0.022"/>
                                          </p:val>
                                        </p:tav>
                                        <p:tav tm="100000">
                                          <p:val>
                                            <p:strVal val="#ppt_y"/>
                                          </p:val>
                                        </p:tav>
                                      </p:tavLst>
                                    </p:anim>
                                  </p:childTnLst>
                                </p:cTn>
                              </p:par>
                              <p:par>
                                <p:cTn id="148" presetID="22" presetClass="entr" presetSubtype="8" fill="hold" nodeType="withEffect">
                                  <p:stCondLst>
                                    <p:cond delay="700"/>
                                  </p:stCondLst>
                                  <p:childTnLst>
                                    <p:set>
                                      <p:cBhvr>
                                        <p:cTn id="149" dur="1" fill="hold">
                                          <p:stCondLst>
                                            <p:cond delay="0"/>
                                          </p:stCondLst>
                                        </p:cTn>
                                        <p:tgtEl>
                                          <p:spTgt spid="41"/>
                                        </p:tgtEl>
                                        <p:attrNameLst>
                                          <p:attrName>style.visibility</p:attrName>
                                        </p:attrNameLst>
                                      </p:cBhvr>
                                      <p:to>
                                        <p:strVal val="visible"/>
                                      </p:to>
                                    </p:set>
                                    <p:animEffect transition="in" filter="wipe(left)">
                                      <p:cBhvr>
                                        <p:cTn id="150" dur="1250" decel="100000"/>
                                        <p:tgtEl>
                                          <p:spTgt spid="41"/>
                                        </p:tgtEl>
                                      </p:cBhvr>
                                    </p:animEffect>
                                  </p:childTnLst>
                                </p:cTn>
                              </p:par>
                              <p:par>
                                <p:cTn id="151" presetID="10" presetClass="entr" presetSubtype="0" fill="hold" grpId="0" nodeType="withEffect">
                                  <p:stCondLst>
                                    <p:cond delay="700"/>
                                  </p:stCondLst>
                                  <p:childTnLst>
                                    <p:set>
                                      <p:cBhvr>
                                        <p:cTn id="152" dur="1" fill="hold">
                                          <p:stCondLst>
                                            <p:cond delay="0"/>
                                          </p:stCondLst>
                                        </p:cTn>
                                        <p:tgtEl>
                                          <p:spTgt spid="42"/>
                                        </p:tgtEl>
                                        <p:attrNameLst>
                                          <p:attrName>style.visibility</p:attrName>
                                        </p:attrNameLst>
                                      </p:cBhvr>
                                      <p:to>
                                        <p:strVal val="visible"/>
                                      </p:to>
                                    </p:set>
                                    <p:animEffect transition="in" filter="fade">
                                      <p:cBhvr>
                                        <p:cTn id="153" dur="950"/>
                                        <p:tgtEl>
                                          <p:spTgt spid="42"/>
                                        </p:tgtEl>
                                      </p:cBhvr>
                                    </p:animEffect>
                                    <p:anim calcmode="lin" valueType="num">
                                      <p:cBhvr>
                                        <p:cTn id="154" dur="950" decel="100000" fill="hold"/>
                                        <p:tgtEl>
                                          <p:spTgt spid="42"/>
                                        </p:tgtEl>
                                        <p:attrNameLst>
                                          <p:attrName>ppt_x</p:attrName>
                                        </p:attrNameLst>
                                      </p:cBhvr>
                                      <p:tavLst>
                                        <p:tav tm="0">
                                          <p:val>
                                            <p:strVal val="#ppt_x"/>
                                          </p:val>
                                        </p:tav>
                                        <p:tav tm="100000">
                                          <p:val>
                                            <p:strVal val="#ppt_x"/>
                                          </p:val>
                                        </p:tav>
                                      </p:tavLst>
                                    </p:anim>
                                    <p:anim calcmode="lin" valueType="num">
                                      <p:cBhvr>
                                        <p:cTn id="155" dur="950" decel="100000" fill="hold"/>
                                        <p:tgtEl>
                                          <p:spTgt spid="42"/>
                                        </p:tgtEl>
                                        <p:attrNameLst>
                                          <p:attrName>ppt_y</p:attrName>
                                        </p:attrNameLst>
                                      </p:cBhvr>
                                      <p:tavLst>
                                        <p:tav tm="0">
                                          <p:val>
                                            <p:strVal val="#ppt_y+0.022"/>
                                          </p:val>
                                        </p:tav>
                                        <p:tav tm="100000">
                                          <p:val>
                                            <p:strVal val="#ppt_y"/>
                                          </p:val>
                                        </p:tav>
                                      </p:tavLst>
                                    </p:anim>
                                  </p:childTnLst>
                                </p:cTn>
                              </p:par>
                              <p:par>
                                <p:cTn id="156" presetID="10" presetClass="entr" presetSubtype="0" fill="hold" grpId="0" nodeType="withEffect">
                                  <p:stCondLst>
                                    <p:cond delay="700"/>
                                  </p:stCondLst>
                                  <p:childTnLst>
                                    <p:set>
                                      <p:cBhvr>
                                        <p:cTn id="157" dur="1" fill="hold">
                                          <p:stCondLst>
                                            <p:cond delay="0"/>
                                          </p:stCondLst>
                                        </p:cTn>
                                        <p:tgtEl>
                                          <p:spTgt spid="43"/>
                                        </p:tgtEl>
                                        <p:attrNameLst>
                                          <p:attrName>style.visibility</p:attrName>
                                        </p:attrNameLst>
                                      </p:cBhvr>
                                      <p:to>
                                        <p:strVal val="visible"/>
                                      </p:to>
                                    </p:set>
                                    <p:animEffect transition="in" filter="fade">
                                      <p:cBhvr>
                                        <p:cTn id="158" dur="950"/>
                                        <p:tgtEl>
                                          <p:spTgt spid="43"/>
                                        </p:tgtEl>
                                      </p:cBhvr>
                                    </p:animEffect>
                                    <p:anim calcmode="lin" valueType="num">
                                      <p:cBhvr>
                                        <p:cTn id="159" dur="950" decel="100000" fill="hold"/>
                                        <p:tgtEl>
                                          <p:spTgt spid="43"/>
                                        </p:tgtEl>
                                        <p:attrNameLst>
                                          <p:attrName>ppt_x</p:attrName>
                                        </p:attrNameLst>
                                      </p:cBhvr>
                                      <p:tavLst>
                                        <p:tav tm="0">
                                          <p:val>
                                            <p:strVal val="#ppt_x"/>
                                          </p:val>
                                        </p:tav>
                                        <p:tav tm="100000">
                                          <p:val>
                                            <p:strVal val="#ppt_x"/>
                                          </p:val>
                                        </p:tav>
                                      </p:tavLst>
                                    </p:anim>
                                    <p:anim calcmode="lin" valueType="num">
                                      <p:cBhvr>
                                        <p:cTn id="160" dur="950" decel="100000" fill="hold"/>
                                        <p:tgtEl>
                                          <p:spTgt spid="43"/>
                                        </p:tgtEl>
                                        <p:attrNameLst>
                                          <p:attrName>ppt_y</p:attrName>
                                        </p:attrNameLst>
                                      </p:cBhvr>
                                      <p:tavLst>
                                        <p:tav tm="0">
                                          <p:val>
                                            <p:strVal val="#ppt_y+0.022"/>
                                          </p:val>
                                        </p:tav>
                                        <p:tav tm="100000">
                                          <p:val>
                                            <p:strVal val="#ppt_y"/>
                                          </p:val>
                                        </p:tav>
                                      </p:tavLst>
                                    </p:anim>
                                  </p:childTnLst>
                                </p:cTn>
                              </p:par>
                              <p:par>
                                <p:cTn id="161" presetID="22" presetClass="entr" presetSubtype="8" fill="hold" nodeType="withEffect">
                                  <p:stCondLst>
                                    <p:cond delay="810"/>
                                  </p:stCondLst>
                                  <p:childTnLst>
                                    <p:set>
                                      <p:cBhvr>
                                        <p:cTn id="162" dur="1" fill="hold">
                                          <p:stCondLst>
                                            <p:cond delay="0"/>
                                          </p:stCondLst>
                                        </p:cTn>
                                        <p:tgtEl>
                                          <p:spTgt spid="44"/>
                                        </p:tgtEl>
                                        <p:attrNameLst>
                                          <p:attrName>style.visibility</p:attrName>
                                        </p:attrNameLst>
                                      </p:cBhvr>
                                      <p:to>
                                        <p:strVal val="visible"/>
                                      </p:to>
                                    </p:set>
                                    <p:animEffect transition="in" filter="wipe(left)">
                                      <p:cBhvr>
                                        <p:cTn id="163" dur="1250" decel="100000"/>
                                        <p:tgtEl>
                                          <p:spTgt spid="44"/>
                                        </p:tgtEl>
                                      </p:cBhvr>
                                    </p:animEffect>
                                  </p:childTnLst>
                                </p:cTn>
                              </p:par>
                              <p:par>
                                <p:cTn id="164" presetID="22" presetClass="entr" presetSubtype="8" fill="hold" nodeType="withEffect">
                                  <p:stCondLst>
                                    <p:cond delay="810"/>
                                  </p:stCondLst>
                                  <p:childTnLst>
                                    <p:set>
                                      <p:cBhvr>
                                        <p:cTn id="165" dur="1" fill="hold">
                                          <p:stCondLst>
                                            <p:cond delay="0"/>
                                          </p:stCondLst>
                                        </p:cTn>
                                        <p:tgtEl>
                                          <p:spTgt spid="45"/>
                                        </p:tgtEl>
                                        <p:attrNameLst>
                                          <p:attrName>style.visibility</p:attrName>
                                        </p:attrNameLst>
                                      </p:cBhvr>
                                      <p:to>
                                        <p:strVal val="visible"/>
                                      </p:to>
                                    </p:set>
                                    <p:animEffect transition="in" filter="wipe(left)">
                                      <p:cBhvr>
                                        <p:cTn id="166" dur="1250" decel="100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3" grpId="0" animBg="1"/>
      <p:bldP spid="15" grpId="0" animBg="1"/>
      <p:bldP spid="16" grpId="0" animBg="1"/>
      <p:bldP spid="18" grpId="0" animBg="1"/>
      <p:bldP spid="19" grpId="0" animBg="1"/>
      <p:bldP spid="21" grpId="0" animBg="1"/>
      <p:bldP spid="22" grpId="0" animBg="1"/>
      <p:bldP spid="24" grpId="0" animBg="1"/>
      <p:bldP spid="25" grpId="0" animBg="1"/>
      <p:bldP spid="27" grpId="0" animBg="1"/>
      <p:bldP spid="28" grpId="0" animBg="1"/>
      <p:bldP spid="30" grpId="0" animBg="1"/>
      <p:bldP spid="31" grpId="0" animBg="1"/>
      <p:bldP spid="33" grpId="0" animBg="1"/>
      <p:bldP spid="34" grpId="0" animBg="1"/>
      <p:bldP spid="36" grpId="0" animBg="1"/>
      <p:bldP spid="37" grpId="0" animBg="1"/>
      <p:bldP spid="39" grpId="0" animBg="1"/>
      <p:bldP spid="40"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EAE1"/>
        </a:solidFill>
        <a:effectLst/>
      </p:bgPr>
    </p:bg>
    <p:spTree>
      <p:nvGrpSpPr>
        <p:cNvPr id="1" name=""/>
        <p:cNvGrpSpPr/>
        <p:nvPr/>
      </p:nvGrpSpPr>
      <p:grpSpPr>
        <a:xfrm>
          <a:off x="0" y="0"/>
          <a:ext cx="0" cy="0"/>
          <a:chOff x="0" y="0"/>
          <a:chExt cx="0" cy="0"/>
        </a:xfrm>
      </p:grpSpPr>
      <p:pic>
        <p:nvPicPr>
          <p:cNvPr id="2" name="!!Photo" descr="E:/Matter Of Place/Matter Of Place Codebase/src/assets/manhattan.jpg"/>
          <p:cNvPicPr>
            <a:picLocks noChangeAspect="1"/>
          </p:cNvPicPr>
          <p:nvPr/>
        </p:nvPicPr>
        <p:blipFill>
          <a:blip r:embed="rId3"/>
          <a:srcRect l="26614" r="26614"/>
          <a:stretch/>
        </p:blipFill>
        <p:spPr>
          <a:xfrm>
            <a:off x="0" y="0"/>
            <a:ext cx="4480560" cy="6858000"/>
          </a:xfrm>
          <a:prstGeom prst="rect">
            <a:avLst/>
          </a:prstGeom>
        </p:spPr>
      </p:pic>
      <p:sp>
        <p:nvSpPr>
          <p:cNvPr id="3" name="!!Agenda">
            <a:hlinkClick r:id="" action="ppaction://noaction"/>
          </p:cNvPr>
          <p:cNvSpPr/>
          <p:nvPr/>
        </p:nvSpPr>
        <p:spPr>
          <a:xfrm>
            <a:off x="10362895" y="381000"/>
            <a:ext cx="1097280" cy="228600"/>
          </a:xfrm>
          <a:prstGeom prst="rect">
            <a:avLst/>
          </a:prstGeom>
          <a:noFill/>
          <a:ln/>
        </p:spPr>
        <p:txBody>
          <a:bodyPr wrap="square" lIns="0" tIns="0" rIns="0" bIns="0" rtlCol="0" anchor="ctr"/>
          <a:lstStyle/>
          <a:p>
            <a:pPr marL="0" indent="0" algn="r">
              <a:buNone/>
            </a:pPr>
            <a:r>
              <a:rPr lang="en-US" sz="1000" u="sng" kern="0" spc="250" dirty="0">
                <a:solidFill>
                  <a:srgbClr val="11110F"/>
                </a:solidFill>
                <a:latin typeface="Jost" pitchFamily="34" charset="0"/>
                <a:ea typeface="Jost" pitchFamily="34" charset="-122"/>
                <a:cs typeface="Jost" pitchFamily="34" charset="-120"/>
                <a:hlinkClick r:id="" action="ppaction://noaction">
                  <a:extLst>
                    <a:ext uri="{A12FA001-AC4F-418D-AE19-62706E023703}">
                      <ahyp:hlinkClr xmlns:ahyp="http://schemas.microsoft.com/office/drawing/2018/hyperlinkcolor" val="tx"/>
                    </a:ext>
                  </a:extLst>
                </a:hlinkClick>
              </a:rPr>
              <a:t>Agenda</a:t>
            </a:r>
            <a:endParaRPr lang="en-US" sz="1000" dirty="0"/>
          </a:p>
        </p:txBody>
      </p:sp>
      <p:sp>
        <p:nvSpPr>
          <p:cNvPr id="4" name="!!Footer"/>
          <p:cNvSpPr/>
          <p:nvPr/>
        </p:nvSpPr>
        <p:spPr>
          <a:xfrm>
            <a:off x="5212080" y="6172200"/>
            <a:ext cx="4572000" cy="228600"/>
          </a:xfrm>
          <a:prstGeom prst="rect">
            <a:avLst/>
          </a:prstGeom>
          <a:noFill/>
          <a:ln/>
        </p:spPr>
        <p:txBody>
          <a:bodyPr wrap="square" lIns="0" tIns="0" rIns="0" bIns="0" rtlCol="0" anchor="ctr"/>
          <a:lstStyle/>
          <a:p>
            <a:pPr marL="0" indent="0">
              <a:buNone/>
            </a:pPr>
            <a:r>
              <a:rPr lang="en-US" sz="900" kern="0" spc="250" dirty="0">
                <a:solidFill>
                  <a:srgbClr val="5E5A54"/>
                </a:solidFill>
                <a:latin typeface="Jost" pitchFamily="34" charset="0"/>
                <a:ea typeface="Jost" pitchFamily="34" charset="-122"/>
                <a:cs typeface="Jost" pitchFamily="34" charset="-120"/>
              </a:rPr>
              <a:t>MATTER OF PLACE  ·  FOR PARTNERS</a:t>
            </a:r>
            <a:endParaRPr lang="en-US" sz="900" dirty="0"/>
          </a:p>
        </p:txBody>
      </p:sp>
      <p:sp>
        <p:nvSpPr>
          <p:cNvPr id="5" name="!!Page"/>
          <p:cNvSpPr/>
          <p:nvPr/>
        </p:nvSpPr>
        <p:spPr>
          <a:xfrm>
            <a:off x="10362895" y="6172200"/>
            <a:ext cx="1097280" cy="228600"/>
          </a:xfrm>
          <a:prstGeom prst="rect">
            <a:avLst/>
          </a:prstGeom>
          <a:noFill/>
          <a:ln/>
        </p:spPr>
        <p:txBody>
          <a:bodyPr wrap="square" lIns="0" tIns="0" rIns="0" bIns="0" rtlCol="0" anchor="ctr"/>
          <a:lstStyle/>
          <a:p>
            <a:pPr marL="0" indent="0" algn="r">
              <a:buNone/>
            </a:pPr>
            <a:r>
              <a:rPr lang="en-US" sz="900" kern="0" spc="250" dirty="0">
                <a:solidFill>
                  <a:srgbClr val="5E5A54"/>
                </a:solidFill>
                <a:latin typeface="Jost" pitchFamily="34" charset="0"/>
                <a:ea typeface="Jost" pitchFamily="34" charset="-122"/>
                <a:cs typeface="Jost" pitchFamily="34" charset="-120"/>
              </a:rPr>
              <a:t>03 / 14</a:t>
            </a:r>
            <a:endParaRPr lang="en-US" sz="900" dirty="0"/>
          </a:p>
        </p:txBody>
      </p:sp>
      <p:sp>
        <p:nvSpPr>
          <p:cNvPr id="6" name="!!Eyebrow"/>
          <p:cNvSpPr/>
          <p:nvPr/>
        </p:nvSpPr>
        <p:spPr>
          <a:xfrm>
            <a:off x="5212080" y="868680"/>
            <a:ext cx="5486400" cy="274320"/>
          </a:xfrm>
          <a:prstGeom prst="rect">
            <a:avLst/>
          </a:prstGeom>
          <a:noFill/>
          <a:ln/>
        </p:spPr>
        <p:txBody>
          <a:bodyPr wrap="square" lIns="0" tIns="0" rIns="0" bIns="0" rtlCol="0" anchor="ctr"/>
          <a:lstStyle/>
          <a:p>
            <a:pPr marL="0" indent="0">
              <a:buNone/>
            </a:pPr>
            <a:r>
              <a:rPr lang="en-US" sz="1050" kern="0" spc="300" dirty="0">
                <a:solidFill>
                  <a:srgbClr val="575751"/>
                </a:solidFill>
                <a:latin typeface="Jost" pitchFamily="34" charset="0"/>
                <a:ea typeface="Jost" pitchFamily="34" charset="-122"/>
                <a:cs typeface="Jost" pitchFamily="34" charset="-120"/>
              </a:rPr>
              <a:t>WHO WE ARE</a:t>
            </a:r>
            <a:endParaRPr lang="en-US" sz="1050" dirty="0"/>
          </a:p>
        </p:txBody>
      </p:sp>
      <p:sp>
        <p:nvSpPr>
          <p:cNvPr id="7" name="!!Title"/>
          <p:cNvSpPr/>
          <p:nvPr/>
        </p:nvSpPr>
        <p:spPr>
          <a:xfrm>
            <a:off x="5212080" y="1188720"/>
            <a:ext cx="6248095" cy="1188720"/>
          </a:xfrm>
          <a:prstGeom prst="rect">
            <a:avLst/>
          </a:prstGeom>
          <a:noFill/>
          <a:ln/>
        </p:spPr>
        <p:txBody>
          <a:bodyPr wrap="square" lIns="0" tIns="0" rIns="0" bIns="0" rtlCol="0" anchor="t"/>
          <a:lstStyle/>
          <a:p>
            <a:pPr marL="0" indent="0">
              <a:buNone/>
            </a:pPr>
            <a:r>
              <a:rPr lang="en-US" sz="3800" dirty="0">
                <a:solidFill>
                  <a:srgbClr val="11110F"/>
                </a:solidFill>
                <a:latin typeface="Cormorant Garamond" pitchFamily="34" charset="0"/>
                <a:ea typeface="Cormorant Garamond" pitchFamily="34" charset="-122"/>
                <a:cs typeface="Cormorant Garamond" pitchFamily="34" charset="-120"/>
              </a:rPr>
              <a:t>A selective real-estate media platform.</a:t>
            </a:r>
            <a:endParaRPr lang="en-US" sz="3800" dirty="0"/>
          </a:p>
        </p:txBody>
      </p:sp>
      <p:sp>
        <p:nvSpPr>
          <p:cNvPr id="8" name="s3-8"/>
          <p:cNvSpPr/>
          <p:nvPr/>
        </p:nvSpPr>
        <p:spPr>
          <a:xfrm>
            <a:off x="5207000" y="2514600"/>
            <a:ext cx="5969000" cy="711200"/>
          </a:xfrm>
          <a:prstGeom prst="rect">
            <a:avLst/>
          </a:prstGeom>
          <a:noFill/>
          <a:ln/>
        </p:spPr>
        <p:txBody>
          <a:bodyPr wrap="square" lIns="0" tIns="0" rIns="0" bIns="0" rtlCol="0" anchor="t"/>
          <a:lstStyle/>
          <a:p>
            <a:pPr marL="0" indent="0">
              <a:lnSpc>
                <a:spcPct val="125000"/>
              </a:lnSpc>
              <a:buNone/>
            </a:pPr>
            <a:r>
              <a:rPr lang="en-US" sz="1600" dirty="0">
                <a:solidFill>
                  <a:srgbClr val="575751"/>
                </a:solidFill>
                <a:latin typeface="Jost" pitchFamily="34" charset="0"/>
                <a:ea typeface="Jost" pitchFamily="34" charset="-122"/>
                <a:cs typeface="Jost" pitchFamily="34" charset="-120"/>
              </a:rPr>
              <a:t>We select, present and distribute exceptional existing residential property, through a disciplined editorial lens.</a:t>
            </a:r>
            <a:endParaRPr lang="en-US" sz="1600" dirty="0"/>
          </a:p>
        </p:txBody>
      </p:sp>
      <p:sp>
        <p:nvSpPr>
          <p:cNvPr id="9" name="s3-9"/>
          <p:cNvSpPr/>
          <p:nvPr/>
        </p:nvSpPr>
        <p:spPr>
          <a:xfrm>
            <a:off x="5207000" y="3403600"/>
            <a:ext cx="6248400" cy="431800"/>
          </a:xfrm>
          <a:prstGeom prst="rect">
            <a:avLst/>
          </a:prstGeom>
          <a:noFill/>
          <a:ln/>
        </p:spPr>
        <p:txBody>
          <a:bodyPr wrap="square" lIns="0" tIns="0" rIns="0" bIns="0" rtlCol="0" anchor="ctr"/>
          <a:lstStyle/>
          <a:p>
            <a:pPr marL="0" indent="0">
              <a:buNone/>
            </a:pPr>
            <a:r>
              <a:rPr lang="en-US" sz="2200" i="1" dirty="0">
                <a:solidFill>
                  <a:srgbClr val="11110F"/>
                </a:solidFill>
                <a:latin typeface="Cormorant Garamond" pitchFamily="34" charset="0"/>
                <a:ea typeface="Cormorant Garamond" pitchFamily="34" charset="-122"/>
                <a:cs typeface="Cormorant Garamond" pitchFamily="34" charset="-120"/>
              </a:rPr>
              <a:t>California  ·  New York  ·  Florida</a:t>
            </a:r>
            <a:endParaRPr lang="en-US" sz="2200" dirty="0"/>
          </a:p>
        </p:txBody>
      </p:sp>
      <p:sp>
        <p:nvSpPr>
          <p:cNvPr id="10" name="s3-10"/>
          <p:cNvSpPr/>
          <p:nvPr/>
        </p:nvSpPr>
        <p:spPr>
          <a:xfrm>
            <a:off x="5207000" y="4089400"/>
            <a:ext cx="6248400" cy="0"/>
          </a:xfrm>
          <a:prstGeom prst="line">
            <a:avLst/>
          </a:prstGeom>
          <a:noFill/>
          <a:ln w="9525">
            <a:solidFill>
              <a:srgbClr val="C9C0B2"/>
            </a:solidFill>
            <a:prstDash val="solid"/>
          </a:ln>
        </p:spPr>
      </p:sp>
      <p:sp>
        <p:nvSpPr>
          <p:cNvPr id="11" name="s3-11"/>
          <p:cNvSpPr/>
          <p:nvPr/>
        </p:nvSpPr>
        <p:spPr>
          <a:xfrm>
            <a:off x="5207000" y="4089400"/>
            <a:ext cx="6248400" cy="431800"/>
          </a:xfrm>
          <a:prstGeom prst="rect">
            <a:avLst/>
          </a:prstGeom>
          <a:noFill/>
          <a:ln/>
        </p:spPr>
        <p:txBody>
          <a:bodyPr wrap="square" lIns="0" tIns="0" rIns="0" bIns="0" rtlCol="0" anchor="ctr"/>
          <a:lstStyle/>
          <a:p>
            <a:pPr marL="0" indent="0">
              <a:buNone/>
            </a:pPr>
            <a:r>
              <a:rPr lang="en-US" sz="1500" dirty="0">
                <a:solidFill>
                  <a:srgbClr val="11110F"/>
                </a:solidFill>
                <a:latin typeface="Jost" pitchFamily="34" charset="0"/>
                <a:ea typeface="Jost" pitchFamily="34" charset="-122"/>
                <a:cs typeface="Jost" pitchFamily="34" charset="-120"/>
              </a:rPr>
              <a:t>Existing residential property only</a:t>
            </a:r>
            <a:endParaRPr lang="en-US" sz="1500" dirty="0"/>
          </a:p>
        </p:txBody>
      </p:sp>
      <p:sp>
        <p:nvSpPr>
          <p:cNvPr id="12" name="s3-12"/>
          <p:cNvSpPr/>
          <p:nvPr/>
        </p:nvSpPr>
        <p:spPr>
          <a:xfrm>
            <a:off x="5207000" y="4521200"/>
            <a:ext cx="6248400" cy="0"/>
          </a:xfrm>
          <a:prstGeom prst="line">
            <a:avLst/>
          </a:prstGeom>
          <a:noFill/>
          <a:ln w="9525">
            <a:solidFill>
              <a:srgbClr val="C9C0B2"/>
            </a:solidFill>
            <a:prstDash val="solid"/>
          </a:ln>
        </p:spPr>
      </p:sp>
      <p:sp>
        <p:nvSpPr>
          <p:cNvPr id="13" name="s3-13"/>
          <p:cNvSpPr/>
          <p:nvPr/>
        </p:nvSpPr>
        <p:spPr>
          <a:xfrm>
            <a:off x="5207000" y="4521200"/>
            <a:ext cx="6248400" cy="431800"/>
          </a:xfrm>
          <a:prstGeom prst="rect">
            <a:avLst/>
          </a:prstGeom>
          <a:noFill/>
          <a:ln/>
        </p:spPr>
        <p:txBody>
          <a:bodyPr wrap="square" lIns="0" tIns="0" rIns="0" bIns="0" rtlCol="0" anchor="ctr"/>
          <a:lstStyle/>
          <a:p>
            <a:pPr marL="0" indent="0">
              <a:buNone/>
            </a:pPr>
            <a:r>
              <a:rPr lang="en-US" sz="1500" dirty="0">
                <a:solidFill>
                  <a:srgbClr val="11110F"/>
                </a:solidFill>
                <a:latin typeface="Jost" pitchFamily="34" charset="0"/>
                <a:ea typeface="Jost" pitchFamily="34" charset="-122"/>
                <a:cs typeface="Jost" pitchFamily="34" charset="-120"/>
              </a:rPr>
              <a:t>Not a brokerage</a:t>
            </a:r>
            <a:endParaRPr lang="en-US" sz="1500" dirty="0"/>
          </a:p>
        </p:txBody>
      </p:sp>
      <p:sp>
        <p:nvSpPr>
          <p:cNvPr id="14" name="s3-14"/>
          <p:cNvSpPr/>
          <p:nvPr/>
        </p:nvSpPr>
        <p:spPr>
          <a:xfrm>
            <a:off x="5207000" y="4953000"/>
            <a:ext cx="6248400" cy="0"/>
          </a:xfrm>
          <a:prstGeom prst="line">
            <a:avLst/>
          </a:prstGeom>
          <a:noFill/>
          <a:ln w="9525">
            <a:solidFill>
              <a:srgbClr val="C9C0B2"/>
            </a:solidFill>
            <a:prstDash val="solid"/>
          </a:ln>
        </p:spPr>
      </p:sp>
      <p:sp>
        <p:nvSpPr>
          <p:cNvPr id="15" name="s3-15"/>
          <p:cNvSpPr/>
          <p:nvPr/>
        </p:nvSpPr>
        <p:spPr>
          <a:xfrm>
            <a:off x="5207000" y="4953000"/>
            <a:ext cx="6248400" cy="431800"/>
          </a:xfrm>
          <a:prstGeom prst="rect">
            <a:avLst/>
          </a:prstGeom>
          <a:noFill/>
          <a:ln/>
        </p:spPr>
        <p:txBody>
          <a:bodyPr wrap="square" lIns="0" tIns="0" rIns="0" bIns="0" rtlCol="0" anchor="ctr"/>
          <a:lstStyle/>
          <a:p>
            <a:pPr marL="0" indent="0">
              <a:buNone/>
            </a:pPr>
            <a:r>
              <a:rPr lang="en-US" sz="1500" dirty="0">
                <a:solidFill>
                  <a:srgbClr val="11110F"/>
                </a:solidFill>
                <a:latin typeface="Jost" pitchFamily="34" charset="0"/>
                <a:ea typeface="Jost" pitchFamily="34" charset="-122"/>
                <a:cs typeface="Jost" pitchFamily="34" charset="-120"/>
              </a:rPr>
              <a:t>Not a listing marketplace</a:t>
            </a:r>
            <a:endParaRPr lang="en-US" sz="1500" dirty="0"/>
          </a:p>
        </p:txBody>
      </p:sp>
      <p:sp>
        <p:nvSpPr>
          <p:cNvPr id="16" name="s3-16"/>
          <p:cNvSpPr/>
          <p:nvPr/>
        </p:nvSpPr>
        <p:spPr>
          <a:xfrm>
            <a:off x="5207000" y="5384800"/>
            <a:ext cx="6248400" cy="0"/>
          </a:xfrm>
          <a:prstGeom prst="line">
            <a:avLst/>
          </a:prstGeom>
          <a:noFill/>
          <a:ln w="9525">
            <a:solidFill>
              <a:srgbClr val="C9C0B2"/>
            </a:solidFill>
            <a:prstDash val="solid"/>
          </a:ln>
        </p:spPr>
      </p:sp>
      <p:sp>
        <p:nvSpPr>
          <p:cNvPr id="17" name="s3-17"/>
          <p:cNvSpPr/>
          <p:nvPr/>
        </p:nvSpPr>
        <p:spPr>
          <a:xfrm>
            <a:off x="5207000" y="5384800"/>
            <a:ext cx="6248400" cy="431800"/>
          </a:xfrm>
          <a:prstGeom prst="rect">
            <a:avLst/>
          </a:prstGeom>
          <a:noFill/>
          <a:ln/>
        </p:spPr>
        <p:txBody>
          <a:bodyPr wrap="square" lIns="0" tIns="0" rIns="0" bIns="0" rtlCol="0" anchor="ctr"/>
          <a:lstStyle/>
          <a:p>
            <a:pPr marL="0" indent="0">
              <a:buNone/>
            </a:pPr>
            <a:r>
              <a:rPr lang="en-US" sz="1500" dirty="0">
                <a:solidFill>
                  <a:srgbClr val="11110F"/>
                </a:solidFill>
                <a:latin typeface="Jost" pitchFamily="34" charset="0"/>
                <a:ea typeface="Jost" pitchFamily="34" charset="-122"/>
                <a:cs typeface="Jost" pitchFamily="34" charset="-120"/>
              </a:rPr>
              <a:t>Not a lead-generation service</a:t>
            </a:r>
            <a:endParaRPr lang="en-US" sz="1500" dirty="0"/>
          </a:p>
        </p:txBody>
      </p:sp>
      <p:sp>
        <p:nvSpPr>
          <p:cNvPr id="18" name="s3-18"/>
          <p:cNvSpPr/>
          <p:nvPr/>
        </p:nvSpPr>
        <p:spPr>
          <a:xfrm>
            <a:off x="5207000" y="5816600"/>
            <a:ext cx="6248400" cy="0"/>
          </a:xfrm>
          <a:prstGeom prst="line">
            <a:avLst/>
          </a:prstGeom>
          <a:noFill/>
          <a:ln w="9525">
            <a:solidFill>
              <a:srgbClr val="C9C0B2"/>
            </a:solidFill>
            <a:prstDash val="solid"/>
          </a:ln>
        </p:spPr>
      </p:sp>
    </p:spTree>
    <p:extLst>
      <p:ext uri="{BB962C8B-B14F-4D97-AF65-F5344CB8AC3E}">
        <p14:creationId xmlns:p14="http://schemas.microsoft.com/office/powerpoint/2010/main" val="325368411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950"/>
                                        <p:tgtEl>
                                          <p:spTgt spid="8"/>
                                        </p:tgtEl>
                                      </p:cBhvr>
                                    </p:animEffect>
                                    <p:anim calcmode="lin" valueType="num">
                                      <p:cBhvr>
                                        <p:cTn id="8" dur="950" decel="100000" fill="hold"/>
                                        <p:tgtEl>
                                          <p:spTgt spid="8"/>
                                        </p:tgtEl>
                                        <p:attrNameLst>
                                          <p:attrName>ppt_x</p:attrName>
                                        </p:attrNameLst>
                                      </p:cBhvr>
                                      <p:tavLst>
                                        <p:tav tm="0">
                                          <p:val>
                                            <p:strVal val="#ppt_x"/>
                                          </p:val>
                                        </p:tav>
                                        <p:tav tm="100000">
                                          <p:val>
                                            <p:strVal val="#ppt_x"/>
                                          </p:val>
                                        </p:tav>
                                      </p:tavLst>
                                    </p:anim>
                                    <p:anim calcmode="lin" valueType="num">
                                      <p:cBhvr>
                                        <p:cTn id="9" dur="950" decel="100000" fill="hold"/>
                                        <p:tgtEl>
                                          <p:spTgt spid="8"/>
                                        </p:tgtEl>
                                        <p:attrNameLst>
                                          <p:attrName>ppt_y</p:attrName>
                                        </p:attrNameLst>
                                      </p:cBhvr>
                                      <p:tavLst>
                                        <p:tav tm="0">
                                          <p:val>
                                            <p:strVal val="#ppt_y+0.022"/>
                                          </p:val>
                                        </p:tav>
                                        <p:tav tm="100000">
                                          <p:val>
                                            <p:strVal val="#ppt_y"/>
                                          </p:val>
                                        </p:tav>
                                      </p:tavLst>
                                    </p:anim>
                                  </p:childTnLst>
                                </p:cTn>
                              </p:par>
                              <p:par>
                                <p:cTn id="10" presetID="10" presetClass="entr" presetSubtype="0" fill="hold" grpId="0" nodeType="withEffect">
                                  <p:stCondLst>
                                    <p:cond delay="26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950"/>
                                        <p:tgtEl>
                                          <p:spTgt spid="9"/>
                                        </p:tgtEl>
                                      </p:cBhvr>
                                    </p:animEffect>
                                    <p:anim calcmode="lin" valueType="num">
                                      <p:cBhvr>
                                        <p:cTn id="13" dur="950" decel="100000" fill="hold"/>
                                        <p:tgtEl>
                                          <p:spTgt spid="9"/>
                                        </p:tgtEl>
                                        <p:attrNameLst>
                                          <p:attrName>ppt_x</p:attrName>
                                        </p:attrNameLst>
                                      </p:cBhvr>
                                      <p:tavLst>
                                        <p:tav tm="0">
                                          <p:val>
                                            <p:strVal val="#ppt_x"/>
                                          </p:val>
                                        </p:tav>
                                        <p:tav tm="100000">
                                          <p:val>
                                            <p:strVal val="#ppt_x"/>
                                          </p:val>
                                        </p:tav>
                                      </p:tavLst>
                                    </p:anim>
                                    <p:anim calcmode="lin" valueType="num">
                                      <p:cBhvr>
                                        <p:cTn id="14" dur="950" decel="100000" fill="hold"/>
                                        <p:tgtEl>
                                          <p:spTgt spid="9"/>
                                        </p:tgtEl>
                                        <p:attrNameLst>
                                          <p:attrName>ppt_y</p:attrName>
                                        </p:attrNameLst>
                                      </p:cBhvr>
                                      <p:tavLst>
                                        <p:tav tm="0">
                                          <p:val>
                                            <p:strVal val="#ppt_y+0.022"/>
                                          </p:val>
                                        </p:tav>
                                        <p:tav tm="100000">
                                          <p:val>
                                            <p:strVal val="#ppt_y"/>
                                          </p:val>
                                        </p:tav>
                                      </p:tavLst>
                                    </p:anim>
                                  </p:childTnLst>
                                </p:cTn>
                              </p:par>
                              <p:par>
                                <p:cTn id="15" presetID="22" presetClass="entr" presetSubtype="8" fill="hold" nodeType="withEffect">
                                  <p:stCondLst>
                                    <p:cond delay="37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250" decel="100000"/>
                                        <p:tgtEl>
                                          <p:spTgt spid="10"/>
                                        </p:tgtEl>
                                      </p:cBhvr>
                                    </p:animEffect>
                                  </p:childTnLst>
                                </p:cTn>
                              </p:par>
                              <p:par>
                                <p:cTn id="18" presetID="10" presetClass="entr" presetSubtype="0" fill="hold" grpId="0" nodeType="withEffect">
                                  <p:stCondLst>
                                    <p:cond delay="37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950"/>
                                        <p:tgtEl>
                                          <p:spTgt spid="11"/>
                                        </p:tgtEl>
                                      </p:cBhvr>
                                    </p:animEffect>
                                    <p:anim calcmode="lin" valueType="num">
                                      <p:cBhvr>
                                        <p:cTn id="21" dur="950" decel="100000" fill="hold"/>
                                        <p:tgtEl>
                                          <p:spTgt spid="11"/>
                                        </p:tgtEl>
                                        <p:attrNameLst>
                                          <p:attrName>ppt_x</p:attrName>
                                        </p:attrNameLst>
                                      </p:cBhvr>
                                      <p:tavLst>
                                        <p:tav tm="0">
                                          <p:val>
                                            <p:strVal val="#ppt_x"/>
                                          </p:val>
                                        </p:tav>
                                        <p:tav tm="100000">
                                          <p:val>
                                            <p:strVal val="#ppt_x"/>
                                          </p:val>
                                        </p:tav>
                                      </p:tavLst>
                                    </p:anim>
                                    <p:anim calcmode="lin" valueType="num">
                                      <p:cBhvr>
                                        <p:cTn id="22" dur="950" decel="100000" fill="hold"/>
                                        <p:tgtEl>
                                          <p:spTgt spid="11"/>
                                        </p:tgtEl>
                                        <p:attrNameLst>
                                          <p:attrName>ppt_y</p:attrName>
                                        </p:attrNameLst>
                                      </p:cBhvr>
                                      <p:tavLst>
                                        <p:tav tm="0">
                                          <p:val>
                                            <p:strVal val="#ppt_y+0.022"/>
                                          </p:val>
                                        </p:tav>
                                        <p:tav tm="100000">
                                          <p:val>
                                            <p:strVal val="#ppt_y"/>
                                          </p:val>
                                        </p:tav>
                                      </p:tavLst>
                                    </p:anim>
                                  </p:childTnLst>
                                </p:cTn>
                              </p:par>
                              <p:par>
                                <p:cTn id="23" presetID="22" presetClass="entr" presetSubtype="8" fill="hold" nodeType="withEffect">
                                  <p:stCondLst>
                                    <p:cond delay="480"/>
                                  </p:stCondLst>
                                  <p:childTnLst>
                                    <p:set>
                                      <p:cBhvr>
                                        <p:cTn id="24" dur="1" fill="hold">
                                          <p:stCondLst>
                                            <p:cond delay="0"/>
                                          </p:stCondLst>
                                        </p:cTn>
                                        <p:tgtEl>
                                          <p:spTgt spid="12"/>
                                        </p:tgtEl>
                                        <p:attrNameLst>
                                          <p:attrName>style.visibility</p:attrName>
                                        </p:attrNameLst>
                                      </p:cBhvr>
                                      <p:to>
                                        <p:strVal val="visible"/>
                                      </p:to>
                                    </p:set>
                                    <p:animEffect transition="in" filter="wipe(left)">
                                      <p:cBhvr>
                                        <p:cTn id="25" dur="1250" decel="100000"/>
                                        <p:tgtEl>
                                          <p:spTgt spid="12"/>
                                        </p:tgtEl>
                                      </p:cBhvr>
                                    </p:animEffect>
                                  </p:childTnLst>
                                </p:cTn>
                              </p:par>
                              <p:par>
                                <p:cTn id="26" presetID="10" presetClass="entr" presetSubtype="0" fill="hold" grpId="0" nodeType="withEffect">
                                  <p:stCondLst>
                                    <p:cond delay="48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950"/>
                                        <p:tgtEl>
                                          <p:spTgt spid="13"/>
                                        </p:tgtEl>
                                      </p:cBhvr>
                                    </p:animEffect>
                                    <p:anim calcmode="lin" valueType="num">
                                      <p:cBhvr>
                                        <p:cTn id="29" dur="950" decel="100000" fill="hold"/>
                                        <p:tgtEl>
                                          <p:spTgt spid="13"/>
                                        </p:tgtEl>
                                        <p:attrNameLst>
                                          <p:attrName>ppt_x</p:attrName>
                                        </p:attrNameLst>
                                      </p:cBhvr>
                                      <p:tavLst>
                                        <p:tav tm="0">
                                          <p:val>
                                            <p:strVal val="#ppt_x"/>
                                          </p:val>
                                        </p:tav>
                                        <p:tav tm="100000">
                                          <p:val>
                                            <p:strVal val="#ppt_x"/>
                                          </p:val>
                                        </p:tav>
                                      </p:tavLst>
                                    </p:anim>
                                    <p:anim calcmode="lin" valueType="num">
                                      <p:cBhvr>
                                        <p:cTn id="30" dur="950" decel="100000" fill="hold"/>
                                        <p:tgtEl>
                                          <p:spTgt spid="13"/>
                                        </p:tgtEl>
                                        <p:attrNameLst>
                                          <p:attrName>ppt_y</p:attrName>
                                        </p:attrNameLst>
                                      </p:cBhvr>
                                      <p:tavLst>
                                        <p:tav tm="0">
                                          <p:val>
                                            <p:strVal val="#ppt_y+0.022"/>
                                          </p:val>
                                        </p:tav>
                                        <p:tav tm="100000">
                                          <p:val>
                                            <p:strVal val="#ppt_y"/>
                                          </p:val>
                                        </p:tav>
                                      </p:tavLst>
                                    </p:anim>
                                  </p:childTnLst>
                                </p:cTn>
                              </p:par>
                              <p:par>
                                <p:cTn id="31" presetID="22" presetClass="entr" presetSubtype="8" fill="hold" nodeType="withEffect">
                                  <p:stCondLst>
                                    <p:cond delay="59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250" decel="100000"/>
                                        <p:tgtEl>
                                          <p:spTgt spid="14"/>
                                        </p:tgtEl>
                                      </p:cBhvr>
                                    </p:animEffect>
                                  </p:childTnLst>
                                </p:cTn>
                              </p:par>
                              <p:par>
                                <p:cTn id="34" presetID="10" presetClass="entr" presetSubtype="0" fill="hold" grpId="0" nodeType="withEffect">
                                  <p:stCondLst>
                                    <p:cond delay="59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950"/>
                                        <p:tgtEl>
                                          <p:spTgt spid="15"/>
                                        </p:tgtEl>
                                      </p:cBhvr>
                                    </p:animEffect>
                                    <p:anim calcmode="lin" valueType="num">
                                      <p:cBhvr>
                                        <p:cTn id="37" dur="950" decel="100000" fill="hold"/>
                                        <p:tgtEl>
                                          <p:spTgt spid="15"/>
                                        </p:tgtEl>
                                        <p:attrNameLst>
                                          <p:attrName>ppt_x</p:attrName>
                                        </p:attrNameLst>
                                      </p:cBhvr>
                                      <p:tavLst>
                                        <p:tav tm="0">
                                          <p:val>
                                            <p:strVal val="#ppt_x"/>
                                          </p:val>
                                        </p:tav>
                                        <p:tav tm="100000">
                                          <p:val>
                                            <p:strVal val="#ppt_x"/>
                                          </p:val>
                                        </p:tav>
                                      </p:tavLst>
                                    </p:anim>
                                    <p:anim calcmode="lin" valueType="num">
                                      <p:cBhvr>
                                        <p:cTn id="38" dur="950" decel="100000" fill="hold"/>
                                        <p:tgtEl>
                                          <p:spTgt spid="15"/>
                                        </p:tgtEl>
                                        <p:attrNameLst>
                                          <p:attrName>ppt_y</p:attrName>
                                        </p:attrNameLst>
                                      </p:cBhvr>
                                      <p:tavLst>
                                        <p:tav tm="0">
                                          <p:val>
                                            <p:strVal val="#ppt_y+0.022"/>
                                          </p:val>
                                        </p:tav>
                                        <p:tav tm="100000">
                                          <p:val>
                                            <p:strVal val="#ppt_y"/>
                                          </p:val>
                                        </p:tav>
                                      </p:tavLst>
                                    </p:anim>
                                  </p:childTnLst>
                                </p:cTn>
                              </p:par>
                              <p:par>
                                <p:cTn id="39" presetID="22" presetClass="entr" presetSubtype="8" fill="hold" nodeType="withEffect">
                                  <p:stCondLst>
                                    <p:cond delay="700"/>
                                  </p:stCondLst>
                                  <p:childTnLst>
                                    <p:set>
                                      <p:cBhvr>
                                        <p:cTn id="40" dur="1" fill="hold">
                                          <p:stCondLst>
                                            <p:cond delay="0"/>
                                          </p:stCondLst>
                                        </p:cTn>
                                        <p:tgtEl>
                                          <p:spTgt spid="16"/>
                                        </p:tgtEl>
                                        <p:attrNameLst>
                                          <p:attrName>style.visibility</p:attrName>
                                        </p:attrNameLst>
                                      </p:cBhvr>
                                      <p:to>
                                        <p:strVal val="visible"/>
                                      </p:to>
                                    </p:set>
                                    <p:animEffect transition="in" filter="wipe(left)">
                                      <p:cBhvr>
                                        <p:cTn id="41" dur="1250" decel="100000"/>
                                        <p:tgtEl>
                                          <p:spTgt spid="16"/>
                                        </p:tgtEl>
                                      </p:cBhvr>
                                    </p:animEffect>
                                  </p:childTnLst>
                                </p:cTn>
                              </p:par>
                              <p:par>
                                <p:cTn id="42" presetID="10" presetClass="entr" presetSubtype="0" fill="hold" grpId="0" nodeType="withEffect">
                                  <p:stCondLst>
                                    <p:cond delay="70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950"/>
                                        <p:tgtEl>
                                          <p:spTgt spid="17"/>
                                        </p:tgtEl>
                                      </p:cBhvr>
                                    </p:animEffect>
                                    <p:anim calcmode="lin" valueType="num">
                                      <p:cBhvr>
                                        <p:cTn id="45" dur="950" decel="100000" fill="hold"/>
                                        <p:tgtEl>
                                          <p:spTgt spid="17"/>
                                        </p:tgtEl>
                                        <p:attrNameLst>
                                          <p:attrName>ppt_x</p:attrName>
                                        </p:attrNameLst>
                                      </p:cBhvr>
                                      <p:tavLst>
                                        <p:tav tm="0">
                                          <p:val>
                                            <p:strVal val="#ppt_x"/>
                                          </p:val>
                                        </p:tav>
                                        <p:tav tm="100000">
                                          <p:val>
                                            <p:strVal val="#ppt_x"/>
                                          </p:val>
                                        </p:tav>
                                      </p:tavLst>
                                    </p:anim>
                                    <p:anim calcmode="lin" valueType="num">
                                      <p:cBhvr>
                                        <p:cTn id="46" dur="950" decel="100000" fill="hold"/>
                                        <p:tgtEl>
                                          <p:spTgt spid="17"/>
                                        </p:tgtEl>
                                        <p:attrNameLst>
                                          <p:attrName>ppt_y</p:attrName>
                                        </p:attrNameLst>
                                      </p:cBhvr>
                                      <p:tavLst>
                                        <p:tav tm="0">
                                          <p:val>
                                            <p:strVal val="#ppt_y+0.022"/>
                                          </p:val>
                                        </p:tav>
                                        <p:tav tm="100000">
                                          <p:val>
                                            <p:strVal val="#ppt_y"/>
                                          </p:val>
                                        </p:tav>
                                      </p:tavLst>
                                    </p:anim>
                                  </p:childTnLst>
                                </p:cTn>
                              </p:par>
                              <p:par>
                                <p:cTn id="47" presetID="22" presetClass="entr" presetSubtype="8" fill="hold" nodeType="withEffect">
                                  <p:stCondLst>
                                    <p:cond delay="810"/>
                                  </p:stCondLst>
                                  <p:childTnLst>
                                    <p:set>
                                      <p:cBhvr>
                                        <p:cTn id="48" dur="1" fill="hold">
                                          <p:stCondLst>
                                            <p:cond delay="0"/>
                                          </p:stCondLst>
                                        </p:cTn>
                                        <p:tgtEl>
                                          <p:spTgt spid="18"/>
                                        </p:tgtEl>
                                        <p:attrNameLst>
                                          <p:attrName>style.visibility</p:attrName>
                                        </p:attrNameLst>
                                      </p:cBhvr>
                                      <p:to>
                                        <p:strVal val="visible"/>
                                      </p:to>
                                    </p:set>
                                    <p:animEffect transition="in" filter="wipe(left)">
                                      <p:cBhvr>
                                        <p:cTn id="49" dur="1250" decel="100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3" grpId="0" animBg="1"/>
      <p:bldP spid="15" grpId="0" animBg="1"/>
      <p:bldP spid="1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2EB"/>
        </a:solidFill>
        <a:effectLst/>
      </p:bgPr>
    </p:bg>
    <p:spTree>
      <p:nvGrpSpPr>
        <p:cNvPr id="1" name=""/>
        <p:cNvGrpSpPr/>
        <p:nvPr/>
      </p:nvGrpSpPr>
      <p:grpSpPr>
        <a:xfrm>
          <a:off x="0" y="0"/>
          <a:ext cx="0" cy="0"/>
          <a:chOff x="0" y="0"/>
          <a:chExt cx="0" cy="0"/>
        </a:xfrm>
      </p:grpSpPr>
      <p:pic>
        <p:nvPicPr>
          <p:cNvPr id="2" name="!!Photo" descr="E:/Matter Of Place/Matter Of Place Codebase/src/assets/gallery/ca-stair.jpg"/>
          <p:cNvPicPr>
            <a:picLocks noChangeAspect="1"/>
          </p:cNvPicPr>
          <p:nvPr/>
        </p:nvPicPr>
        <p:blipFill>
          <a:blip r:embed="rId3"/>
          <a:srcRect l="8146" r="8146"/>
          <a:stretch/>
        </p:blipFill>
        <p:spPr>
          <a:xfrm>
            <a:off x="7711135" y="0"/>
            <a:ext cx="4480560" cy="6858000"/>
          </a:xfrm>
          <a:prstGeom prst="rect">
            <a:avLst/>
          </a:prstGeom>
        </p:spPr>
      </p:pic>
      <p:sp>
        <p:nvSpPr>
          <p:cNvPr id="3" name="!!Agenda">
            <a:hlinkClick r:id="" action="ppaction://noaction"/>
          </p:cNvPr>
          <p:cNvSpPr/>
          <p:nvPr/>
        </p:nvSpPr>
        <p:spPr>
          <a:xfrm>
            <a:off x="5882335" y="381000"/>
            <a:ext cx="1097280" cy="228600"/>
          </a:xfrm>
          <a:prstGeom prst="rect">
            <a:avLst/>
          </a:prstGeom>
          <a:noFill/>
          <a:ln/>
        </p:spPr>
        <p:txBody>
          <a:bodyPr wrap="square" lIns="0" tIns="0" rIns="0" bIns="0" rtlCol="0" anchor="ctr"/>
          <a:lstStyle/>
          <a:p>
            <a:pPr marL="0" indent="0" algn="r">
              <a:buNone/>
            </a:pPr>
            <a:r>
              <a:rPr lang="en-US" sz="1000" u="sng" kern="0" spc="250" dirty="0">
                <a:solidFill>
                  <a:srgbClr val="11110F"/>
                </a:solidFill>
                <a:latin typeface="Jost" pitchFamily="34" charset="0"/>
                <a:ea typeface="Jost" pitchFamily="34" charset="-122"/>
                <a:cs typeface="Jost" pitchFamily="34" charset="-120"/>
                <a:hlinkClick r:id="" action="ppaction://noaction">
                  <a:extLst>
                    <a:ext uri="{A12FA001-AC4F-418D-AE19-62706E023703}">
                      <ahyp:hlinkClr xmlns:ahyp="http://schemas.microsoft.com/office/drawing/2018/hyperlinkcolor" val="tx"/>
                    </a:ext>
                  </a:extLst>
                </a:hlinkClick>
              </a:rPr>
              <a:t>Agenda</a:t>
            </a:r>
            <a:endParaRPr lang="en-US" sz="1000" dirty="0"/>
          </a:p>
        </p:txBody>
      </p:sp>
      <p:sp>
        <p:nvSpPr>
          <p:cNvPr id="4" name="!!Footer"/>
          <p:cNvSpPr/>
          <p:nvPr/>
        </p:nvSpPr>
        <p:spPr>
          <a:xfrm>
            <a:off x="731520" y="6172200"/>
            <a:ext cx="4572000" cy="228600"/>
          </a:xfrm>
          <a:prstGeom prst="rect">
            <a:avLst/>
          </a:prstGeom>
          <a:noFill/>
          <a:ln/>
        </p:spPr>
        <p:txBody>
          <a:bodyPr wrap="square" lIns="0" tIns="0" rIns="0" bIns="0" rtlCol="0" anchor="ctr"/>
          <a:lstStyle/>
          <a:p>
            <a:pPr marL="0" indent="0">
              <a:buNone/>
            </a:pPr>
            <a:r>
              <a:rPr lang="en-US" sz="900" kern="0" spc="250" dirty="0">
                <a:solidFill>
                  <a:srgbClr val="5E5A54"/>
                </a:solidFill>
                <a:latin typeface="Jost" pitchFamily="34" charset="0"/>
                <a:ea typeface="Jost" pitchFamily="34" charset="-122"/>
                <a:cs typeface="Jost" pitchFamily="34" charset="-120"/>
              </a:rPr>
              <a:t>MATTER OF PLACE  ·  FOR PARTNERS</a:t>
            </a:r>
            <a:endParaRPr lang="en-US" sz="900" dirty="0"/>
          </a:p>
        </p:txBody>
      </p:sp>
      <p:sp>
        <p:nvSpPr>
          <p:cNvPr id="5" name="!!Page"/>
          <p:cNvSpPr/>
          <p:nvPr/>
        </p:nvSpPr>
        <p:spPr>
          <a:xfrm>
            <a:off x="5882335" y="6172200"/>
            <a:ext cx="1097280" cy="228600"/>
          </a:xfrm>
          <a:prstGeom prst="rect">
            <a:avLst/>
          </a:prstGeom>
          <a:noFill/>
          <a:ln/>
        </p:spPr>
        <p:txBody>
          <a:bodyPr wrap="square" lIns="0" tIns="0" rIns="0" bIns="0" rtlCol="0" anchor="ctr"/>
          <a:lstStyle/>
          <a:p>
            <a:pPr marL="0" indent="0" algn="r">
              <a:buNone/>
            </a:pPr>
            <a:r>
              <a:rPr lang="en-US" sz="900" kern="0" spc="250" dirty="0">
                <a:solidFill>
                  <a:srgbClr val="5E5A54"/>
                </a:solidFill>
                <a:latin typeface="Jost" pitchFamily="34" charset="0"/>
                <a:ea typeface="Jost" pitchFamily="34" charset="-122"/>
                <a:cs typeface="Jost" pitchFamily="34" charset="-120"/>
              </a:rPr>
              <a:t>04 / 14</a:t>
            </a:r>
            <a:endParaRPr lang="en-US" sz="900" dirty="0"/>
          </a:p>
        </p:txBody>
      </p:sp>
      <p:sp>
        <p:nvSpPr>
          <p:cNvPr id="6" name="!!Eyebrow"/>
          <p:cNvSpPr/>
          <p:nvPr/>
        </p:nvSpPr>
        <p:spPr>
          <a:xfrm>
            <a:off x="731520" y="868680"/>
            <a:ext cx="5486400" cy="274320"/>
          </a:xfrm>
          <a:prstGeom prst="rect">
            <a:avLst/>
          </a:prstGeom>
          <a:noFill/>
          <a:ln/>
        </p:spPr>
        <p:txBody>
          <a:bodyPr wrap="square" lIns="0" tIns="0" rIns="0" bIns="0" rtlCol="0" anchor="ctr"/>
          <a:lstStyle/>
          <a:p>
            <a:pPr marL="0" indent="0">
              <a:buNone/>
            </a:pPr>
            <a:r>
              <a:rPr lang="en-US" sz="1050" kern="0" spc="300" dirty="0">
                <a:solidFill>
                  <a:srgbClr val="575751"/>
                </a:solidFill>
                <a:latin typeface="Jost" pitchFamily="34" charset="0"/>
                <a:ea typeface="Jost" pitchFamily="34" charset="-122"/>
                <a:cs typeface="Jost" pitchFamily="34" charset="-120"/>
              </a:rPr>
              <a:t>THE EDITORIAL STANDARD</a:t>
            </a:r>
            <a:endParaRPr lang="en-US" sz="1050" dirty="0"/>
          </a:p>
        </p:txBody>
      </p:sp>
      <p:sp>
        <p:nvSpPr>
          <p:cNvPr id="7" name="!!Title"/>
          <p:cNvSpPr/>
          <p:nvPr/>
        </p:nvSpPr>
        <p:spPr>
          <a:xfrm>
            <a:off x="731520" y="1188720"/>
            <a:ext cx="6248095" cy="711200"/>
          </a:xfrm>
          <a:prstGeom prst="rect">
            <a:avLst/>
          </a:prstGeom>
          <a:noFill/>
          <a:ln/>
        </p:spPr>
        <p:txBody>
          <a:bodyPr wrap="square" lIns="0" tIns="0" rIns="0" bIns="0" rtlCol="0" anchor="t"/>
          <a:lstStyle/>
          <a:p>
            <a:pPr marL="0" indent="0">
              <a:buNone/>
            </a:pPr>
            <a:r>
              <a:rPr lang="en-US" sz="3800" dirty="0">
                <a:solidFill>
                  <a:srgbClr val="11110F"/>
                </a:solidFill>
                <a:latin typeface="Cormorant Garamond" pitchFamily="34" charset="0"/>
                <a:ea typeface="Cormorant Garamond" pitchFamily="34" charset="-122"/>
                <a:cs typeface="Cormorant Garamond" pitchFamily="34" charset="-120"/>
              </a:rPr>
              <a:t>What we look for.</a:t>
            </a:r>
            <a:endParaRPr lang="en-US" sz="3800" dirty="0"/>
          </a:p>
        </p:txBody>
      </p:sp>
      <p:sp>
        <p:nvSpPr>
          <p:cNvPr id="8" name="s4-8"/>
          <p:cNvSpPr/>
          <p:nvPr/>
        </p:nvSpPr>
        <p:spPr>
          <a:xfrm>
            <a:off x="736600" y="2235200"/>
            <a:ext cx="2895600" cy="0"/>
          </a:xfrm>
          <a:prstGeom prst="line">
            <a:avLst/>
          </a:prstGeom>
          <a:noFill/>
          <a:ln w="9525">
            <a:solidFill>
              <a:srgbClr val="C9C0B2"/>
            </a:solidFill>
            <a:prstDash val="solid"/>
          </a:ln>
        </p:spPr>
      </p:sp>
      <p:sp>
        <p:nvSpPr>
          <p:cNvPr id="9" name="s4-9"/>
          <p:cNvSpPr/>
          <p:nvPr/>
        </p:nvSpPr>
        <p:spPr>
          <a:xfrm>
            <a:off x="736600" y="2235200"/>
            <a:ext cx="2895600" cy="660400"/>
          </a:xfrm>
          <a:prstGeom prst="rect">
            <a:avLst/>
          </a:prstGeom>
          <a:noFill/>
          <a:ln/>
        </p:spPr>
        <p:txBody>
          <a:bodyPr wrap="square" lIns="0" tIns="0" rIns="0" bIns="0" rtlCol="0" anchor="ctr"/>
          <a:lstStyle/>
          <a:p>
            <a:pPr marL="0" indent="0">
              <a:buNone/>
            </a:pPr>
            <a:r>
              <a:rPr lang="en-US" sz="1900" dirty="0">
                <a:solidFill>
                  <a:srgbClr val="11110F"/>
                </a:solidFill>
                <a:latin typeface="Cormorant Garamond" pitchFamily="34" charset="0"/>
                <a:ea typeface="Cormorant Garamond" pitchFamily="34" charset="-122"/>
                <a:cs typeface="Cormorant Garamond" pitchFamily="34" charset="-120"/>
              </a:rPr>
              <a:t>Architecture</a:t>
            </a:r>
            <a:endParaRPr lang="en-US" sz="1900" dirty="0"/>
          </a:p>
        </p:txBody>
      </p:sp>
      <p:sp>
        <p:nvSpPr>
          <p:cNvPr id="10" name="s4-10"/>
          <p:cNvSpPr/>
          <p:nvPr/>
        </p:nvSpPr>
        <p:spPr>
          <a:xfrm>
            <a:off x="736600" y="2895600"/>
            <a:ext cx="2895600" cy="0"/>
          </a:xfrm>
          <a:prstGeom prst="line">
            <a:avLst/>
          </a:prstGeom>
          <a:noFill/>
          <a:ln w="9525">
            <a:solidFill>
              <a:srgbClr val="C9C0B2"/>
            </a:solidFill>
            <a:prstDash val="solid"/>
          </a:ln>
        </p:spPr>
      </p:sp>
      <p:sp>
        <p:nvSpPr>
          <p:cNvPr id="11" name="s4-11"/>
          <p:cNvSpPr/>
          <p:nvPr/>
        </p:nvSpPr>
        <p:spPr>
          <a:xfrm>
            <a:off x="736600" y="2895600"/>
            <a:ext cx="2895600" cy="660400"/>
          </a:xfrm>
          <a:prstGeom prst="rect">
            <a:avLst/>
          </a:prstGeom>
          <a:noFill/>
          <a:ln/>
        </p:spPr>
        <p:txBody>
          <a:bodyPr wrap="square" lIns="0" tIns="0" rIns="0" bIns="0" rtlCol="0" anchor="ctr"/>
          <a:lstStyle/>
          <a:p>
            <a:pPr marL="0" indent="0">
              <a:buNone/>
            </a:pPr>
            <a:r>
              <a:rPr lang="en-US" sz="1900" dirty="0">
                <a:solidFill>
                  <a:srgbClr val="11110F"/>
                </a:solidFill>
                <a:latin typeface="Cormorant Garamond" pitchFamily="34" charset="0"/>
                <a:ea typeface="Cormorant Garamond" pitchFamily="34" charset="-122"/>
                <a:cs typeface="Cormorant Garamond" pitchFamily="34" charset="-120"/>
              </a:rPr>
              <a:t>Design</a:t>
            </a:r>
            <a:endParaRPr lang="en-US" sz="1900" dirty="0"/>
          </a:p>
        </p:txBody>
      </p:sp>
      <p:sp>
        <p:nvSpPr>
          <p:cNvPr id="12" name="s4-12"/>
          <p:cNvSpPr/>
          <p:nvPr/>
        </p:nvSpPr>
        <p:spPr>
          <a:xfrm>
            <a:off x="736600" y="3556000"/>
            <a:ext cx="2895600" cy="0"/>
          </a:xfrm>
          <a:prstGeom prst="line">
            <a:avLst/>
          </a:prstGeom>
          <a:noFill/>
          <a:ln w="9525">
            <a:solidFill>
              <a:srgbClr val="C9C0B2"/>
            </a:solidFill>
            <a:prstDash val="solid"/>
          </a:ln>
        </p:spPr>
      </p:sp>
      <p:sp>
        <p:nvSpPr>
          <p:cNvPr id="13" name="s4-13"/>
          <p:cNvSpPr/>
          <p:nvPr/>
        </p:nvSpPr>
        <p:spPr>
          <a:xfrm>
            <a:off x="736600" y="3556000"/>
            <a:ext cx="2895600" cy="660400"/>
          </a:xfrm>
          <a:prstGeom prst="rect">
            <a:avLst/>
          </a:prstGeom>
          <a:noFill/>
          <a:ln/>
        </p:spPr>
        <p:txBody>
          <a:bodyPr wrap="square" lIns="0" tIns="0" rIns="0" bIns="0" rtlCol="0" anchor="ctr"/>
          <a:lstStyle/>
          <a:p>
            <a:pPr marL="0" indent="0">
              <a:buNone/>
            </a:pPr>
            <a:r>
              <a:rPr lang="en-US" sz="1900" dirty="0">
                <a:solidFill>
                  <a:srgbClr val="11110F"/>
                </a:solidFill>
                <a:latin typeface="Cormorant Garamond" pitchFamily="34" charset="0"/>
                <a:ea typeface="Cormorant Garamond" pitchFamily="34" charset="-122"/>
                <a:cs typeface="Cormorant Garamond" pitchFamily="34" charset="-120"/>
              </a:rPr>
              <a:t>Originality</a:t>
            </a:r>
            <a:endParaRPr lang="en-US" sz="1900" dirty="0"/>
          </a:p>
        </p:txBody>
      </p:sp>
      <p:sp>
        <p:nvSpPr>
          <p:cNvPr id="14" name="s4-14"/>
          <p:cNvSpPr/>
          <p:nvPr/>
        </p:nvSpPr>
        <p:spPr>
          <a:xfrm>
            <a:off x="736600" y="4216400"/>
            <a:ext cx="2895600" cy="0"/>
          </a:xfrm>
          <a:prstGeom prst="line">
            <a:avLst/>
          </a:prstGeom>
          <a:noFill/>
          <a:ln w="9525">
            <a:solidFill>
              <a:srgbClr val="C9C0B2"/>
            </a:solidFill>
            <a:prstDash val="solid"/>
          </a:ln>
        </p:spPr>
      </p:sp>
      <p:sp>
        <p:nvSpPr>
          <p:cNvPr id="15" name="s4-15"/>
          <p:cNvSpPr/>
          <p:nvPr/>
        </p:nvSpPr>
        <p:spPr>
          <a:xfrm>
            <a:off x="736600" y="4216400"/>
            <a:ext cx="2895600" cy="660400"/>
          </a:xfrm>
          <a:prstGeom prst="rect">
            <a:avLst/>
          </a:prstGeom>
          <a:noFill/>
          <a:ln/>
        </p:spPr>
        <p:txBody>
          <a:bodyPr wrap="square" lIns="0" tIns="0" rIns="0" bIns="0" rtlCol="0" anchor="ctr"/>
          <a:lstStyle/>
          <a:p>
            <a:pPr marL="0" indent="0">
              <a:buNone/>
            </a:pPr>
            <a:r>
              <a:rPr lang="en-US" sz="1900" dirty="0">
                <a:solidFill>
                  <a:srgbClr val="11110F"/>
                </a:solidFill>
                <a:latin typeface="Cormorant Garamond" pitchFamily="34" charset="0"/>
                <a:ea typeface="Cormorant Garamond" pitchFamily="34" charset="-122"/>
                <a:cs typeface="Cormorant Garamond" pitchFamily="34" charset="-120"/>
              </a:rPr>
              <a:t>Materiality</a:t>
            </a:r>
            <a:endParaRPr lang="en-US" sz="1900" dirty="0"/>
          </a:p>
        </p:txBody>
      </p:sp>
      <p:sp>
        <p:nvSpPr>
          <p:cNvPr id="16" name="s4-16"/>
          <p:cNvSpPr/>
          <p:nvPr/>
        </p:nvSpPr>
        <p:spPr>
          <a:xfrm>
            <a:off x="736600" y="4876800"/>
            <a:ext cx="2895600" cy="0"/>
          </a:xfrm>
          <a:prstGeom prst="line">
            <a:avLst/>
          </a:prstGeom>
          <a:noFill/>
          <a:ln w="9525">
            <a:solidFill>
              <a:srgbClr val="C9C0B2"/>
            </a:solidFill>
            <a:prstDash val="solid"/>
          </a:ln>
        </p:spPr>
      </p:sp>
      <p:sp>
        <p:nvSpPr>
          <p:cNvPr id="17" name="s4-17"/>
          <p:cNvSpPr/>
          <p:nvPr/>
        </p:nvSpPr>
        <p:spPr>
          <a:xfrm>
            <a:off x="4089400" y="2235200"/>
            <a:ext cx="2895600" cy="0"/>
          </a:xfrm>
          <a:prstGeom prst="line">
            <a:avLst/>
          </a:prstGeom>
          <a:noFill/>
          <a:ln w="9525">
            <a:solidFill>
              <a:srgbClr val="C9C0B2"/>
            </a:solidFill>
            <a:prstDash val="solid"/>
          </a:ln>
        </p:spPr>
      </p:sp>
      <p:sp>
        <p:nvSpPr>
          <p:cNvPr id="18" name="s4-18"/>
          <p:cNvSpPr/>
          <p:nvPr/>
        </p:nvSpPr>
        <p:spPr>
          <a:xfrm>
            <a:off x="4089400" y="2235200"/>
            <a:ext cx="2895600" cy="660400"/>
          </a:xfrm>
          <a:prstGeom prst="rect">
            <a:avLst/>
          </a:prstGeom>
          <a:noFill/>
          <a:ln/>
        </p:spPr>
        <p:txBody>
          <a:bodyPr wrap="square" lIns="0" tIns="0" rIns="0" bIns="0" rtlCol="0" anchor="ctr"/>
          <a:lstStyle/>
          <a:p>
            <a:pPr marL="0" indent="0">
              <a:buNone/>
            </a:pPr>
            <a:r>
              <a:rPr lang="en-US" sz="1900" dirty="0">
                <a:solidFill>
                  <a:srgbClr val="11110F"/>
                </a:solidFill>
                <a:latin typeface="Cormorant Garamond" pitchFamily="34" charset="0"/>
                <a:ea typeface="Cormorant Garamond" pitchFamily="34" charset="-122"/>
                <a:cs typeface="Cormorant Garamond" pitchFamily="34" charset="-120"/>
              </a:rPr>
              <a:t>Setting</a:t>
            </a:r>
            <a:endParaRPr lang="en-US" sz="1900" dirty="0"/>
          </a:p>
        </p:txBody>
      </p:sp>
      <p:sp>
        <p:nvSpPr>
          <p:cNvPr id="19" name="s4-19"/>
          <p:cNvSpPr/>
          <p:nvPr/>
        </p:nvSpPr>
        <p:spPr>
          <a:xfrm>
            <a:off x="4089400" y="2895600"/>
            <a:ext cx="2895600" cy="0"/>
          </a:xfrm>
          <a:prstGeom prst="line">
            <a:avLst/>
          </a:prstGeom>
          <a:noFill/>
          <a:ln w="9525">
            <a:solidFill>
              <a:srgbClr val="C9C0B2"/>
            </a:solidFill>
            <a:prstDash val="solid"/>
          </a:ln>
        </p:spPr>
      </p:sp>
      <p:sp>
        <p:nvSpPr>
          <p:cNvPr id="20" name="s4-20"/>
          <p:cNvSpPr/>
          <p:nvPr/>
        </p:nvSpPr>
        <p:spPr>
          <a:xfrm>
            <a:off x="4089400" y="2895600"/>
            <a:ext cx="2895600" cy="660400"/>
          </a:xfrm>
          <a:prstGeom prst="rect">
            <a:avLst/>
          </a:prstGeom>
          <a:noFill/>
          <a:ln/>
        </p:spPr>
        <p:txBody>
          <a:bodyPr wrap="square" lIns="0" tIns="0" rIns="0" bIns="0" rtlCol="0" anchor="ctr"/>
          <a:lstStyle/>
          <a:p>
            <a:pPr marL="0" indent="0">
              <a:buNone/>
            </a:pPr>
            <a:r>
              <a:rPr lang="en-US" sz="1900" dirty="0">
                <a:solidFill>
                  <a:srgbClr val="11110F"/>
                </a:solidFill>
                <a:latin typeface="Cormorant Garamond" pitchFamily="34" charset="0"/>
                <a:ea typeface="Cormorant Garamond" pitchFamily="34" charset="-122"/>
                <a:cs typeface="Cormorant Garamond" pitchFamily="34" charset="-120"/>
              </a:rPr>
              <a:t>History</a:t>
            </a:r>
            <a:endParaRPr lang="en-US" sz="1900" dirty="0"/>
          </a:p>
        </p:txBody>
      </p:sp>
      <p:sp>
        <p:nvSpPr>
          <p:cNvPr id="21" name="s4-21"/>
          <p:cNvSpPr/>
          <p:nvPr/>
        </p:nvSpPr>
        <p:spPr>
          <a:xfrm>
            <a:off x="4089400" y="3556000"/>
            <a:ext cx="2895600" cy="0"/>
          </a:xfrm>
          <a:prstGeom prst="line">
            <a:avLst/>
          </a:prstGeom>
          <a:noFill/>
          <a:ln w="9525">
            <a:solidFill>
              <a:srgbClr val="C9C0B2"/>
            </a:solidFill>
            <a:prstDash val="solid"/>
          </a:ln>
        </p:spPr>
      </p:sp>
      <p:sp>
        <p:nvSpPr>
          <p:cNvPr id="22" name="s4-22"/>
          <p:cNvSpPr/>
          <p:nvPr/>
        </p:nvSpPr>
        <p:spPr>
          <a:xfrm>
            <a:off x="4089400" y="3556000"/>
            <a:ext cx="2895600" cy="660400"/>
          </a:xfrm>
          <a:prstGeom prst="rect">
            <a:avLst/>
          </a:prstGeom>
          <a:noFill/>
          <a:ln/>
        </p:spPr>
        <p:txBody>
          <a:bodyPr wrap="square" lIns="0" tIns="0" rIns="0" bIns="0" rtlCol="0" anchor="ctr"/>
          <a:lstStyle/>
          <a:p>
            <a:pPr marL="0" indent="0">
              <a:buNone/>
            </a:pPr>
            <a:r>
              <a:rPr lang="en-US" sz="1900" dirty="0">
                <a:solidFill>
                  <a:srgbClr val="11110F"/>
                </a:solidFill>
                <a:latin typeface="Cormorant Garamond" pitchFamily="34" charset="0"/>
                <a:ea typeface="Cormorant Garamond" pitchFamily="34" charset="-122"/>
                <a:cs typeface="Cormorant Garamond" pitchFamily="34" charset="-120"/>
              </a:rPr>
              <a:t>Craft</a:t>
            </a:r>
            <a:endParaRPr lang="en-US" sz="1900" dirty="0"/>
          </a:p>
        </p:txBody>
      </p:sp>
      <p:sp>
        <p:nvSpPr>
          <p:cNvPr id="23" name="s4-23"/>
          <p:cNvSpPr/>
          <p:nvPr/>
        </p:nvSpPr>
        <p:spPr>
          <a:xfrm>
            <a:off x="4089400" y="4216400"/>
            <a:ext cx="2895600" cy="0"/>
          </a:xfrm>
          <a:prstGeom prst="line">
            <a:avLst/>
          </a:prstGeom>
          <a:noFill/>
          <a:ln w="9525">
            <a:solidFill>
              <a:srgbClr val="C9C0B2"/>
            </a:solidFill>
            <a:prstDash val="solid"/>
          </a:ln>
        </p:spPr>
      </p:sp>
      <p:sp>
        <p:nvSpPr>
          <p:cNvPr id="24" name="s4-24"/>
          <p:cNvSpPr/>
          <p:nvPr/>
        </p:nvSpPr>
        <p:spPr>
          <a:xfrm>
            <a:off x="4089400" y="4216400"/>
            <a:ext cx="2895600" cy="660400"/>
          </a:xfrm>
          <a:prstGeom prst="rect">
            <a:avLst/>
          </a:prstGeom>
          <a:noFill/>
          <a:ln/>
        </p:spPr>
        <p:txBody>
          <a:bodyPr wrap="square" lIns="0" tIns="0" rIns="0" bIns="0" rtlCol="0" anchor="ctr"/>
          <a:lstStyle/>
          <a:p>
            <a:pPr marL="0" indent="0">
              <a:buNone/>
            </a:pPr>
            <a:r>
              <a:rPr lang="en-US" sz="1900" dirty="0">
                <a:solidFill>
                  <a:srgbClr val="11110F"/>
                </a:solidFill>
                <a:latin typeface="Cormorant Garamond" pitchFamily="34" charset="0"/>
                <a:ea typeface="Cormorant Garamond" pitchFamily="34" charset="-122"/>
                <a:cs typeface="Cormorant Garamond" pitchFamily="34" charset="-120"/>
              </a:rPr>
              <a:t>Sense of place</a:t>
            </a:r>
            <a:endParaRPr lang="en-US" sz="1900" dirty="0"/>
          </a:p>
        </p:txBody>
      </p:sp>
      <p:sp>
        <p:nvSpPr>
          <p:cNvPr id="25" name="s4-25"/>
          <p:cNvSpPr/>
          <p:nvPr/>
        </p:nvSpPr>
        <p:spPr>
          <a:xfrm>
            <a:off x="4089400" y="4876800"/>
            <a:ext cx="2895600" cy="0"/>
          </a:xfrm>
          <a:prstGeom prst="line">
            <a:avLst/>
          </a:prstGeom>
          <a:noFill/>
          <a:ln w="9525">
            <a:solidFill>
              <a:srgbClr val="C9C0B2"/>
            </a:solidFill>
            <a:prstDash val="solid"/>
          </a:ln>
        </p:spPr>
      </p:sp>
      <p:sp>
        <p:nvSpPr>
          <p:cNvPr id="26" name="s4-26"/>
          <p:cNvSpPr/>
          <p:nvPr/>
        </p:nvSpPr>
        <p:spPr>
          <a:xfrm>
            <a:off x="736600" y="5207000"/>
            <a:ext cx="6248400" cy="457200"/>
          </a:xfrm>
          <a:prstGeom prst="rect">
            <a:avLst/>
          </a:prstGeom>
          <a:noFill/>
          <a:ln/>
        </p:spPr>
        <p:txBody>
          <a:bodyPr wrap="square" lIns="0" tIns="0" rIns="0" bIns="0" rtlCol="0" anchor="ctr"/>
          <a:lstStyle/>
          <a:p>
            <a:pPr marL="0" indent="0">
              <a:buNone/>
            </a:pPr>
            <a:r>
              <a:rPr lang="en-US" sz="2200" i="1" dirty="0">
                <a:solidFill>
                  <a:srgbClr val="11110F"/>
                </a:solidFill>
                <a:latin typeface="Cormorant Garamond" pitchFamily="34" charset="0"/>
                <a:ea typeface="Cormorant Garamond" pitchFamily="34" charset="-122"/>
                <a:cs typeface="Cormorant Garamond" pitchFamily="34" charset="-120"/>
              </a:rPr>
              <a:t>Price is not on the list.</a:t>
            </a:r>
            <a:endParaRPr lang="en-US" sz="2200" dirty="0"/>
          </a:p>
        </p:txBody>
      </p:sp>
    </p:spTree>
    <p:extLst>
      <p:ext uri="{BB962C8B-B14F-4D97-AF65-F5344CB8AC3E}">
        <p14:creationId xmlns:p14="http://schemas.microsoft.com/office/powerpoint/2010/main" val="399597707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15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1250" decel="100000"/>
                                        <p:tgtEl>
                                          <p:spTgt spid="8"/>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950"/>
                                        <p:tgtEl>
                                          <p:spTgt spid="9"/>
                                        </p:tgtEl>
                                      </p:cBhvr>
                                    </p:animEffect>
                                    <p:anim calcmode="lin" valueType="num">
                                      <p:cBhvr>
                                        <p:cTn id="11" dur="950" decel="100000" fill="hold"/>
                                        <p:tgtEl>
                                          <p:spTgt spid="9"/>
                                        </p:tgtEl>
                                        <p:attrNameLst>
                                          <p:attrName>ppt_x</p:attrName>
                                        </p:attrNameLst>
                                      </p:cBhvr>
                                      <p:tavLst>
                                        <p:tav tm="0">
                                          <p:val>
                                            <p:strVal val="#ppt_x"/>
                                          </p:val>
                                        </p:tav>
                                        <p:tav tm="100000">
                                          <p:val>
                                            <p:strVal val="#ppt_x"/>
                                          </p:val>
                                        </p:tav>
                                      </p:tavLst>
                                    </p:anim>
                                    <p:anim calcmode="lin" valueType="num">
                                      <p:cBhvr>
                                        <p:cTn id="12" dur="950" decel="100000" fill="hold"/>
                                        <p:tgtEl>
                                          <p:spTgt spid="9"/>
                                        </p:tgtEl>
                                        <p:attrNameLst>
                                          <p:attrName>ppt_y</p:attrName>
                                        </p:attrNameLst>
                                      </p:cBhvr>
                                      <p:tavLst>
                                        <p:tav tm="0">
                                          <p:val>
                                            <p:strVal val="#ppt_y+0.022"/>
                                          </p:val>
                                        </p:tav>
                                        <p:tav tm="100000">
                                          <p:val>
                                            <p:strVal val="#ppt_y"/>
                                          </p:val>
                                        </p:tav>
                                      </p:tavLst>
                                    </p:anim>
                                  </p:childTnLst>
                                </p:cTn>
                              </p:par>
                              <p:par>
                                <p:cTn id="13" presetID="22" presetClass="entr" presetSubtype="8" fill="hold" nodeType="withEffect">
                                  <p:stCondLst>
                                    <p:cond delay="150"/>
                                  </p:stCondLst>
                                  <p:childTnLst>
                                    <p:set>
                                      <p:cBhvr>
                                        <p:cTn id="14" dur="1" fill="hold">
                                          <p:stCondLst>
                                            <p:cond delay="0"/>
                                          </p:stCondLst>
                                        </p:cTn>
                                        <p:tgtEl>
                                          <p:spTgt spid="17"/>
                                        </p:tgtEl>
                                        <p:attrNameLst>
                                          <p:attrName>style.visibility</p:attrName>
                                        </p:attrNameLst>
                                      </p:cBhvr>
                                      <p:to>
                                        <p:strVal val="visible"/>
                                      </p:to>
                                    </p:set>
                                    <p:animEffect transition="in" filter="wipe(left)">
                                      <p:cBhvr>
                                        <p:cTn id="15" dur="1250" decel="100000"/>
                                        <p:tgtEl>
                                          <p:spTgt spid="17"/>
                                        </p:tgtEl>
                                      </p:cBhvr>
                                    </p:animEffect>
                                  </p:childTnLst>
                                </p:cTn>
                              </p:par>
                              <p:par>
                                <p:cTn id="16" presetID="10" presetClass="entr" presetSubtype="0" fill="hold" grpId="0" nodeType="withEffect">
                                  <p:stCondLst>
                                    <p:cond delay="15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950"/>
                                        <p:tgtEl>
                                          <p:spTgt spid="18"/>
                                        </p:tgtEl>
                                      </p:cBhvr>
                                    </p:animEffect>
                                    <p:anim calcmode="lin" valueType="num">
                                      <p:cBhvr>
                                        <p:cTn id="19" dur="950" decel="100000" fill="hold"/>
                                        <p:tgtEl>
                                          <p:spTgt spid="18"/>
                                        </p:tgtEl>
                                        <p:attrNameLst>
                                          <p:attrName>ppt_x</p:attrName>
                                        </p:attrNameLst>
                                      </p:cBhvr>
                                      <p:tavLst>
                                        <p:tav tm="0">
                                          <p:val>
                                            <p:strVal val="#ppt_x"/>
                                          </p:val>
                                        </p:tav>
                                        <p:tav tm="100000">
                                          <p:val>
                                            <p:strVal val="#ppt_x"/>
                                          </p:val>
                                        </p:tav>
                                      </p:tavLst>
                                    </p:anim>
                                    <p:anim calcmode="lin" valueType="num">
                                      <p:cBhvr>
                                        <p:cTn id="20" dur="950" decel="100000" fill="hold"/>
                                        <p:tgtEl>
                                          <p:spTgt spid="18"/>
                                        </p:tgtEl>
                                        <p:attrNameLst>
                                          <p:attrName>ppt_y</p:attrName>
                                        </p:attrNameLst>
                                      </p:cBhvr>
                                      <p:tavLst>
                                        <p:tav tm="0">
                                          <p:val>
                                            <p:strVal val="#ppt_y+0.022"/>
                                          </p:val>
                                        </p:tav>
                                        <p:tav tm="100000">
                                          <p:val>
                                            <p:strVal val="#ppt_y"/>
                                          </p:val>
                                        </p:tav>
                                      </p:tavLst>
                                    </p:anim>
                                  </p:childTnLst>
                                </p:cTn>
                              </p:par>
                              <p:par>
                                <p:cTn id="21" presetID="22" presetClass="entr" presetSubtype="8" fill="hold" nodeType="withEffect">
                                  <p:stCondLst>
                                    <p:cond delay="26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1250" decel="100000"/>
                                        <p:tgtEl>
                                          <p:spTgt spid="10"/>
                                        </p:tgtEl>
                                      </p:cBhvr>
                                    </p:animEffect>
                                  </p:childTnLst>
                                </p:cTn>
                              </p:par>
                              <p:par>
                                <p:cTn id="24" presetID="10" presetClass="entr" presetSubtype="0" fill="hold" grpId="0" nodeType="withEffect">
                                  <p:stCondLst>
                                    <p:cond delay="26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950"/>
                                        <p:tgtEl>
                                          <p:spTgt spid="11"/>
                                        </p:tgtEl>
                                      </p:cBhvr>
                                    </p:animEffect>
                                    <p:anim calcmode="lin" valueType="num">
                                      <p:cBhvr>
                                        <p:cTn id="27" dur="950" decel="100000" fill="hold"/>
                                        <p:tgtEl>
                                          <p:spTgt spid="11"/>
                                        </p:tgtEl>
                                        <p:attrNameLst>
                                          <p:attrName>ppt_x</p:attrName>
                                        </p:attrNameLst>
                                      </p:cBhvr>
                                      <p:tavLst>
                                        <p:tav tm="0">
                                          <p:val>
                                            <p:strVal val="#ppt_x"/>
                                          </p:val>
                                        </p:tav>
                                        <p:tav tm="100000">
                                          <p:val>
                                            <p:strVal val="#ppt_x"/>
                                          </p:val>
                                        </p:tav>
                                      </p:tavLst>
                                    </p:anim>
                                    <p:anim calcmode="lin" valueType="num">
                                      <p:cBhvr>
                                        <p:cTn id="28" dur="950" decel="100000" fill="hold"/>
                                        <p:tgtEl>
                                          <p:spTgt spid="11"/>
                                        </p:tgtEl>
                                        <p:attrNameLst>
                                          <p:attrName>ppt_y</p:attrName>
                                        </p:attrNameLst>
                                      </p:cBhvr>
                                      <p:tavLst>
                                        <p:tav tm="0">
                                          <p:val>
                                            <p:strVal val="#ppt_y+0.022"/>
                                          </p:val>
                                        </p:tav>
                                        <p:tav tm="100000">
                                          <p:val>
                                            <p:strVal val="#ppt_y"/>
                                          </p:val>
                                        </p:tav>
                                      </p:tavLst>
                                    </p:anim>
                                  </p:childTnLst>
                                </p:cTn>
                              </p:par>
                              <p:par>
                                <p:cTn id="29" presetID="22" presetClass="entr" presetSubtype="8" fill="hold" nodeType="withEffect">
                                  <p:stCondLst>
                                    <p:cond delay="260"/>
                                  </p:stCondLst>
                                  <p:childTnLst>
                                    <p:set>
                                      <p:cBhvr>
                                        <p:cTn id="30" dur="1" fill="hold">
                                          <p:stCondLst>
                                            <p:cond delay="0"/>
                                          </p:stCondLst>
                                        </p:cTn>
                                        <p:tgtEl>
                                          <p:spTgt spid="19"/>
                                        </p:tgtEl>
                                        <p:attrNameLst>
                                          <p:attrName>style.visibility</p:attrName>
                                        </p:attrNameLst>
                                      </p:cBhvr>
                                      <p:to>
                                        <p:strVal val="visible"/>
                                      </p:to>
                                    </p:set>
                                    <p:animEffect transition="in" filter="wipe(left)">
                                      <p:cBhvr>
                                        <p:cTn id="31" dur="1250" decel="100000"/>
                                        <p:tgtEl>
                                          <p:spTgt spid="19"/>
                                        </p:tgtEl>
                                      </p:cBhvr>
                                    </p:animEffect>
                                  </p:childTnLst>
                                </p:cTn>
                              </p:par>
                              <p:par>
                                <p:cTn id="32" presetID="10" presetClass="entr" presetSubtype="0" fill="hold" grpId="0" nodeType="withEffect">
                                  <p:stCondLst>
                                    <p:cond delay="26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950"/>
                                        <p:tgtEl>
                                          <p:spTgt spid="20"/>
                                        </p:tgtEl>
                                      </p:cBhvr>
                                    </p:animEffect>
                                    <p:anim calcmode="lin" valueType="num">
                                      <p:cBhvr>
                                        <p:cTn id="35" dur="950" decel="100000" fill="hold"/>
                                        <p:tgtEl>
                                          <p:spTgt spid="20"/>
                                        </p:tgtEl>
                                        <p:attrNameLst>
                                          <p:attrName>ppt_x</p:attrName>
                                        </p:attrNameLst>
                                      </p:cBhvr>
                                      <p:tavLst>
                                        <p:tav tm="0">
                                          <p:val>
                                            <p:strVal val="#ppt_x"/>
                                          </p:val>
                                        </p:tav>
                                        <p:tav tm="100000">
                                          <p:val>
                                            <p:strVal val="#ppt_x"/>
                                          </p:val>
                                        </p:tav>
                                      </p:tavLst>
                                    </p:anim>
                                    <p:anim calcmode="lin" valueType="num">
                                      <p:cBhvr>
                                        <p:cTn id="36" dur="950" decel="100000" fill="hold"/>
                                        <p:tgtEl>
                                          <p:spTgt spid="20"/>
                                        </p:tgtEl>
                                        <p:attrNameLst>
                                          <p:attrName>ppt_y</p:attrName>
                                        </p:attrNameLst>
                                      </p:cBhvr>
                                      <p:tavLst>
                                        <p:tav tm="0">
                                          <p:val>
                                            <p:strVal val="#ppt_y+0.022"/>
                                          </p:val>
                                        </p:tav>
                                        <p:tav tm="100000">
                                          <p:val>
                                            <p:strVal val="#ppt_y"/>
                                          </p:val>
                                        </p:tav>
                                      </p:tavLst>
                                    </p:anim>
                                  </p:childTnLst>
                                </p:cTn>
                              </p:par>
                              <p:par>
                                <p:cTn id="37" presetID="22" presetClass="entr" presetSubtype="8" fill="hold" nodeType="withEffect">
                                  <p:stCondLst>
                                    <p:cond delay="37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1250" decel="100000"/>
                                        <p:tgtEl>
                                          <p:spTgt spid="12"/>
                                        </p:tgtEl>
                                      </p:cBhvr>
                                    </p:animEffect>
                                  </p:childTnLst>
                                </p:cTn>
                              </p:par>
                              <p:par>
                                <p:cTn id="40" presetID="10" presetClass="entr" presetSubtype="0" fill="hold" grpId="0" nodeType="withEffect">
                                  <p:stCondLst>
                                    <p:cond delay="37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950"/>
                                        <p:tgtEl>
                                          <p:spTgt spid="13"/>
                                        </p:tgtEl>
                                      </p:cBhvr>
                                    </p:animEffect>
                                    <p:anim calcmode="lin" valueType="num">
                                      <p:cBhvr>
                                        <p:cTn id="43" dur="950" decel="100000" fill="hold"/>
                                        <p:tgtEl>
                                          <p:spTgt spid="13"/>
                                        </p:tgtEl>
                                        <p:attrNameLst>
                                          <p:attrName>ppt_x</p:attrName>
                                        </p:attrNameLst>
                                      </p:cBhvr>
                                      <p:tavLst>
                                        <p:tav tm="0">
                                          <p:val>
                                            <p:strVal val="#ppt_x"/>
                                          </p:val>
                                        </p:tav>
                                        <p:tav tm="100000">
                                          <p:val>
                                            <p:strVal val="#ppt_x"/>
                                          </p:val>
                                        </p:tav>
                                      </p:tavLst>
                                    </p:anim>
                                    <p:anim calcmode="lin" valueType="num">
                                      <p:cBhvr>
                                        <p:cTn id="44" dur="950" decel="100000" fill="hold"/>
                                        <p:tgtEl>
                                          <p:spTgt spid="13"/>
                                        </p:tgtEl>
                                        <p:attrNameLst>
                                          <p:attrName>ppt_y</p:attrName>
                                        </p:attrNameLst>
                                      </p:cBhvr>
                                      <p:tavLst>
                                        <p:tav tm="0">
                                          <p:val>
                                            <p:strVal val="#ppt_y+0.022"/>
                                          </p:val>
                                        </p:tav>
                                        <p:tav tm="100000">
                                          <p:val>
                                            <p:strVal val="#ppt_y"/>
                                          </p:val>
                                        </p:tav>
                                      </p:tavLst>
                                    </p:anim>
                                  </p:childTnLst>
                                </p:cTn>
                              </p:par>
                              <p:par>
                                <p:cTn id="45" presetID="22" presetClass="entr" presetSubtype="8" fill="hold" nodeType="withEffect">
                                  <p:stCondLst>
                                    <p:cond delay="370"/>
                                  </p:stCondLst>
                                  <p:childTnLst>
                                    <p:set>
                                      <p:cBhvr>
                                        <p:cTn id="46" dur="1" fill="hold">
                                          <p:stCondLst>
                                            <p:cond delay="0"/>
                                          </p:stCondLst>
                                        </p:cTn>
                                        <p:tgtEl>
                                          <p:spTgt spid="21"/>
                                        </p:tgtEl>
                                        <p:attrNameLst>
                                          <p:attrName>style.visibility</p:attrName>
                                        </p:attrNameLst>
                                      </p:cBhvr>
                                      <p:to>
                                        <p:strVal val="visible"/>
                                      </p:to>
                                    </p:set>
                                    <p:animEffect transition="in" filter="wipe(left)">
                                      <p:cBhvr>
                                        <p:cTn id="47" dur="1250" decel="100000"/>
                                        <p:tgtEl>
                                          <p:spTgt spid="21"/>
                                        </p:tgtEl>
                                      </p:cBhvr>
                                    </p:animEffect>
                                  </p:childTnLst>
                                </p:cTn>
                              </p:par>
                              <p:par>
                                <p:cTn id="48" presetID="10" presetClass="entr" presetSubtype="0" fill="hold" grpId="0" nodeType="withEffect">
                                  <p:stCondLst>
                                    <p:cond delay="37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950"/>
                                        <p:tgtEl>
                                          <p:spTgt spid="22"/>
                                        </p:tgtEl>
                                      </p:cBhvr>
                                    </p:animEffect>
                                    <p:anim calcmode="lin" valueType="num">
                                      <p:cBhvr>
                                        <p:cTn id="51" dur="950" decel="100000" fill="hold"/>
                                        <p:tgtEl>
                                          <p:spTgt spid="22"/>
                                        </p:tgtEl>
                                        <p:attrNameLst>
                                          <p:attrName>ppt_x</p:attrName>
                                        </p:attrNameLst>
                                      </p:cBhvr>
                                      <p:tavLst>
                                        <p:tav tm="0">
                                          <p:val>
                                            <p:strVal val="#ppt_x"/>
                                          </p:val>
                                        </p:tav>
                                        <p:tav tm="100000">
                                          <p:val>
                                            <p:strVal val="#ppt_x"/>
                                          </p:val>
                                        </p:tav>
                                      </p:tavLst>
                                    </p:anim>
                                    <p:anim calcmode="lin" valueType="num">
                                      <p:cBhvr>
                                        <p:cTn id="52" dur="950" decel="100000" fill="hold"/>
                                        <p:tgtEl>
                                          <p:spTgt spid="22"/>
                                        </p:tgtEl>
                                        <p:attrNameLst>
                                          <p:attrName>ppt_y</p:attrName>
                                        </p:attrNameLst>
                                      </p:cBhvr>
                                      <p:tavLst>
                                        <p:tav tm="0">
                                          <p:val>
                                            <p:strVal val="#ppt_y+0.022"/>
                                          </p:val>
                                        </p:tav>
                                        <p:tav tm="100000">
                                          <p:val>
                                            <p:strVal val="#ppt_y"/>
                                          </p:val>
                                        </p:tav>
                                      </p:tavLst>
                                    </p:anim>
                                  </p:childTnLst>
                                </p:cTn>
                              </p:par>
                              <p:par>
                                <p:cTn id="53" presetID="22" presetClass="entr" presetSubtype="8" fill="hold" nodeType="withEffect">
                                  <p:stCondLst>
                                    <p:cond delay="480"/>
                                  </p:stCondLst>
                                  <p:childTnLst>
                                    <p:set>
                                      <p:cBhvr>
                                        <p:cTn id="54" dur="1" fill="hold">
                                          <p:stCondLst>
                                            <p:cond delay="0"/>
                                          </p:stCondLst>
                                        </p:cTn>
                                        <p:tgtEl>
                                          <p:spTgt spid="14"/>
                                        </p:tgtEl>
                                        <p:attrNameLst>
                                          <p:attrName>style.visibility</p:attrName>
                                        </p:attrNameLst>
                                      </p:cBhvr>
                                      <p:to>
                                        <p:strVal val="visible"/>
                                      </p:to>
                                    </p:set>
                                    <p:animEffect transition="in" filter="wipe(left)">
                                      <p:cBhvr>
                                        <p:cTn id="55" dur="1250" decel="100000"/>
                                        <p:tgtEl>
                                          <p:spTgt spid="14"/>
                                        </p:tgtEl>
                                      </p:cBhvr>
                                    </p:animEffect>
                                  </p:childTnLst>
                                </p:cTn>
                              </p:par>
                              <p:par>
                                <p:cTn id="56" presetID="10" presetClass="entr" presetSubtype="0" fill="hold" grpId="0" nodeType="withEffect">
                                  <p:stCondLst>
                                    <p:cond delay="480"/>
                                  </p:stCondLst>
                                  <p:childTnLst>
                                    <p:set>
                                      <p:cBhvr>
                                        <p:cTn id="57" dur="1" fill="hold">
                                          <p:stCondLst>
                                            <p:cond delay="0"/>
                                          </p:stCondLst>
                                        </p:cTn>
                                        <p:tgtEl>
                                          <p:spTgt spid="15"/>
                                        </p:tgtEl>
                                        <p:attrNameLst>
                                          <p:attrName>style.visibility</p:attrName>
                                        </p:attrNameLst>
                                      </p:cBhvr>
                                      <p:to>
                                        <p:strVal val="visible"/>
                                      </p:to>
                                    </p:set>
                                    <p:animEffect transition="in" filter="fade">
                                      <p:cBhvr>
                                        <p:cTn id="58" dur="950"/>
                                        <p:tgtEl>
                                          <p:spTgt spid="15"/>
                                        </p:tgtEl>
                                      </p:cBhvr>
                                    </p:animEffect>
                                    <p:anim calcmode="lin" valueType="num">
                                      <p:cBhvr>
                                        <p:cTn id="59" dur="950" decel="100000" fill="hold"/>
                                        <p:tgtEl>
                                          <p:spTgt spid="15"/>
                                        </p:tgtEl>
                                        <p:attrNameLst>
                                          <p:attrName>ppt_x</p:attrName>
                                        </p:attrNameLst>
                                      </p:cBhvr>
                                      <p:tavLst>
                                        <p:tav tm="0">
                                          <p:val>
                                            <p:strVal val="#ppt_x"/>
                                          </p:val>
                                        </p:tav>
                                        <p:tav tm="100000">
                                          <p:val>
                                            <p:strVal val="#ppt_x"/>
                                          </p:val>
                                        </p:tav>
                                      </p:tavLst>
                                    </p:anim>
                                    <p:anim calcmode="lin" valueType="num">
                                      <p:cBhvr>
                                        <p:cTn id="60" dur="950" decel="100000" fill="hold"/>
                                        <p:tgtEl>
                                          <p:spTgt spid="15"/>
                                        </p:tgtEl>
                                        <p:attrNameLst>
                                          <p:attrName>ppt_y</p:attrName>
                                        </p:attrNameLst>
                                      </p:cBhvr>
                                      <p:tavLst>
                                        <p:tav tm="0">
                                          <p:val>
                                            <p:strVal val="#ppt_y+0.022"/>
                                          </p:val>
                                        </p:tav>
                                        <p:tav tm="100000">
                                          <p:val>
                                            <p:strVal val="#ppt_y"/>
                                          </p:val>
                                        </p:tav>
                                      </p:tavLst>
                                    </p:anim>
                                  </p:childTnLst>
                                </p:cTn>
                              </p:par>
                              <p:par>
                                <p:cTn id="61" presetID="22" presetClass="entr" presetSubtype="8" fill="hold" nodeType="withEffect">
                                  <p:stCondLst>
                                    <p:cond delay="480"/>
                                  </p:stCondLst>
                                  <p:childTnLst>
                                    <p:set>
                                      <p:cBhvr>
                                        <p:cTn id="62" dur="1" fill="hold">
                                          <p:stCondLst>
                                            <p:cond delay="0"/>
                                          </p:stCondLst>
                                        </p:cTn>
                                        <p:tgtEl>
                                          <p:spTgt spid="23"/>
                                        </p:tgtEl>
                                        <p:attrNameLst>
                                          <p:attrName>style.visibility</p:attrName>
                                        </p:attrNameLst>
                                      </p:cBhvr>
                                      <p:to>
                                        <p:strVal val="visible"/>
                                      </p:to>
                                    </p:set>
                                    <p:animEffect transition="in" filter="wipe(left)">
                                      <p:cBhvr>
                                        <p:cTn id="63" dur="1250" decel="100000"/>
                                        <p:tgtEl>
                                          <p:spTgt spid="23"/>
                                        </p:tgtEl>
                                      </p:cBhvr>
                                    </p:animEffect>
                                  </p:childTnLst>
                                </p:cTn>
                              </p:par>
                              <p:par>
                                <p:cTn id="64" presetID="10" presetClass="entr" presetSubtype="0" fill="hold" grpId="0" nodeType="withEffect">
                                  <p:stCondLst>
                                    <p:cond delay="480"/>
                                  </p:stCondLst>
                                  <p:childTnLst>
                                    <p:set>
                                      <p:cBhvr>
                                        <p:cTn id="65" dur="1" fill="hold">
                                          <p:stCondLst>
                                            <p:cond delay="0"/>
                                          </p:stCondLst>
                                        </p:cTn>
                                        <p:tgtEl>
                                          <p:spTgt spid="24"/>
                                        </p:tgtEl>
                                        <p:attrNameLst>
                                          <p:attrName>style.visibility</p:attrName>
                                        </p:attrNameLst>
                                      </p:cBhvr>
                                      <p:to>
                                        <p:strVal val="visible"/>
                                      </p:to>
                                    </p:set>
                                    <p:animEffect transition="in" filter="fade">
                                      <p:cBhvr>
                                        <p:cTn id="66" dur="950"/>
                                        <p:tgtEl>
                                          <p:spTgt spid="24"/>
                                        </p:tgtEl>
                                      </p:cBhvr>
                                    </p:animEffect>
                                    <p:anim calcmode="lin" valueType="num">
                                      <p:cBhvr>
                                        <p:cTn id="67" dur="950" decel="100000" fill="hold"/>
                                        <p:tgtEl>
                                          <p:spTgt spid="24"/>
                                        </p:tgtEl>
                                        <p:attrNameLst>
                                          <p:attrName>ppt_x</p:attrName>
                                        </p:attrNameLst>
                                      </p:cBhvr>
                                      <p:tavLst>
                                        <p:tav tm="0">
                                          <p:val>
                                            <p:strVal val="#ppt_x"/>
                                          </p:val>
                                        </p:tav>
                                        <p:tav tm="100000">
                                          <p:val>
                                            <p:strVal val="#ppt_x"/>
                                          </p:val>
                                        </p:tav>
                                      </p:tavLst>
                                    </p:anim>
                                    <p:anim calcmode="lin" valueType="num">
                                      <p:cBhvr>
                                        <p:cTn id="68" dur="950" decel="100000" fill="hold"/>
                                        <p:tgtEl>
                                          <p:spTgt spid="24"/>
                                        </p:tgtEl>
                                        <p:attrNameLst>
                                          <p:attrName>ppt_y</p:attrName>
                                        </p:attrNameLst>
                                      </p:cBhvr>
                                      <p:tavLst>
                                        <p:tav tm="0">
                                          <p:val>
                                            <p:strVal val="#ppt_y+0.022"/>
                                          </p:val>
                                        </p:tav>
                                        <p:tav tm="100000">
                                          <p:val>
                                            <p:strVal val="#ppt_y"/>
                                          </p:val>
                                        </p:tav>
                                      </p:tavLst>
                                    </p:anim>
                                  </p:childTnLst>
                                </p:cTn>
                              </p:par>
                              <p:par>
                                <p:cTn id="69" presetID="22" presetClass="entr" presetSubtype="8" fill="hold" nodeType="withEffect">
                                  <p:stCondLst>
                                    <p:cond delay="590"/>
                                  </p:stCondLst>
                                  <p:childTnLst>
                                    <p:set>
                                      <p:cBhvr>
                                        <p:cTn id="70" dur="1" fill="hold">
                                          <p:stCondLst>
                                            <p:cond delay="0"/>
                                          </p:stCondLst>
                                        </p:cTn>
                                        <p:tgtEl>
                                          <p:spTgt spid="16"/>
                                        </p:tgtEl>
                                        <p:attrNameLst>
                                          <p:attrName>style.visibility</p:attrName>
                                        </p:attrNameLst>
                                      </p:cBhvr>
                                      <p:to>
                                        <p:strVal val="visible"/>
                                      </p:to>
                                    </p:set>
                                    <p:animEffect transition="in" filter="wipe(left)">
                                      <p:cBhvr>
                                        <p:cTn id="71" dur="1250" decel="100000"/>
                                        <p:tgtEl>
                                          <p:spTgt spid="16"/>
                                        </p:tgtEl>
                                      </p:cBhvr>
                                    </p:animEffect>
                                  </p:childTnLst>
                                </p:cTn>
                              </p:par>
                              <p:par>
                                <p:cTn id="72" presetID="22" presetClass="entr" presetSubtype="8" fill="hold" nodeType="withEffect">
                                  <p:stCondLst>
                                    <p:cond delay="590"/>
                                  </p:stCondLst>
                                  <p:childTnLst>
                                    <p:set>
                                      <p:cBhvr>
                                        <p:cTn id="73" dur="1" fill="hold">
                                          <p:stCondLst>
                                            <p:cond delay="0"/>
                                          </p:stCondLst>
                                        </p:cTn>
                                        <p:tgtEl>
                                          <p:spTgt spid="25"/>
                                        </p:tgtEl>
                                        <p:attrNameLst>
                                          <p:attrName>style.visibility</p:attrName>
                                        </p:attrNameLst>
                                      </p:cBhvr>
                                      <p:to>
                                        <p:strVal val="visible"/>
                                      </p:to>
                                    </p:set>
                                    <p:animEffect transition="in" filter="wipe(left)">
                                      <p:cBhvr>
                                        <p:cTn id="74" dur="1250" decel="100000"/>
                                        <p:tgtEl>
                                          <p:spTgt spid="25"/>
                                        </p:tgtEl>
                                      </p:cBhvr>
                                    </p:animEffect>
                                  </p:childTnLst>
                                </p:cTn>
                              </p:par>
                              <p:par>
                                <p:cTn id="75" presetID="10" presetClass="entr" presetSubtype="0" fill="hold" grpId="0" nodeType="withEffect">
                                  <p:stCondLst>
                                    <p:cond delay="70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950"/>
                                        <p:tgtEl>
                                          <p:spTgt spid="26"/>
                                        </p:tgtEl>
                                      </p:cBhvr>
                                    </p:animEffect>
                                    <p:anim calcmode="lin" valueType="num">
                                      <p:cBhvr>
                                        <p:cTn id="78" dur="950" decel="100000" fill="hold"/>
                                        <p:tgtEl>
                                          <p:spTgt spid="26"/>
                                        </p:tgtEl>
                                        <p:attrNameLst>
                                          <p:attrName>ppt_x</p:attrName>
                                        </p:attrNameLst>
                                      </p:cBhvr>
                                      <p:tavLst>
                                        <p:tav tm="0">
                                          <p:val>
                                            <p:strVal val="#ppt_x"/>
                                          </p:val>
                                        </p:tav>
                                        <p:tav tm="100000">
                                          <p:val>
                                            <p:strVal val="#ppt_x"/>
                                          </p:val>
                                        </p:tav>
                                      </p:tavLst>
                                    </p:anim>
                                    <p:anim calcmode="lin" valueType="num">
                                      <p:cBhvr>
                                        <p:cTn id="79" dur="950" decel="100000" fill="hold"/>
                                        <p:tgtEl>
                                          <p:spTgt spid="26"/>
                                        </p:tgtEl>
                                        <p:attrNameLst>
                                          <p:attrName>ppt_y</p:attrName>
                                        </p:attrNameLst>
                                      </p:cBhvr>
                                      <p:tavLst>
                                        <p:tav tm="0">
                                          <p:val>
                                            <p:strVal val="#ppt_y+0.02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P spid="15" grpId="0" animBg="1"/>
      <p:bldP spid="18" grpId="0" animBg="1"/>
      <p:bldP spid="20" grpId="0" animBg="1"/>
      <p:bldP spid="22" grpId="0" animBg="1"/>
      <p:bldP spid="24" grpId="0" animBg="1"/>
      <p:bldP spid="2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EAE1"/>
        </a:solidFill>
        <a:effectLst/>
      </p:bgPr>
    </p:bg>
    <p:spTree>
      <p:nvGrpSpPr>
        <p:cNvPr id="1" name=""/>
        <p:cNvGrpSpPr/>
        <p:nvPr/>
      </p:nvGrpSpPr>
      <p:grpSpPr>
        <a:xfrm>
          <a:off x="0" y="0"/>
          <a:ext cx="0" cy="0"/>
          <a:chOff x="0" y="0"/>
          <a:chExt cx="0" cy="0"/>
        </a:xfrm>
      </p:grpSpPr>
      <p:pic>
        <p:nvPicPr>
          <p:cNvPr id="2" name="!!Photo" descr="E:/Matter Of Place/Matter Of Place Codebase/src/assets/gallery/city-room.jpg"/>
          <p:cNvPicPr>
            <a:picLocks noChangeAspect="1"/>
          </p:cNvPicPr>
          <p:nvPr/>
        </p:nvPicPr>
        <p:blipFill>
          <a:blip r:embed="rId3"/>
          <a:srcRect l="27460" r="27460"/>
          <a:stretch/>
        </p:blipFill>
        <p:spPr>
          <a:xfrm>
            <a:off x="0" y="0"/>
            <a:ext cx="4480560" cy="6858000"/>
          </a:xfrm>
          <a:prstGeom prst="rect">
            <a:avLst/>
          </a:prstGeom>
        </p:spPr>
      </p:pic>
      <p:sp>
        <p:nvSpPr>
          <p:cNvPr id="3" name="!!Agenda">
            <a:hlinkClick r:id="" action="ppaction://noaction"/>
          </p:cNvPr>
          <p:cNvSpPr/>
          <p:nvPr/>
        </p:nvSpPr>
        <p:spPr>
          <a:xfrm>
            <a:off x="10362895" y="381000"/>
            <a:ext cx="1097280" cy="228600"/>
          </a:xfrm>
          <a:prstGeom prst="rect">
            <a:avLst/>
          </a:prstGeom>
          <a:noFill/>
          <a:ln/>
        </p:spPr>
        <p:txBody>
          <a:bodyPr wrap="square" lIns="0" tIns="0" rIns="0" bIns="0" rtlCol="0" anchor="ctr"/>
          <a:lstStyle/>
          <a:p>
            <a:pPr marL="0" indent="0" algn="r">
              <a:buNone/>
            </a:pPr>
            <a:r>
              <a:rPr lang="en-US" sz="1000" u="sng" kern="0" spc="250" dirty="0">
                <a:solidFill>
                  <a:srgbClr val="11110F"/>
                </a:solidFill>
                <a:latin typeface="Jost" pitchFamily="34" charset="0"/>
                <a:ea typeface="Jost" pitchFamily="34" charset="-122"/>
                <a:cs typeface="Jost" pitchFamily="34" charset="-120"/>
                <a:hlinkClick r:id="" action="ppaction://noaction">
                  <a:extLst>
                    <a:ext uri="{A12FA001-AC4F-418D-AE19-62706E023703}">
                      <ahyp:hlinkClr xmlns:ahyp="http://schemas.microsoft.com/office/drawing/2018/hyperlinkcolor" val="tx"/>
                    </a:ext>
                  </a:extLst>
                </a:hlinkClick>
              </a:rPr>
              <a:t>Agenda</a:t>
            </a:r>
            <a:endParaRPr lang="en-US" sz="1000" dirty="0"/>
          </a:p>
        </p:txBody>
      </p:sp>
      <p:sp>
        <p:nvSpPr>
          <p:cNvPr id="4" name="!!Footer"/>
          <p:cNvSpPr/>
          <p:nvPr/>
        </p:nvSpPr>
        <p:spPr>
          <a:xfrm>
            <a:off x="5212080" y="6172200"/>
            <a:ext cx="4572000" cy="228600"/>
          </a:xfrm>
          <a:prstGeom prst="rect">
            <a:avLst/>
          </a:prstGeom>
          <a:noFill/>
          <a:ln/>
        </p:spPr>
        <p:txBody>
          <a:bodyPr wrap="square" lIns="0" tIns="0" rIns="0" bIns="0" rtlCol="0" anchor="ctr"/>
          <a:lstStyle/>
          <a:p>
            <a:pPr marL="0" indent="0">
              <a:buNone/>
            </a:pPr>
            <a:r>
              <a:rPr lang="en-US" sz="900" kern="0" spc="250" dirty="0">
                <a:solidFill>
                  <a:srgbClr val="5E5A54"/>
                </a:solidFill>
                <a:latin typeface="Jost" pitchFamily="34" charset="0"/>
                <a:ea typeface="Jost" pitchFamily="34" charset="-122"/>
                <a:cs typeface="Jost" pitchFamily="34" charset="-120"/>
              </a:rPr>
              <a:t>MATTER OF PLACE  ·  FOR PARTNERS</a:t>
            </a:r>
            <a:endParaRPr lang="en-US" sz="900" dirty="0"/>
          </a:p>
        </p:txBody>
      </p:sp>
      <p:sp>
        <p:nvSpPr>
          <p:cNvPr id="5" name="!!Page"/>
          <p:cNvSpPr/>
          <p:nvPr/>
        </p:nvSpPr>
        <p:spPr>
          <a:xfrm>
            <a:off x="10362895" y="6172200"/>
            <a:ext cx="1097280" cy="228600"/>
          </a:xfrm>
          <a:prstGeom prst="rect">
            <a:avLst/>
          </a:prstGeom>
          <a:noFill/>
          <a:ln/>
        </p:spPr>
        <p:txBody>
          <a:bodyPr wrap="square" lIns="0" tIns="0" rIns="0" bIns="0" rtlCol="0" anchor="ctr"/>
          <a:lstStyle/>
          <a:p>
            <a:pPr marL="0" indent="0" algn="r">
              <a:buNone/>
            </a:pPr>
            <a:r>
              <a:rPr lang="en-US" sz="900" kern="0" spc="250" dirty="0">
                <a:solidFill>
                  <a:srgbClr val="5E5A54"/>
                </a:solidFill>
                <a:latin typeface="Jost" pitchFamily="34" charset="0"/>
                <a:ea typeface="Jost" pitchFamily="34" charset="-122"/>
                <a:cs typeface="Jost" pitchFamily="34" charset="-120"/>
              </a:rPr>
              <a:t>05 / 14</a:t>
            </a:r>
            <a:endParaRPr lang="en-US" sz="900" dirty="0"/>
          </a:p>
        </p:txBody>
      </p:sp>
      <p:sp>
        <p:nvSpPr>
          <p:cNvPr id="6" name="!!Eyebrow"/>
          <p:cNvSpPr/>
          <p:nvPr/>
        </p:nvSpPr>
        <p:spPr>
          <a:xfrm>
            <a:off x="5212080" y="868680"/>
            <a:ext cx="5486400" cy="274320"/>
          </a:xfrm>
          <a:prstGeom prst="rect">
            <a:avLst/>
          </a:prstGeom>
          <a:noFill/>
          <a:ln/>
        </p:spPr>
        <p:txBody>
          <a:bodyPr wrap="square" lIns="0" tIns="0" rIns="0" bIns="0" rtlCol="0" anchor="ctr"/>
          <a:lstStyle/>
          <a:p>
            <a:pPr marL="0" indent="0">
              <a:buNone/>
            </a:pPr>
            <a:r>
              <a:rPr lang="en-US" sz="1050" kern="0" spc="300" dirty="0">
                <a:solidFill>
                  <a:srgbClr val="575751"/>
                </a:solidFill>
                <a:latin typeface="Jost" pitchFamily="34" charset="0"/>
                <a:ea typeface="Jost" pitchFamily="34" charset="-122"/>
                <a:cs typeface="Jost" pitchFamily="34" charset="-120"/>
              </a:rPr>
              <a:t>HOW SELECTION WORKS</a:t>
            </a:r>
            <a:endParaRPr lang="en-US" sz="1050" dirty="0"/>
          </a:p>
        </p:txBody>
      </p:sp>
      <p:sp>
        <p:nvSpPr>
          <p:cNvPr id="7" name="!!Title"/>
          <p:cNvSpPr/>
          <p:nvPr/>
        </p:nvSpPr>
        <p:spPr>
          <a:xfrm>
            <a:off x="5212080" y="1188720"/>
            <a:ext cx="6248095" cy="711200"/>
          </a:xfrm>
          <a:prstGeom prst="rect">
            <a:avLst/>
          </a:prstGeom>
          <a:noFill/>
          <a:ln/>
        </p:spPr>
        <p:txBody>
          <a:bodyPr wrap="square" lIns="0" tIns="0" rIns="0" bIns="0" rtlCol="0" anchor="t"/>
          <a:lstStyle/>
          <a:p>
            <a:pPr marL="0" indent="0">
              <a:buNone/>
            </a:pPr>
            <a:r>
              <a:rPr lang="en-US" sz="3800" dirty="0">
                <a:solidFill>
                  <a:srgbClr val="11110F"/>
                </a:solidFill>
                <a:latin typeface="Cormorant Garamond" pitchFamily="34" charset="0"/>
                <a:ea typeface="Cormorant Garamond" pitchFamily="34" charset="-122"/>
                <a:cs typeface="Cormorant Garamond" pitchFamily="34" charset="-120"/>
              </a:rPr>
              <a:t>Six steps, in this order.</a:t>
            </a:r>
            <a:endParaRPr lang="en-US" sz="3800" dirty="0"/>
          </a:p>
        </p:txBody>
      </p:sp>
      <p:sp>
        <p:nvSpPr>
          <p:cNvPr id="8" name="s5-8"/>
          <p:cNvSpPr/>
          <p:nvPr/>
        </p:nvSpPr>
        <p:spPr>
          <a:xfrm>
            <a:off x="5207000" y="2108200"/>
            <a:ext cx="6248400" cy="0"/>
          </a:xfrm>
          <a:prstGeom prst="line">
            <a:avLst/>
          </a:prstGeom>
          <a:noFill/>
          <a:ln w="9525">
            <a:solidFill>
              <a:srgbClr val="C9C0B2"/>
            </a:solidFill>
            <a:prstDash val="solid"/>
          </a:ln>
        </p:spPr>
      </p:sp>
      <p:sp>
        <p:nvSpPr>
          <p:cNvPr id="9" name="s5-9"/>
          <p:cNvSpPr/>
          <p:nvPr/>
        </p:nvSpPr>
        <p:spPr>
          <a:xfrm>
            <a:off x="5207000" y="2108200"/>
            <a:ext cx="457200" cy="558800"/>
          </a:xfrm>
          <a:prstGeom prst="rect">
            <a:avLst/>
          </a:prstGeom>
          <a:noFill/>
          <a:ln/>
        </p:spPr>
        <p:txBody>
          <a:bodyPr wrap="square" lIns="0" tIns="0" rIns="0" bIns="0" rtlCol="0" anchor="ctr"/>
          <a:lstStyle/>
          <a:p>
            <a:pPr marL="0" indent="0">
              <a:buNone/>
            </a:pPr>
            <a:r>
              <a:rPr lang="en-US" sz="1050" kern="0" spc="200" dirty="0">
                <a:solidFill>
                  <a:srgbClr val="5E5A54"/>
                </a:solidFill>
                <a:latin typeface="Jost" pitchFamily="34" charset="0"/>
                <a:ea typeface="Jost" pitchFamily="34" charset="-122"/>
                <a:cs typeface="Jost" pitchFamily="34" charset="-120"/>
              </a:rPr>
              <a:t>01</a:t>
            </a:r>
            <a:endParaRPr lang="en-US" sz="1050" dirty="0"/>
          </a:p>
        </p:txBody>
      </p:sp>
      <p:sp>
        <p:nvSpPr>
          <p:cNvPr id="10" name="s5-10"/>
          <p:cNvSpPr/>
          <p:nvPr/>
        </p:nvSpPr>
        <p:spPr>
          <a:xfrm>
            <a:off x="5664200" y="2108200"/>
            <a:ext cx="1778000" cy="558800"/>
          </a:xfrm>
          <a:prstGeom prst="rect">
            <a:avLst/>
          </a:prstGeom>
          <a:noFill/>
          <a:ln/>
        </p:spPr>
        <p:txBody>
          <a:bodyPr wrap="square" lIns="0" tIns="0" rIns="0" bIns="0" rtlCol="0" anchor="ctr"/>
          <a:lstStyle/>
          <a:p>
            <a:pPr marL="0" indent="0">
              <a:buNone/>
            </a:pPr>
            <a:r>
              <a:rPr lang="en-US" sz="1700" dirty="0">
                <a:solidFill>
                  <a:srgbClr val="11110F"/>
                </a:solidFill>
                <a:latin typeface="Cormorant Garamond" pitchFamily="34" charset="0"/>
                <a:ea typeface="Cormorant Garamond" pitchFamily="34" charset="-122"/>
                <a:cs typeface="Cormorant Garamond" pitchFamily="34" charset="-120"/>
              </a:rPr>
              <a:t>Submission</a:t>
            </a:r>
            <a:endParaRPr lang="en-US" sz="1700" dirty="0"/>
          </a:p>
        </p:txBody>
      </p:sp>
      <p:sp>
        <p:nvSpPr>
          <p:cNvPr id="11" name="s5-11"/>
          <p:cNvSpPr/>
          <p:nvPr/>
        </p:nvSpPr>
        <p:spPr>
          <a:xfrm>
            <a:off x="7518400" y="2108200"/>
            <a:ext cx="3937000" cy="558800"/>
          </a:xfrm>
          <a:prstGeom prst="rect">
            <a:avLst/>
          </a:prstGeom>
          <a:noFill/>
          <a:ln/>
        </p:spPr>
        <p:txBody>
          <a:bodyPr wrap="square" lIns="0" tIns="0" rIns="0" bIns="0" rtlCol="0" anchor="ctr"/>
          <a:lstStyle/>
          <a:p>
            <a:pPr marL="0" indent="0">
              <a:buNone/>
            </a:pPr>
            <a:r>
              <a:rPr lang="en-US" sz="1400" dirty="0">
                <a:solidFill>
                  <a:srgbClr val="3F3D39"/>
                </a:solidFill>
                <a:latin typeface="Jost" pitchFamily="34" charset="0"/>
                <a:ea typeface="Jost" pitchFamily="34" charset="-122"/>
                <a:cs typeface="Jost" pitchFamily="34" charset="-120"/>
              </a:rPr>
              <a:t>You send the property and its story.</a:t>
            </a:r>
            <a:endParaRPr lang="en-US" sz="1400" dirty="0"/>
          </a:p>
        </p:txBody>
      </p:sp>
      <p:sp>
        <p:nvSpPr>
          <p:cNvPr id="12" name="s5-12"/>
          <p:cNvSpPr/>
          <p:nvPr/>
        </p:nvSpPr>
        <p:spPr>
          <a:xfrm>
            <a:off x="5207000" y="2667000"/>
            <a:ext cx="6248400" cy="0"/>
          </a:xfrm>
          <a:prstGeom prst="line">
            <a:avLst/>
          </a:prstGeom>
          <a:noFill/>
          <a:ln w="9525">
            <a:solidFill>
              <a:srgbClr val="C9C0B2"/>
            </a:solidFill>
            <a:prstDash val="solid"/>
          </a:ln>
        </p:spPr>
      </p:sp>
      <p:sp>
        <p:nvSpPr>
          <p:cNvPr id="13" name="s5-13"/>
          <p:cNvSpPr/>
          <p:nvPr/>
        </p:nvSpPr>
        <p:spPr>
          <a:xfrm>
            <a:off x="5207000" y="2667000"/>
            <a:ext cx="457200" cy="558800"/>
          </a:xfrm>
          <a:prstGeom prst="rect">
            <a:avLst/>
          </a:prstGeom>
          <a:noFill/>
          <a:ln/>
        </p:spPr>
        <p:txBody>
          <a:bodyPr wrap="square" lIns="0" tIns="0" rIns="0" bIns="0" rtlCol="0" anchor="ctr"/>
          <a:lstStyle/>
          <a:p>
            <a:pPr marL="0" indent="0">
              <a:buNone/>
            </a:pPr>
            <a:r>
              <a:rPr lang="en-US" sz="1050" kern="0" spc="200" dirty="0">
                <a:solidFill>
                  <a:srgbClr val="5E5A54"/>
                </a:solidFill>
                <a:latin typeface="Jost" pitchFamily="34" charset="0"/>
                <a:ea typeface="Jost" pitchFamily="34" charset="-122"/>
                <a:cs typeface="Jost" pitchFamily="34" charset="-120"/>
              </a:rPr>
              <a:t>02</a:t>
            </a:r>
            <a:endParaRPr lang="en-US" sz="1050" dirty="0"/>
          </a:p>
        </p:txBody>
      </p:sp>
      <p:sp>
        <p:nvSpPr>
          <p:cNvPr id="14" name="s5-14"/>
          <p:cNvSpPr/>
          <p:nvPr/>
        </p:nvSpPr>
        <p:spPr>
          <a:xfrm>
            <a:off x="5664200" y="2667000"/>
            <a:ext cx="1778000" cy="558800"/>
          </a:xfrm>
          <a:prstGeom prst="rect">
            <a:avLst/>
          </a:prstGeom>
          <a:noFill/>
          <a:ln/>
        </p:spPr>
        <p:txBody>
          <a:bodyPr wrap="square" lIns="0" tIns="0" rIns="0" bIns="0" rtlCol="0" anchor="ctr"/>
          <a:lstStyle/>
          <a:p>
            <a:pPr marL="0" indent="0">
              <a:buNone/>
            </a:pPr>
            <a:r>
              <a:rPr lang="en-US" sz="1700" dirty="0">
                <a:solidFill>
                  <a:srgbClr val="11110F"/>
                </a:solidFill>
                <a:latin typeface="Cormorant Garamond" pitchFamily="34" charset="0"/>
                <a:ea typeface="Cormorant Garamond" pitchFamily="34" charset="-122"/>
                <a:cs typeface="Cormorant Garamond" pitchFamily="34" charset="-120"/>
              </a:rPr>
              <a:t>Editorial review</a:t>
            </a:r>
            <a:endParaRPr lang="en-US" sz="1700" dirty="0"/>
          </a:p>
        </p:txBody>
      </p:sp>
      <p:sp>
        <p:nvSpPr>
          <p:cNvPr id="15" name="s5-15"/>
          <p:cNvSpPr/>
          <p:nvPr/>
        </p:nvSpPr>
        <p:spPr>
          <a:xfrm>
            <a:off x="7518400" y="2667000"/>
            <a:ext cx="3937000" cy="558800"/>
          </a:xfrm>
          <a:prstGeom prst="rect">
            <a:avLst/>
          </a:prstGeom>
          <a:noFill/>
          <a:ln/>
        </p:spPr>
        <p:txBody>
          <a:bodyPr wrap="square" lIns="0" tIns="0" rIns="0" bIns="0" rtlCol="0" anchor="ctr"/>
          <a:lstStyle/>
          <a:p>
            <a:pPr marL="0" indent="0">
              <a:buNone/>
            </a:pPr>
            <a:r>
              <a:rPr lang="en-US" sz="1400" dirty="0">
                <a:solidFill>
                  <a:srgbClr val="3F3D39"/>
                </a:solidFill>
                <a:latin typeface="Jost" pitchFamily="34" charset="0"/>
                <a:ea typeface="Jost" pitchFamily="34" charset="-122"/>
                <a:cs typeface="Jost" pitchFamily="34" charset="-120"/>
              </a:rPr>
              <a:t>We read it against our editorial standard.</a:t>
            </a:r>
            <a:endParaRPr lang="en-US" sz="1400" dirty="0"/>
          </a:p>
        </p:txBody>
      </p:sp>
      <p:sp>
        <p:nvSpPr>
          <p:cNvPr id="16" name="s5-16"/>
          <p:cNvSpPr/>
          <p:nvPr/>
        </p:nvSpPr>
        <p:spPr>
          <a:xfrm>
            <a:off x="5207000" y="3225800"/>
            <a:ext cx="6248400" cy="0"/>
          </a:xfrm>
          <a:prstGeom prst="line">
            <a:avLst/>
          </a:prstGeom>
          <a:noFill/>
          <a:ln w="9525">
            <a:solidFill>
              <a:srgbClr val="C9C0B2"/>
            </a:solidFill>
            <a:prstDash val="solid"/>
          </a:ln>
        </p:spPr>
      </p:sp>
      <p:sp>
        <p:nvSpPr>
          <p:cNvPr id="17" name="s5-17"/>
          <p:cNvSpPr/>
          <p:nvPr/>
        </p:nvSpPr>
        <p:spPr>
          <a:xfrm>
            <a:off x="5207000" y="3225800"/>
            <a:ext cx="457200" cy="558800"/>
          </a:xfrm>
          <a:prstGeom prst="rect">
            <a:avLst/>
          </a:prstGeom>
          <a:noFill/>
          <a:ln/>
        </p:spPr>
        <p:txBody>
          <a:bodyPr wrap="square" lIns="0" tIns="0" rIns="0" bIns="0" rtlCol="0" anchor="ctr"/>
          <a:lstStyle/>
          <a:p>
            <a:pPr marL="0" indent="0">
              <a:buNone/>
            </a:pPr>
            <a:r>
              <a:rPr lang="en-US" sz="1050" kern="0" spc="200" dirty="0">
                <a:solidFill>
                  <a:srgbClr val="5E5A54"/>
                </a:solidFill>
                <a:latin typeface="Jost" pitchFamily="34" charset="0"/>
                <a:ea typeface="Jost" pitchFamily="34" charset="-122"/>
                <a:cs typeface="Jost" pitchFamily="34" charset="-120"/>
              </a:rPr>
              <a:t>03</a:t>
            </a:r>
            <a:endParaRPr lang="en-US" sz="1050" dirty="0"/>
          </a:p>
        </p:txBody>
      </p:sp>
      <p:sp>
        <p:nvSpPr>
          <p:cNvPr id="18" name="s5-18"/>
          <p:cNvSpPr/>
          <p:nvPr/>
        </p:nvSpPr>
        <p:spPr>
          <a:xfrm>
            <a:off x="5664200" y="3225800"/>
            <a:ext cx="1778000" cy="558800"/>
          </a:xfrm>
          <a:prstGeom prst="rect">
            <a:avLst/>
          </a:prstGeom>
          <a:noFill/>
          <a:ln/>
        </p:spPr>
        <p:txBody>
          <a:bodyPr wrap="square" lIns="0" tIns="0" rIns="0" bIns="0" rtlCol="0" anchor="ctr"/>
          <a:lstStyle/>
          <a:p>
            <a:pPr marL="0" indent="0">
              <a:buNone/>
            </a:pPr>
            <a:r>
              <a:rPr lang="en-US" sz="1700" dirty="0">
                <a:solidFill>
                  <a:srgbClr val="11110F"/>
                </a:solidFill>
                <a:latin typeface="Cormorant Garamond" pitchFamily="34" charset="0"/>
                <a:ea typeface="Cormorant Garamond" pitchFamily="34" charset="-122"/>
                <a:cs typeface="Cormorant Garamond" pitchFamily="34" charset="-120"/>
              </a:rPr>
              <a:t>Acceptance</a:t>
            </a:r>
            <a:endParaRPr lang="en-US" sz="1700" dirty="0"/>
          </a:p>
        </p:txBody>
      </p:sp>
      <p:sp>
        <p:nvSpPr>
          <p:cNvPr id="19" name="s5-19"/>
          <p:cNvSpPr/>
          <p:nvPr/>
        </p:nvSpPr>
        <p:spPr>
          <a:xfrm>
            <a:off x="7518400" y="3225800"/>
            <a:ext cx="3937000" cy="558800"/>
          </a:xfrm>
          <a:prstGeom prst="rect">
            <a:avLst/>
          </a:prstGeom>
          <a:noFill/>
          <a:ln/>
        </p:spPr>
        <p:txBody>
          <a:bodyPr wrap="square" lIns="0" tIns="0" rIns="0" bIns="0" rtlCol="0" anchor="ctr"/>
          <a:lstStyle/>
          <a:p>
            <a:pPr marL="0" indent="0">
              <a:buNone/>
            </a:pPr>
            <a:r>
              <a:rPr lang="en-US" sz="1400" dirty="0">
                <a:solidFill>
                  <a:srgbClr val="3F3D39"/>
                </a:solidFill>
                <a:latin typeface="Jost" pitchFamily="34" charset="0"/>
                <a:ea typeface="Jost" pitchFamily="34" charset="-122"/>
                <a:cs typeface="Jost" pitchFamily="34" charset="-120"/>
              </a:rPr>
              <a:t>Selected properties are confirmed. Others are not charged.</a:t>
            </a:r>
            <a:endParaRPr lang="en-US" sz="1400" dirty="0"/>
          </a:p>
        </p:txBody>
      </p:sp>
      <p:sp>
        <p:nvSpPr>
          <p:cNvPr id="20" name="s5-20"/>
          <p:cNvSpPr/>
          <p:nvPr/>
        </p:nvSpPr>
        <p:spPr>
          <a:xfrm>
            <a:off x="5207000" y="3784600"/>
            <a:ext cx="6248400" cy="0"/>
          </a:xfrm>
          <a:prstGeom prst="line">
            <a:avLst/>
          </a:prstGeom>
          <a:noFill/>
          <a:ln w="9525">
            <a:solidFill>
              <a:srgbClr val="C9C0B2"/>
            </a:solidFill>
            <a:prstDash val="solid"/>
          </a:ln>
        </p:spPr>
      </p:sp>
      <p:sp>
        <p:nvSpPr>
          <p:cNvPr id="21" name="s5-21"/>
          <p:cNvSpPr/>
          <p:nvPr/>
        </p:nvSpPr>
        <p:spPr>
          <a:xfrm>
            <a:off x="5207000" y="3784600"/>
            <a:ext cx="457200" cy="558800"/>
          </a:xfrm>
          <a:prstGeom prst="rect">
            <a:avLst/>
          </a:prstGeom>
          <a:noFill/>
          <a:ln/>
        </p:spPr>
        <p:txBody>
          <a:bodyPr wrap="square" lIns="0" tIns="0" rIns="0" bIns="0" rtlCol="0" anchor="ctr"/>
          <a:lstStyle/>
          <a:p>
            <a:pPr marL="0" indent="0">
              <a:buNone/>
            </a:pPr>
            <a:r>
              <a:rPr lang="en-US" sz="1050" kern="0" spc="200" dirty="0">
                <a:solidFill>
                  <a:srgbClr val="5E5A54"/>
                </a:solidFill>
                <a:latin typeface="Jost" pitchFamily="34" charset="0"/>
                <a:ea typeface="Jost" pitchFamily="34" charset="-122"/>
                <a:cs typeface="Jost" pitchFamily="34" charset="-120"/>
              </a:rPr>
              <a:t>04</a:t>
            </a:r>
            <a:endParaRPr lang="en-US" sz="1050" dirty="0"/>
          </a:p>
        </p:txBody>
      </p:sp>
      <p:sp>
        <p:nvSpPr>
          <p:cNvPr id="22" name="s5-22"/>
          <p:cNvSpPr/>
          <p:nvPr/>
        </p:nvSpPr>
        <p:spPr>
          <a:xfrm>
            <a:off x="5664200" y="3784600"/>
            <a:ext cx="1778000" cy="558800"/>
          </a:xfrm>
          <a:prstGeom prst="rect">
            <a:avLst/>
          </a:prstGeom>
          <a:noFill/>
          <a:ln/>
        </p:spPr>
        <p:txBody>
          <a:bodyPr wrap="square" lIns="0" tIns="0" rIns="0" bIns="0" rtlCol="0" anchor="ctr"/>
          <a:lstStyle/>
          <a:p>
            <a:pPr marL="0" indent="0">
              <a:buNone/>
            </a:pPr>
            <a:r>
              <a:rPr lang="en-US" sz="1700" dirty="0">
                <a:solidFill>
                  <a:srgbClr val="11110F"/>
                </a:solidFill>
                <a:latin typeface="Cormorant Garamond" pitchFamily="34" charset="0"/>
                <a:ea typeface="Cormorant Garamond" pitchFamily="34" charset="-122"/>
                <a:cs typeface="Cormorant Garamond" pitchFamily="34" charset="-120"/>
              </a:rPr>
              <a:t>Exposure</a:t>
            </a:r>
            <a:endParaRPr lang="en-US" sz="1700" dirty="0"/>
          </a:p>
        </p:txBody>
      </p:sp>
      <p:sp>
        <p:nvSpPr>
          <p:cNvPr id="23" name="s5-23"/>
          <p:cNvSpPr/>
          <p:nvPr/>
        </p:nvSpPr>
        <p:spPr>
          <a:xfrm>
            <a:off x="7518400" y="3784600"/>
            <a:ext cx="3937000" cy="558800"/>
          </a:xfrm>
          <a:prstGeom prst="rect">
            <a:avLst/>
          </a:prstGeom>
          <a:noFill/>
          <a:ln/>
        </p:spPr>
        <p:txBody>
          <a:bodyPr wrap="square" lIns="0" tIns="0" rIns="0" bIns="0" rtlCol="0" anchor="ctr"/>
          <a:lstStyle/>
          <a:p>
            <a:pPr marL="0" indent="0">
              <a:buNone/>
            </a:pPr>
            <a:r>
              <a:rPr lang="en-US" sz="1400" dirty="0">
                <a:solidFill>
                  <a:srgbClr val="3F3D39"/>
                </a:solidFill>
                <a:latin typeface="Jost" pitchFamily="34" charset="0"/>
                <a:ea typeface="Jost" pitchFamily="34" charset="-122"/>
                <a:cs typeface="Jost" pitchFamily="34" charset="-120"/>
              </a:rPr>
              <a:t>You choose the product that suits the property.</a:t>
            </a:r>
            <a:endParaRPr lang="en-US" sz="1400" dirty="0"/>
          </a:p>
        </p:txBody>
      </p:sp>
      <p:sp>
        <p:nvSpPr>
          <p:cNvPr id="24" name="s5-24"/>
          <p:cNvSpPr/>
          <p:nvPr/>
        </p:nvSpPr>
        <p:spPr>
          <a:xfrm>
            <a:off x="5207000" y="4343400"/>
            <a:ext cx="6248400" cy="0"/>
          </a:xfrm>
          <a:prstGeom prst="line">
            <a:avLst/>
          </a:prstGeom>
          <a:noFill/>
          <a:ln w="9525">
            <a:solidFill>
              <a:srgbClr val="C9C0B2"/>
            </a:solidFill>
            <a:prstDash val="solid"/>
          </a:ln>
        </p:spPr>
      </p:sp>
      <p:sp>
        <p:nvSpPr>
          <p:cNvPr id="25" name="s5-25"/>
          <p:cNvSpPr/>
          <p:nvPr/>
        </p:nvSpPr>
        <p:spPr>
          <a:xfrm>
            <a:off x="5207000" y="4343400"/>
            <a:ext cx="457200" cy="558800"/>
          </a:xfrm>
          <a:prstGeom prst="rect">
            <a:avLst/>
          </a:prstGeom>
          <a:noFill/>
          <a:ln/>
        </p:spPr>
        <p:txBody>
          <a:bodyPr wrap="square" lIns="0" tIns="0" rIns="0" bIns="0" rtlCol="0" anchor="ctr"/>
          <a:lstStyle/>
          <a:p>
            <a:pPr marL="0" indent="0">
              <a:buNone/>
            </a:pPr>
            <a:r>
              <a:rPr lang="en-US" sz="1050" kern="0" spc="200" dirty="0">
                <a:solidFill>
                  <a:srgbClr val="5E5A54"/>
                </a:solidFill>
                <a:latin typeface="Jost" pitchFamily="34" charset="0"/>
                <a:ea typeface="Jost" pitchFamily="34" charset="-122"/>
                <a:cs typeface="Jost" pitchFamily="34" charset="-120"/>
              </a:rPr>
              <a:t>05</a:t>
            </a:r>
            <a:endParaRPr lang="en-US" sz="1050" dirty="0"/>
          </a:p>
        </p:txBody>
      </p:sp>
      <p:sp>
        <p:nvSpPr>
          <p:cNvPr id="26" name="s5-26"/>
          <p:cNvSpPr/>
          <p:nvPr/>
        </p:nvSpPr>
        <p:spPr>
          <a:xfrm>
            <a:off x="5664200" y="4343400"/>
            <a:ext cx="1778000" cy="558800"/>
          </a:xfrm>
          <a:prstGeom prst="rect">
            <a:avLst/>
          </a:prstGeom>
          <a:noFill/>
          <a:ln/>
        </p:spPr>
        <p:txBody>
          <a:bodyPr wrap="square" lIns="0" tIns="0" rIns="0" bIns="0" rtlCol="0" anchor="ctr"/>
          <a:lstStyle/>
          <a:p>
            <a:pPr marL="0" indent="0">
              <a:buNone/>
            </a:pPr>
            <a:r>
              <a:rPr lang="en-US" sz="1700" dirty="0">
                <a:solidFill>
                  <a:srgbClr val="11110F"/>
                </a:solidFill>
                <a:latin typeface="Cormorant Garamond" pitchFamily="34" charset="0"/>
                <a:ea typeface="Cormorant Garamond" pitchFamily="34" charset="-122"/>
                <a:cs typeface="Cormorant Garamond" pitchFamily="34" charset="-120"/>
              </a:rPr>
              <a:t>Publication</a:t>
            </a:r>
            <a:endParaRPr lang="en-US" sz="1700" dirty="0"/>
          </a:p>
        </p:txBody>
      </p:sp>
      <p:sp>
        <p:nvSpPr>
          <p:cNvPr id="27" name="s5-27"/>
          <p:cNvSpPr/>
          <p:nvPr/>
        </p:nvSpPr>
        <p:spPr>
          <a:xfrm>
            <a:off x="7518400" y="4343400"/>
            <a:ext cx="3937000" cy="558800"/>
          </a:xfrm>
          <a:prstGeom prst="rect">
            <a:avLst/>
          </a:prstGeom>
          <a:noFill/>
          <a:ln/>
        </p:spPr>
        <p:txBody>
          <a:bodyPr wrap="square" lIns="0" tIns="0" rIns="0" bIns="0" rtlCol="0" anchor="ctr"/>
          <a:lstStyle/>
          <a:p>
            <a:pPr marL="0" indent="0">
              <a:buNone/>
            </a:pPr>
            <a:r>
              <a:rPr lang="en-US" sz="1400" dirty="0">
                <a:solidFill>
                  <a:srgbClr val="3F3D39"/>
                </a:solidFill>
                <a:latin typeface="Jost" pitchFamily="34" charset="0"/>
                <a:ea typeface="Jost" pitchFamily="34" charset="-122"/>
                <a:cs typeface="Jost" pitchFamily="34" charset="-120"/>
              </a:rPr>
              <a:t>The property receives its permanent place.</a:t>
            </a:r>
            <a:endParaRPr lang="en-US" sz="1400" dirty="0"/>
          </a:p>
        </p:txBody>
      </p:sp>
      <p:sp>
        <p:nvSpPr>
          <p:cNvPr id="28" name="s5-28"/>
          <p:cNvSpPr/>
          <p:nvPr/>
        </p:nvSpPr>
        <p:spPr>
          <a:xfrm>
            <a:off x="5207000" y="4902200"/>
            <a:ext cx="6248400" cy="0"/>
          </a:xfrm>
          <a:prstGeom prst="line">
            <a:avLst/>
          </a:prstGeom>
          <a:noFill/>
          <a:ln w="9525">
            <a:solidFill>
              <a:srgbClr val="C9C0B2"/>
            </a:solidFill>
            <a:prstDash val="solid"/>
          </a:ln>
        </p:spPr>
      </p:sp>
      <p:sp>
        <p:nvSpPr>
          <p:cNvPr id="29" name="s5-29"/>
          <p:cNvSpPr/>
          <p:nvPr/>
        </p:nvSpPr>
        <p:spPr>
          <a:xfrm>
            <a:off x="5207000" y="4902200"/>
            <a:ext cx="457200" cy="558800"/>
          </a:xfrm>
          <a:prstGeom prst="rect">
            <a:avLst/>
          </a:prstGeom>
          <a:noFill/>
          <a:ln/>
        </p:spPr>
        <p:txBody>
          <a:bodyPr wrap="square" lIns="0" tIns="0" rIns="0" bIns="0" rtlCol="0" anchor="ctr"/>
          <a:lstStyle/>
          <a:p>
            <a:pPr marL="0" indent="0">
              <a:buNone/>
            </a:pPr>
            <a:r>
              <a:rPr lang="en-US" sz="1050" kern="0" spc="200" dirty="0">
                <a:solidFill>
                  <a:srgbClr val="5E5A54"/>
                </a:solidFill>
                <a:latin typeface="Jost" pitchFamily="34" charset="0"/>
                <a:ea typeface="Jost" pitchFamily="34" charset="-122"/>
                <a:cs typeface="Jost" pitchFamily="34" charset="-120"/>
              </a:rPr>
              <a:t>06</a:t>
            </a:r>
            <a:endParaRPr lang="en-US" sz="1050" dirty="0"/>
          </a:p>
        </p:txBody>
      </p:sp>
      <p:sp>
        <p:nvSpPr>
          <p:cNvPr id="30" name="s5-30"/>
          <p:cNvSpPr/>
          <p:nvPr/>
        </p:nvSpPr>
        <p:spPr>
          <a:xfrm>
            <a:off x="5664200" y="4902200"/>
            <a:ext cx="1778000" cy="558800"/>
          </a:xfrm>
          <a:prstGeom prst="rect">
            <a:avLst/>
          </a:prstGeom>
          <a:noFill/>
          <a:ln/>
        </p:spPr>
        <p:txBody>
          <a:bodyPr wrap="square" lIns="0" tIns="0" rIns="0" bIns="0" rtlCol="0" anchor="ctr"/>
          <a:lstStyle/>
          <a:p>
            <a:pPr marL="0" indent="0">
              <a:buNone/>
            </a:pPr>
            <a:r>
              <a:rPr lang="en-US" sz="1700" dirty="0">
                <a:solidFill>
                  <a:srgbClr val="11110F"/>
                </a:solidFill>
                <a:latin typeface="Cormorant Garamond" pitchFamily="34" charset="0"/>
                <a:ea typeface="Cormorant Garamond" pitchFamily="34" charset="-122"/>
                <a:cs typeface="Cormorant Garamond" pitchFamily="34" charset="-120"/>
              </a:rPr>
              <a:t>Distribution</a:t>
            </a:r>
            <a:endParaRPr lang="en-US" sz="1700" dirty="0"/>
          </a:p>
        </p:txBody>
      </p:sp>
      <p:sp>
        <p:nvSpPr>
          <p:cNvPr id="31" name="s5-31"/>
          <p:cNvSpPr/>
          <p:nvPr/>
        </p:nvSpPr>
        <p:spPr>
          <a:xfrm>
            <a:off x="7518400" y="4902200"/>
            <a:ext cx="3937000" cy="558800"/>
          </a:xfrm>
          <a:prstGeom prst="rect">
            <a:avLst/>
          </a:prstGeom>
          <a:noFill/>
          <a:ln/>
        </p:spPr>
        <p:txBody>
          <a:bodyPr wrap="square" lIns="0" tIns="0" rIns="0" bIns="0" rtlCol="0" anchor="ctr"/>
          <a:lstStyle/>
          <a:p>
            <a:pPr marL="0" indent="0">
              <a:buNone/>
            </a:pPr>
            <a:r>
              <a:rPr lang="en-US" sz="1400" dirty="0">
                <a:solidFill>
                  <a:srgbClr val="3F3D39"/>
                </a:solidFill>
                <a:latin typeface="Jost" pitchFamily="34" charset="0"/>
                <a:ea typeface="Jost" pitchFamily="34" charset="-122"/>
                <a:cs typeface="Jost" pitchFamily="34" charset="-120"/>
              </a:rPr>
              <a:t>The story travels through owned and paid channels.</a:t>
            </a:r>
            <a:endParaRPr lang="en-US" sz="1400" dirty="0"/>
          </a:p>
        </p:txBody>
      </p:sp>
      <p:sp>
        <p:nvSpPr>
          <p:cNvPr id="32" name="s5-32"/>
          <p:cNvSpPr/>
          <p:nvPr/>
        </p:nvSpPr>
        <p:spPr>
          <a:xfrm>
            <a:off x="5207000" y="5461000"/>
            <a:ext cx="6248400" cy="0"/>
          </a:xfrm>
          <a:prstGeom prst="line">
            <a:avLst/>
          </a:prstGeom>
          <a:noFill/>
          <a:ln w="9525">
            <a:solidFill>
              <a:srgbClr val="C9C0B2"/>
            </a:solidFill>
            <a:prstDash val="solid"/>
          </a:ln>
        </p:spPr>
      </p:sp>
      <p:sp>
        <p:nvSpPr>
          <p:cNvPr id="33" name="s5-33"/>
          <p:cNvSpPr/>
          <p:nvPr/>
        </p:nvSpPr>
        <p:spPr>
          <a:xfrm>
            <a:off x="5207000" y="5613400"/>
            <a:ext cx="6248400" cy="304800"/>
          </a:xfrm>
          <a:prstGeom prst="rect">
            <a:avLst/>
          </a:prstGeom>
          <a:noFill/>
          <a:ln/>
        </p:spPr>
        <p:txBody>
          <a:bodyPr wrap="square" lIns="0" tIns="0" rIns="0" bIns="0" rtlCol="0" anchor="t"/>
          <a:lstStyle/>
          <a:p>
            <a:pPr marL="0" indent="0">
              <a:lnSpc>
                <a:spcPct val="125000"/>
              </a:lnSpc>
              <a:buNone/>
            </a:pPr>
            <a:r>
              <a:rPr lang="en-US" sz="1300" dirty="0">
                <a:solidFill>
                  <a:srgbClr val="11110F"/>
                </a:solidFill>
                <a:latin typeface="Jost" pitchFamily="34" charset="0"/>
                <a:ea typeface="Jost" pitchFamily="34" charset="-122"/>
                <a:cs typeface="Jost" pitchFamily="34" charset="-120"/>
              </a:rPr>
              <a:t>Payment never overrides editorial review. Declined properties are not charged.</a:t>
            </a:r>
            <a:endParaRPr lang="en-US" sz="1300" dirty="0"/>
          </a:p>
        </p:txBody>
      </p:sp>
    </p:spTree>
    <p:extLst>
      <p:ext uri="{BB962C8B-B14F-4D97-AF65-F5344CB8AC3E}">
        <p14:creationId xmlns:p14="http://schemas.microsoft.com/office/powerpoint/2010/main" val="83522773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15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1250" decel="100000"/>
                                        <p:tgtEl>
                                          <p:spTgt spid="8"/>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950"/>
                                        <p:tgtEl>
                                          <p:spTgt spid="9"/>
                                        </p:tgtEl>
                                      </p:cBhvr>
                                    </p:animEffect>
                                    <p:anim calcmode="lin" valueType="num">
                                      <p:cBhvr>
                                        <p:cTn id="11" dur="950" decel="100000" fill="hold"/>
                                        <p:tgtEl>
                                          <p:spTgt spid="9"/>
                                        </p:tgtEl>
                                        <p:attrNameLst>
                                          <p:attrName>ppt_x</p:attrName>
                                        </p:attrNameLst>
                                      </p:cBhvr>
                                      <p:tavLst>
                                        <p:tav tm="0">
                                          <p:val>
                                            <p:strVal val="#ppt_x"/>
                                          </p:val>
                                        </p:tav>
                                        <p:tav tm="100000">
                                          <p:val>
                                            <p:strVal val="#ppt_x"/>
                                          </p:val>
                                        </p:tav>
                                      </p:tavLst>
                                    </p:anim>
                                    <p:anim calcmode="lin" valueType="num">
                                      <p:cBhvr>
                                        <p:cTn id="12" dur="950" decel="100000" fill="hold"/>
                                        <p:tgtEl>
                                          <p:spTgt spid="9"/>
                                        </p:tgtEl>
                                        <p:attrNameLst>
                                          <p:attrName>ppt_y</p:attrName>
                                        </p:attrNameLst>
                                      </p:cBhvr>
                                      <p:tavLst>
                                        <p:tav tm="0">
                                          <p:val>
                                            <p:strVal val="#ppt_y+0.022"/>
                                          </p:val>
                                        </p:tav>
                                        <p:tav tm="100000">
                                          <p:val>
                                            <p:strVal val="#ppt_y"/>
                                          </p:val>
                                        </p:tav>
                                      </p:tavLst>
                                    </p:anim>
                                  </p:childTnLst>
                                </p:cTn>
                              </p:par>
                              <p:par>
                                <p:cTn id="13" presetID="10" presetClass="entr" presetSubtype="0" fill="hold" grpId="0" nodeType="withEffect">
                                  <p:stCondLst>
                                    <p:cond delay="1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950"/>
                                        <p:tgtEl>
                                          <p:spTgt spid="10"/>
                                        </p:tgtEl>
                                      </p:cBhvr>
                                    </p:animEffect>
                                    <p:anim calcmode="lin" valueType="num">
                                      <p:cBhvr>
                                        <p:cTn id="16" dur="950" decel="100000" fill="hold"/>
                                        <p:tgtEl>
                                          <p:spTgt spid="10"/>
                                        </p:tgtEl>
                                        <p:attrNameLst>
                                          <p:attrName>ppt_x</p:attrName>
                                        </p:attrNameLst>
                                      </p:cBhvr>
                                      <p:tavLst>
                                        <p:tav tm="0">
                                          <p:val>
                                            <p:strVal val="#ppt_x"/>
                                          </p:val>
                                        </p:tav>
                                        <p:tav tm="100000">
                                          <p:val>
                                            <p:strVal val="#ppt_x"/>
                                          </p:val>
                                        </p:tav>
                                      </p:tavLst>
                                    </p:anim>
                                    <p:anim calcmode="lin" valueType="num">
                                      <p:cBhvr>
                                        <p:cTn id="17" dur="950" decel="100000" fill="hold"/>
                                        <p:tgtEl>
                                          <p:spTgt spid="10"/>
                                        </p:tgtEl>
                                        <p:attrNameLst>
                                          <p:attrName>ppt_y</p:attrName>
                                        </p:attrNameLst>
                                      </p:cBhvr>
                                      <p:tavLst>
                                        <p:tav tm="0">
                                          <p:val>
                                            <p:strVal val="#ppt_y+0.022"/>
                                          </p:val>
                                        </p:tav>
                                        <p:tav tm="100000">
                                          <p:val>
                                            <p:strVal val="#ppt_y"/>
                                          </p:val>
                                        </p:tav>
                                      </p:tavLst>
                                    </p:anim>
                                  </p:childTnLst>
                                </p:cTn>
                              </p:par>
                              <p:par>
                                <p:cTn id="18" presetID="10" presetClass="entr" presetSubtype="0" fill="hold" grpId="0" nodeType="withEffect">
                                  <p:stCondLst>
                                    <p:cond delay="15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950"/>
                                        <p:tgtEl>
                                          <p:spTgt spid="11"/>
                                        </p:tgtEl>
                                      </p:cBhvr>
                                    </p:animEffect>
                                    <p:anim calcmode="lin" valueType="num">
                                      <p:cBhvr>
                                        <p:cTn id="21" dur="950" decel="100000" fill="hold"/>
                                        <p:tgtEl>
                                          <p:spTgt spid="11"/>
                                        </p:tgtEl>
                                        <p:attrNameLst>
                                          <p:attrName>ppt_x</p:attrName>
                                        </p:attrNameLst>
                                      </p:cBhvr>
                                      <p:tavLst>
                                        <p:tav tm="0">
                                          <p:val>
                                            <p:strVal val="#ppt_x"/>
                                          </p:val>
                                        </p:tav>
                                        <p:tav tm="100000">
                                          <p:val>
                                            <p:strVal val="#ppt_x"/>
                                          </p:val>
                                        </p:tav>
                                      </p:tavLst>
                                    </p:anim>
                                    <p:anim calcmode="lin" valueType="num">
                                      <p:cBhvr>
                                        <p:cTn id="22" dur="950" decel="100000" fill="hold"/>
                                        <p:tgtEl>
                                          <p:spTgt spid="11"/>
                                        </p:tgtEl>
                                        <p:attrNameLst>
                                          <p:attrName>ppt_y</p:attrName>
                                        </p:attrNameLst>
                                      </p:cBhvr>
                                      <p:tavLst>
                                        <p:tav tm="0">
                                          <p:val>
                                            <p:strVal val="#ppt_y+0.022"/>
                                          </p:val>
                                        </p:tav>
                                        <p:tav tm="100000">
                                          <p:val>
                                            <p:strVal val="#ppt_y"/>
                                          </p:val>
                                        </p:tav>
                                      </p:tavLst>
                                    </p:anim>
                                  </p:childTnLst>
                                </p:cTn>
                              </p:par>
                              <p:par>
                                <p:cTn id="23" presetID="22" presetClass="entr" presetSubtype="8" fill="hold" nodeType="withEffect">
                                  <p:stCondLst>
                                    <p:cond delay="260"/>
                                  </p:stCondLst>
                                  <p:childTnLst>
                                    <p:set>
                                      <p:cBhvr>
                                        <p:cTn id="24" dur="1" fill="hold">
                                          <p:stCondLst>
                                            <p:cond delay="0"/>
                                          </p:stCondLst>
                                        </p:cTn>
                                        <p:tgtEl>
                                          <p:spTgt spid="12"/>
                                        </p:tgtEl>
                                        <p:attrNameLst>
                                          <p:attrName>style.visibility</p:attrName>
                                        </p:attrNameLst>
                                      </p:cBhvr>
                                      <p:to>
                                        <p:strVal val="visible"/>
                                      </p:to>
                                    </p:set>
                                    <p:animEffect transition="in" filter="wipe(left)">
                                      <p:cBhvr>
                                        <p:cTn id="25" dur="1250" decel="100000"/>
                                        <p:tgtEl>
                                          <p:spTgt spid="12"/>
                                        </p:tgtEl>
                                      </p:cBhvr>
                                    </p:animEffect>
                                  </p:childTnLst>
                                </p:cTn>
                              </p:par>
                              <p:par>
                                <p:cTn id="26" presetID="10" presetClass="entr" presetSubtype="0" fill="hold" grpId="0" nodeType="withEffect">
                                  <p:stCondLst>
                                    <p:cond delay="26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950"/>
                                        <p:tgtEl>
                                          <p:spTgt spid="13"/>
                                        </p:tgtEl>
                                      </p:cBhvr>
                                    </p:animEffect>
                                    <p:anim calcmode="lin" valueType="num">
                                      <p:cBhvr>
                                        <p:cTn id="29" dur="950" decel="100000" fill="hold"/>
                                        <p:tgtEl>
                                          <p:spTgt spid="13"/>
                                        </p:tgtEl>
                                        <p:attrNameLst>
                                          <p:attrName>ppt_x</p:attrName>
                                        </p:attrNameLst>
                                      </p:cBhvr>
                                      <p:tavLst>
                                        <p:tav tm="0">
                                          <p:val>
                                            <p:strVal val="#ppt_x"/>
                                          </p:val>
                                        </p:tav>
                                        <p:tav tm="100000">
                                          <p:val>
                                            <p:strVal val="#ppt_x"/>
                                          </p:val>
                                        </p:tav>
                                      </p:tavLst>
                                    </p:anim>
                                    <p:anim calcmode="lin" valueType="num">
                                      <p:cBhvr>
                                        <p:cTn id="30" dur="950" decel="100000" fill="hold"/>
                                        <p:tgtEl>
                                          <p:spTgt spid="13"/>
                                        </p:tgtEl>
                                        <p:attrNameLst>
                                          <p:attrName>ppt_y</p:attrName>
                                        </p:attrNameLst>
                                      </p:cBhvr>
                                      <p:tavLst>
                                        <p:tav tm="0">
                                          <p:val>
                                            <p:strVal val="#ppt_y+0.022"/>
                                          </p:val>
                                        </p:tav>
                                        <p:tav tm="100000">
                                          <p:val>
                                            <p:strVal val="#ppt_y"/>
                                          </p:val>
                                        </p:tav>
                                      </p:tavLst>
                                    </p:anim>
                                  </p:childTnLst>
                                </p:cTn>
                              </p:par>
                              <p:par>
                                <p:cTn id="31" presetID="10" presetClass="entr" presetSubtype="0" fill="hold" grpId="0" nodeType="withEffect">
                                  <p:stCondLst>
                                    <p:cond delay="26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950"/>
                                        <p:tgtEl>
                                          <p:spTgt spid="14"/>
                                        </p:tgtEl>
                                      </p:cBhvr>
                                    </p:animEffect>
                                    <p:anim calcmode="lin" valueType="num">
                                      <p:cBhvr>
                                        <p:cTn id="34" dur="950" decel="100000" fill="hold"/>
                                        <p:tgtEl>
                                          <p:spTgt spid="14"/>
                                        </p:tgtEl>
                                        <p:attrNameLst>
                                          <p:attrName>ppt_x</p:attrName>
                                        </p:attrNameLst>
                                      </p:cBhvr>
                                      <p:tavLst>
                                        <p:tav tm="0">
                                          <p:val>
                                            <p:strVal val="#ppt_x"/>
                                          </p:val>
                                        </p:tav>
                                        <p:tav tm="100000">
                                          <p:val>
                                            <p:strVal val="#ppt_x"/>
                                          </p:val>
                                        </p:tav>
                                      </p:tavLst>
                                    </p:anim>
                                    <p:anim calcmode="lin" valueType="num">
                                      <p:cBhvr>
                                        <p:cTn id="35" dur="950" decel="100000" fill="hold"/>
                                        <p:tgtEl>
                                          <p:spTgt spid="14"/>
                                        </p:tgtEl>
                                        <p:attrNameLst>
                                          <p:attrName>ppt_y</p:attrName>
                                        </p:attrNameLst>
                                      </p:cBhvr>
                                      <p:tavLst>
                                        <p:tav tm="0">
                                          <p:val>
                                            <p:strVal val="#ppt_y+0.022"/>
                                          </p:val>
                                        </p:tav>
                                        <p:tav tm="100000">
                                          <p:val>
                                            <p:strVal val="#ppt_y"/>
                                          </p:val>
                                        </p:tav>
                                      </p:tavLst>
                                    </p:anim>
                                  </p:childTnLst>
                                </p:cTn>
                              </p:par>
                              <p:par>
                                <p:cTn id="36" presetID="10" presetClass="entr" presetSubtype="0" fill="hold" grpId="0" nodeType="withEffect">
                                  <p:stCondLst>
                                    <p:cond delay="26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950"/>
                                        <p:tgtEl>
                                          <p:spTgt spid="15"/>
                                        </p:tgtEl>
                                      </p:cBhvr>
                                    </p:animEffect>
                                    <p:anim calcmode="lin" valueType="num">
                                      <p:cBhvr>
                                        <p:cTn id="39" dur="950" decel="100000" fill="hold"/>
                                        <p:tgtEl>
                                          <p:spTgt spid="15"/>
                                        </p:tgtEl>
                                        <p:attrNameLst>
                                          <p:attrName>ppt_x</p:attrName>
                                        </p:attrNameLst>
                                      </p:cBhvr>
                                      <p:tavLst>
                                        <p:tav tm="0">
                                          <p:val>
                                            <p:strVal val="#ppt_x"/>
                                          </p:val>
                                        </p:tav>
                                        <p:tav tm="100000">
                                          <p:val>
                                            <p:strVal val="#ppt_x"/>
                                          </p:val>
                                        </p:tav>
                                      </p:tavLst>
                                    </p:anim>
                                    <p:anim calcmode="lin" valueType="num">
                                      <p:cBhvr>
                                        <p:cTn id="40" dur="950" decel="100000" fill="hold"/>
                                        <p:tgtEl>
                                          <p:spTgt spid="15"/>
                                        </p:tgtEl>
                                        <p:attrNameLst>
                                          <p:attrName>ppt_y</p:attrName>
                                        </p:attrNameLst>
                                      </p:cBhvr>
                                      <p:tavLst>
                                        <p:tav tm="0">
                                          <p:val>
                                            <p:strVal val="#ppt_y+0.022"/>
                                          </p:val>
                                        </p:tav>
                                        <p:tav tm="100000">
                                          <p:val>
                                            <p:strVal val="#ppt_y"/>
                                          </p:val>
                                        </p:tav>
                                      </p:tavLst>
                                    </p:anim>
                                  </p:childTnLst>
                                </p:cTn>
                              </p:par>
                              <p:par>
                                <p:cTn id="41" presetID="22" presetClass="entr" presetSubtype="8" fill="hold" nodeType="withEffect">
                                  <p:stCondLst>
                                    <p:cond delay="370"/>
                                  </p:stCondLst>
                                  <p:childTnLst>
                                    <p:set>
                                      <p:cBhvr>
                                        <p:cTn id="42" dur="1" fill="hold">
                                          <p:stCondLst>
                                            <p:cond delay="0"/>
                                          </p:stCondLst>
                                        </p:cTn>
                                        <p:tgtEl>
                                          <p:spTgt spid="16"/>
                                        </p:tgtEl>
                                        <p:attrNameLst>
                                          <p:attrName>style.visibility</p:attrName>
                                        </p:attrNameLst>
                                      </p:cBhvr>
                                      <p:to>
                                        <p:strVal val="visible"/>
                                      </p:to>
                                    </p:set>
                                    <p:animEffect transition="in" filter="wipe(left)">
                                      <p:cBhvr>
                                        <p:cTn id="43" dur="1250" decel="100000"/>
                                        <p:tgtEl>
                                          <p:spTgt spid="16"/>
                                        </p:tgtEl>
                                      </p:cBhvr>
                                    </p:animEffect>
                                  </p:childTnLst>
                                </p:cTn>
                              </p:par>
                              <p:par>
                                <p:cTn id="44" presetID="10" presetClass="entr" presetSubtype="0" fill="hold" grpId="0" nodeType="withEffect">
                                  <p:stCondLst>
                                    <p:cond delay="37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950"/>
                                        <p:tgtEl>
                                          <p:spTgt spid="17"/>
                                        </p:tgtEl>
                                      </p:cBhvr>
                                    </p:animEffect>
                                    <p:anim calcmode="lin" valueType="num">
                                      <p:cBhvr>
                                        <p:cTn id="47" dur="950" decel="100000" fill="hold"/>
                                        <p:tgtEl>
                                          <p:spTgt spid="17"/>
                                        </p:tgtEl>
                                        <p:attrNameLst>
                                          <p:attrName>ppt_x</p:attrName>
                                        </p:attrNameLst>
                                      </p:cBhvr>
                                      <p:tavLst>
                                        <p:tav tm="0">
                                          <p:val>
                                            <p:strVal val="#ppt_x"/>
                                          </p:val>
                                        </p:tav>
                                        <p:tav tm="100000">
                                          <p:val>
                                            <p:strVal val="#ppt_x"/>
                                          </p:val>
                                        </p:tav>
                                      </p:tavLst>
                                    </p:anim>
                                    <p:anim calcmode="lin" valueType="num">
                                      <p:cBhvr>
                                        <p:cTn id="48" dur="950" decel="100000" fill="hold"/>
                                        <p:tgtEl>
                                          <p:spTgt spid="17"/>
                                        </p:tgtEl>
                                        <p:attrNameLst>
                                          <p:attrName>ppt_y</p:attrName>
                                        </p:attrNameLst>
                                      </p:cBhvr>
                                      <p:tavLst>
                                        <p:tav tm="0">
                                          <p:val>
                                            <p:strVal val="#ppt_y+0.022"/>
                                          </p:val>
                                        </p:tav>
                                        <p:tav tm="100000">
                                          <p:val>
                                            <p:strVal val="#ppt_y"/>
                                          </p:val>
                                        </p:tav>
                                      </p:tavLst>
                                    </p:anim>
                                  </p:childTnLst>
                                </p:cTn>
                              </p:par>
                              <p:par>
                                <p:cTn id="49" presetID="10" presetClass="entr" presetSubtype="0" fill="hold" grpId="0" nodeType="withEffect">
                                  <p:stCondLst>
                                    <p:cond delay="37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950"/>
                                        <p:tgtEl>
                                          <p:spTgt spid="18"/>
                                        </p:tgtEl>
                                      </p:cBhvr>
                                    </p:animEffect>
                                    <p:anim calcmode="lin" valueType="num">
                                      <p:cBhvr>
                                        <p:cTn id="52" dur="950" decel="100000" fill="hold"/>
                                        <p:tgtEl>
                                          <p:spTgt spid="18"/>
                                        </p:tgtEl>
                                        <p:attrNameLst>
                                          <p:attrName>ppt_x</p:attrName>
                                        </p:attrNameLst>
                                      </p:cBhvr>
                                      <p:tavLst>
                                        <p:tav tm="0">
                                          <p:val>
                                            <p:strVal val="#ppt_x"/>
                                          </p:val>
                                        </p:tav>
                                        <p:tav tm="100000">
                                          <p:val>
                                            <p:strVal val="#ppt_x"/>
                                          </p:val>
                                        </p:tav>
                                      </p:tavLst>
                                    </p:anim>
                                    <p:anim calcmode="lin" valueType="num">
                                      <p:cBhvr>
                                        <p:cTn id="53" dur="950" decel="100000" fill="hold"/>
                                        <p:tgtEl>
                                          <p:spTgt spid="18"/>
                                        </p:tgtEl>
                                        <p:attrNameLst>
                                          <p:attrName>ppt_y</p:attrName>
                                        </p:attrNameLst>
                                      </p:cBhvr>
                                      <p:tavLst>
                                        <p:tav tm="0">
                                          <p:val>
                                            <p:strVal val="#ppt_y+0.022"/>
                                          </p:val>
                                        </p:tav>
                                        <p:tav tm="100000">
                                          <p:val>
                                            <p:strVal val="#ppt_y"/>
                                          </p:val>
                                        </p:tav>
                                      </p:tavLst>
                                    </p:anim>
                                  </p:childTnLst>
                                </p:cTn>
                              </p:par>
                              <p:par>
                                <p:cTn id="54" presetID="10" presetClass="entr" presetSubtype="0" fill="hold" grpId="0" nodeType="withEffect">
                                  <p:stCondLst>
                                    <p:cond delay="37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950"/>
                                        <p:tgtEl>
                                          <p:spTgt spid="19"/>
                                        </p:tgtEl>
                                      </p:cBhvr>
                                    </p:animEffect>
                                    <p:anim calcmode="lin" valueType="num">
                                      <p:cBhvr>
                                        <p:cTn id="57" dur="950" decel="100000" fill="hold"/>
                                        <p:tgtEl>
                                          <p:spTgt spid="19"/>
                                        </p:tgtEl>
                                        <p:attrNameLst>
                                          <p:attrName>ppt_x</p:attrName>
                                        </p:attrNameLst>
                                      </p:cBhvr>
                                      <p:tavLst>
                                        <p:tav tm="0">
                                          <p:val>
                                            <p:strVal val="#ppt_x"/>
                                          </p:val>
                                        </p:tav>
                                        <p:tav tm="100000">
                                          <p:val>
                                            <p:strVal val="#ppt_x"/>
                                          </p:val>
                                        </p:tav>
                                      </p:tavLst>
                                    </p:anim>
                                    <p:anim calcmode="lin" valueType="num">
                                      <p:cBhvr>
                                        <p:cTn id="58" dur="950" decel="100000" fill="hold"/>
                                        <p:tgtEl>
                                          <p:spTgt spid="19"/>
                                        </p:tgtEl>
                                        <p:attrNameLst>
                                          <p:attrName>ppt_y</p:attrName>
                                        </p:attrNameLst>
                                      </p:cBhvr>
                                      <p:tavLst>
                                        <p:tav tm="0">
                                          <p:val>
                                            <p:strVal val="#ppt_y+0.022"/>
                                          </p:val>
                                        </p:tav>
                                        <p:tav tm="100000">
                                          <p:val>
                                            <p:strVal val="#ppt_y"/>
                                          </p:val>
                                        </p:tav>
                                      </p:tavLst>
                                    </p:anim>
                                  </p:childTnLst>
                                </p:cTn>
                              </p:par>
                              <p:par>
                                <p:cTn id="59" presetID="22" presetClass="entr" presetSubtype="8" fill="hold" nodeType="withEffect">
                                  <p:stCondLst>
                                    <p:cond delay="480"/>
                                  </p:stCondLst>
                                  <p:childTnLst>
                                    <p:set>
                                      <p:cBhvr>
                                        <p:cTn id="60" dur="1" fill="hold">
                                          <p:stCondLst>
                                            <p:cond delay="0"/>
                                          </p:stCondLst>
                                        </p:cTn>
                                        <p:tgtEl>
                                          <p:spTgt spid="20"/>
                                        </p:tgtEl>
                                        <p:attrNameLst>
                                          <p:attrName>style.visibility</p:attrName>
                                        </p:attrNameLst>
                                      </p:cBhvr>
                                      <p:to>
                                        <p:strVal val="visible"/>
                                      </p:to>
                                    </p:set>
                                    <p:animEffect transition="in" filter="wipe(left)">
                                      <p:cBhvr>
                                        <p:cTn id="61" dur="1250" decel="100000"/>
                                        <p:tgtEl>
                                          <p:spTgt spid="20"/>
                                        </p:tgtEl>
                                      </p:cBhvr>
                                    </p:animEffect>
                                  </p:childTnLst>
                                </p:cTn>
                              </p:par>
                              <p:par>
                                <p:cTn id="62" presetID="10" presetClass="entr" presetSubtype="0" fill="hold" grpId="0" nodeType="withEffect">
                                  <p:stCondLst>
                                    <p:cond delay="48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950"/>
                                        <p:tgtEl>
                                          <p:spTgt spid="21"/>
                                        </p:tgtEl>
                                      </p:cBhvr>
                                    </p:animEffect>
                                    <p:anim calcmode="lin" valueType="num">
                                      <p:cBhvr>
                                        <p:cTn id="65" dur="950" decel="100000" fill="hold"/>
                                        <p:tgtEl>
                                          <p:spTgt spid="21"/>
                                        </p:tgtEl>
                                        <p:attrNameLst>
                                          <p:attrName>ppt_x</p:attrName>
                                        </p:attrNameLst>
                                      </p:cBhvr>
                                      <p:tavLst>
                                        <p:tav tm="0">
                                          <p:val>
                                            <p:strVal val="#ppt_x"/>
                                          </p:val>
                                        </p:tav>
                                        <p:tav tm="100000">
                                          <p:val>
                                            <p:strVal val="#ppt_x"/>
                                          </p:val>
                                        </p:tav>
                                      </p:tavLst>
                                    </p:anim>
                                    <p:anim calcmode="lin" valueType="num">
                                      <p:cBhvr>
                                        <p:cTn id="66" dur="950" decel="100000" fill="hold"/>
                                        <p:tgtEl>
                                          <p:spTgt spid="21"/>
                                        </p:tgtEl>
                                        <p:attrNameLst>
                                          <p:attrName>ppt_y</p:attrName>
                                        </p:attrNameLst>
                                      </p:cBhvr>
                                      <p:tavLst>
                                        <p:tav tm="0">
                                          <p:val>
                                            <p:strVal val="#ppt_y+0.022"/>
                                          </p:val>
                                        </p:tav>
                                        <p:tav tm="100000">
                                          <p:val>
                                            <p:strVal val="#ppt_y"/>
                                          </p:val>
                                        </p:tav>
                                      </p:tavLst>
                                    </p:anim>
                                  </p:childTnLst>
                                </p:cTn>
                              </p:par>
                              <p:par>
                                <p:cTn id="67" presetID="10" presetClass="entr" presetSubtype="0" fill="hold" grpId="0" nodeType="withEffect">
                                  <p:stCondLst>
                                    <p:cond delay="48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950"/>
                                        <p:tgtEl>
                                          <p:spTgt spid="22"/>
                                        </p:tgtEl>
                                      </p:cBhvr>
                                    </p:animEffect>
                                    <p:anim calcmode="lin" valueType="num">
                                      <p:cBhvr>
                                        <p:cTn id="70" dur="950" decel="100000" fill="hold"/>
                                        <p:tgtEl>
                                          <p:spTgt spid="22"/>
                                        </p:tgtEl>
                                        <p:attrNameLst>
                                          <p:attrName>ppt_x</p:attrName>
                                        </p:attrNameLst>
                                      </p:cBhvr>
                                      <p:tavLst>
                                        <p:tav tm="0">
                                          <p:val>
                                            <p:strVal val="#ppt_x"/>
                                          </p:val>
                                        </p:tav>
                                        <p:tav tm="100000">
                                          <p:val>
                                            <p:strVal val="#ppt_x"/>
                                          </p:val>
                                        </p:tav>
                                      </p:tavLst>
                                    </p:anim>
                                    <p:anim calcmode="lin" valueType="num">
                                      <p:cBhvr>
                                        <p:cTn id="71" dur="950" decel="100000" fill="hold"/>
                                        <p:tgtEl>
                                          <p:spTgt spid="22"/>
                                        </p:tgtEl>
                                        <p:attrNameLst>
                                          <p:attrName>ppt_y</p:attrName>
                                        </p:attrNameLst>
                                      </p:cBhvr>
                                      <p:tavLst>
                                        <p:tav tm="0">
                                          <p:val>
                                            <p:strVal val="#ppt_y+0.022"/>
                                          </p:val>
                                        </p:tav>
                                        <p:tav tm="100000">
                                          <p:val>
                                            <p:strVal val="#ppt_y"/>
                                          </p:val>
                                        </p:tav>
                                      </p:tavLst>
                                    </p:anim>
                                  </p:childTnLst>
                                </p:cTn>
                              </p:par>
                              <p:par>
                                <p:cTn id="72" presetID="10" presetClass="entr" presetSubtype="0" fill="hold" grpId="0" nodeType="withEffect">
                                  <p:stCondLst>
                                    <p:cond delay="48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950"/>
                                        <p:tgtEl>
                                          <p:spTgt spid="23"/>
                                        </p:tgtEl>
                                      </p:cBhvr>
                                    </p:animEffect>
                                    <p:anim calcmode="lin" valueType="num">
                                      <p:cBhvr>
                                        <p:cTn id="75" dur="950" decel="100000" fill="hold"/>
                                        <p:tgtEl>
                                          <p:spTgt spid="23"/>
                                        </p:tgtEl>
                                        <p:attrNameLst>
                                          <p:attrName>ppt_x</p:attrName>
                                        </p:attrNameLst>
                                      </p:cBhvr>
                                      <p:tavLst>
                                        <p:tav tm="0">
                                          <p:val>
                                            <p:strVal val="#ppt_x"/>
                                          </p:val>
                                        </p:tav>
                                        <p:tav tm="100000">
                                          <p:val>
                                            <p:strVal val="#ppt_x"/>
                                          </p:val>
                                        </p:tav>
                                      </p:tavLst>
                                    </p:anim>
                                    <p:anim calcmode="lin" valueType="num">
                                      <p:cBhvr>
                                        <p:cTn id="76" dur="950" decel="100000" fill="hold"/>
                                        <p:tgtEl>
                                          <p:spTgt spid="23"/>
                                        </p:tgtEl>
                                        <p:attrNameLst>
                                          <p:attrName>ppt_y</p:attrName>
                                        </p:attrNameLst>
                                      </p:cBhvr>
                                      <p:tavLst>
                                        <p:tav tm="0">
                                          <p:val>
                                            <p:strVal val="#ppt_y+0.022"/>
                                          </p:val>
                                        </p:tav>
                                        <p:tav tm="100000">
                                          <p:val>
                                            <p:strVal val="#ppt_y"/>
                                          </p:val>
                                        </p:tav>
                                      </p:tavLst>
                                    </p:anim>
                                  </p:childTnLst>
                                </p:cTn>
                              </p:par>
                              <p:par>
                                <p:cTn id="77" presetID="22" presetClass="entr" presetSubtype="8" fill="hold" nodeType="withEffect">
                                  <p:stCondLst>
                                    <p:cond delay="590"/>
                                  </p:stCondLst>
                                  <p:childTnLst>
                                    <p:set>
                                      <p:cBhvr>
                                        <p:cTn id="78" dur="1" fill="hold">
                                          <p:stCondLst>
                                            <p:cond delay="0"/>
                                          </p:stCondLst>
                                        </p:cTn>
                                        <p:tgtEl>
                                          <p:spTgt spid="24"/>
                                        </p:tgtEl>
                                        <p:attrNameLst>
                                          <p:attrName>style.visibility</p:attrName>
                                        </p:attrNameLst>
                                      </p:cBhvr>
                                      <p:to>
                                        <p:strVal val="visible"/>
                                      </p:to>
                                    </p:set>
                                    <p:animEffect transition="in" filter="wipe(left)">
                                      <p:cBhvr>
                                        <p:cTn id="79" dur="1250" decel="100000"/>
                                        <p:tgtEl>
                                          <p:spTgt spid="24"/>
                                        </p:tgtEl>
                                      </p:cBhvr>
                                    </p:animEffect>
                                  </p:childTnLst>
                                </p:cTn>
                              </p:par>
                              <p:par>
                                <p:cTn id="80" presetID="10" presetClass="entr" presetSubtype="0" fill="hold" grpId="0" nodeType="withEffect">
                                  <p:stCondLst>
                                    <p:cond delay="59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950"/>
                                        <p:tgtEl>
                                          <p:spTgt spid="25"/>
                                        </p:tgtEl>
                                      </p:cBhvr>
                                    </p:animEffect>
                                    <p:anim calcmode="lin" valueType="num">
                                      <p:cBhvr>
                                        <p:cTn id="83" dur="950" decel="100000" fill="hold"/>
                                        <p:tgtEl>
                                          <p:spTgt spid="25"/>
                                        </p:tgtEl>
                                        <p:attrNameLst>
                                          <p:attrName>ppt_x</p:attrName>
                                        </p:attrNameLst>
                                      </p:cBhvr>
                                      <p:tavLst>
                                        <p:tav tm="0">
                                          <p:val>
                                            <p:strVal val="#ppt_x"/>
                                          </p:val>
                                        </p:tav>
                                        <p:tav tm="100000">
                                          <p:val>
                                            <p:strVal val="#ppt_x"/>
                                          </p:val>
                                        </p:tav>
                                      </p:tavLst>
                                    </p:anim>
                                    <p:anim calcmode="lin" valueType="num">
                                      <p:cBhvr>
                                        <p:cTn id="84" dur="950" decel="100000" fill="hold"/>
                                        <p:tgtEl>
                                          <p:spTgt spid="25"/>
                                        </p:tgtEl>
                                        <p:attrNameLst>
                                          <p:attrName>ppt_y</p:attrName>
                                        </p:attrNameLst>
                                      </p:cBhvr>
                                      <p:tavLst>
                                        <p:tav tm="0">
                                          <p:val>
                                            <p:strVal val="#ppt_y+0.022"/>
                                          </p:val>
                                        </p:tav>
                                        <p:tav tm="100000">
                                          <p:val>
                                            <p:strVal val="#ppt_y"/>
                                          </p:val>
                                        </p:tav>
                                      </p:tavLst>
                                    </p:anim>
                                  </p:childTnLst>
                                </p:cTn>
                              </p:par>
                              <p:par>
                                <p:cTn id="85" presetID="10" presetClass="entr" presetSubtype="0" fill="hold" grpId="0" nodeType="withEffect">
                                  <p:stCondLst>
                                    <p:cond delay="590"/>
                                  </p:stCondLst>
                                  <p:childTnLst>
                                    <p:set>
                                      <p:cBhvr>
                                        <p:cTn id="86" dur="1" fill="hold">
                                          <p:stCondLst>
                                            <p:cond delay="0"/>
                                          </p:stCondLst>
                                        </p:cTn>
                                        <p:tgtEl>
                                          <p:spTgt spid="26"/>
                                        </p:tgtEl>
                                        <p:attrNameLst>
                                          <p:attrName>style.visibility</p:attrName>
                                        </p:attrNameLst>
                                      </p:cBhvr>
                                      <p:to>
                                        <p:strVal val="visible"/>
                                      </p:to>
                                    </p:set>
                                    <p:animEffect transition="in" filter="fade">
                                      <p:cBhvr>
                                        <p:cTn id="87" dur="950"/>
                                        <p:tgtEl>
                                          <p:spTgt spid="26"/>
                                        </p:tgtEl>
                                      </p:cBhvr>
                                    </p:animEffect>
                                    <p:anim calcmode="lin" valueType="num">
                                      <p:cBhvr>
                                        <p:cTn id="88" dur="950" decel="100000" fill="hold"/>
                                        <p:tgtEl>
                                          <p:spTgt spid="26"/>
                                        </p:tgtEl>
                                        <p:attrNameLst>
                                          <p:attrName>ppt_x</p:attrName>
                                        </p:attrNameLst>
                                      </p:cBhvr>
                                      <p:tavLst>
                                        <p:tav tm="0">
                                          <p:val>
                                            <p:strVal val="#ppt_x"/>
                                          </p:val>
                                        </p:tav>
                                        <p:tav tm="100000">
                                          <p:val>
                                            <p:strVal val="#ppt_x"/>
                                          </p:val>
                                        </p:tav>
                                      </p:tavLst>
                                    </p:anim>
                                    <p:anim calcmode="lin" valueType="num">
                                      <p:cBhvr>
                                        <p:cTn id="89" dur="950" decel="100000" fill="hold"/>
                                        <p:tgtEl>
                                          <p:spTgt spid="26"/>
                                        </p:tgtEl>
                                        <p:attrNameLst>
                                          <p:attrName>ppt_y</p:attrName>
                                        </p:attrNameLst>
                                      </p:cBhvr>
                                      <p:tavLst>
                                        <p:tav tm="0">
                                          <p:val>
                                            <p:strVal val="#ppt_y+0.022"/>
                                          </p:val>
                                        </p:tav>
                                        <p:tav tm="100000">
                                          <p:val>
                                            <p:strVal val="#ppt_y"/>
                                          </p:val>
                                        </p:tav>
                                      </p:tavLst>
                                    </p:anim>
                                  </p:childTnLst>
                                </p:cTn>
                              </p:par>
                              <p:par>
                                <p:cTn id="90" presetID="10" presetClass="entr" presetSubtype="0" fill="hold" grpId="0" nodeType="withEffect">
                                  <p:stCondLst>
                                    <p:cond delay="59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950"/>
                                        <p:tgtEl>
                                          <p:spTgt spid="27"/>
                                        </p:tgtEl>
                                      </p:cBhvr>
                                    </p:animEffect>
                                    <p:anim calcmode="lin" valueType="num">
                                      <p:cBhvr>
                                        <p:cTn id="93" dur="950" decel="100000" fill="hold"/>
                                        <p:tgtEl>
                                          <p:spTgt spid="27"/>
                                        </p:tgtEl>
                                        <p:attrNameLst>
                                          <p:attrName>ppt_x</p:attrName>
                                        </p:attrNameLst>
                                      </p:cBhvr>
                                      <p:tavLst>
                                        <p:tav tm="0">
                                          <p:val>
                                            <p:strVal val="#ppt_x"/>
                                          </p:val>
                                        </p:tav>
                                        <p:tav tm="100000">
                                          <p:val>
                                            <p:strVal val="#ppt_x"/>
                                          </p:val>
                                        </p:tav>
                                      </p:tavLst>
                                    </p:anim>
                                    <p:anim calcmode="lin" valueType="num">
                                      <p:cBhvr>
                                        <p:cTn id="94" dur="950" decel="100000" fill="hold"/>
                                        <p:tgtEl>
                                          <p:spTgt spid="27"/>
                                        </p:tgtEl>
                                        <p:attrNameLst>
                                          <p:attrName>ppt_y</p:attrName>
                                        </p:attrNameLst>
                                      </p:cBhvr>
                                      <p:tavLst>
                                        <p:tav tm="0">
                                          <p:val>
                                            <p:strVal val="#ppt_y+0.022"/>
                                          </p:val>
                                        </p:tav>
                                        <p:tav tm="100000">
                                          <p:val>
                                            <p:strVal val="#ppt_y"/>
                                          </p:val>
                                        </p:tav>
                                      </p:tavLst>
                                    </p:anim>
                                  </p:childTnLst>
                                </p:cTn>
                              </p:par>
                              <p:par>
                                <p:cTn id="95" presetID="22" presetClass="entr" presetSubtype="8" fill="hold" nodeType="withEffect">
                                  <p:stCondLst>
                                    <p:cond delay="70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250" decel="100000"/>
                                        <p:tgtEl>
                                          <p:spTgt spid="28"/>
                                        </p:tgtEl>
                                      </p:cBhvr>
                                    </p:animEffect>
                                  </p:childTnLst>
                                </p:cTn>
                              </p:par>
                              <p:par>
                                <p:cTn id="98" presetID="10" presetClass="entr" presetSubtype="0" fill="hold" grpId="0" nodeType="withEffect">
                                  <p:stCondLst>
                                    <p:cond delay="70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950"/>
                                        <p:tgtEl>
                                          <p:spTgt spid="29"/>
                                        </p:tgtEl>
                                      </p:cBhvr>
                                    </p:animEffect>
                                    <p:anim calcmode="lin" valueType="num">
                                      <p:cBhvr>
                                        <p:cTn id="101" dur="950" decel="100000" fill="hold"/>
                                        <p:tgtEl>
                                          <p:spTgt spid="29"/>
                                        </p:tgtEl>
                                        <p:attrNameLst>
                                          <p:attrName>ppt_x</p:attrName>
                                        </p:attrNameLst>
                                      </p:cBhvr>
                                      <p:tavLst>
                                        <p:tav tm="0">
                                          <p:val>
                                            <p:strVal val="#ppt_x"/>
                                          </p:val>
                                        </p:tav>
                                        <p:tav tm="100000">
                                          <p:val>
                                            <p:strVal val="#ppt_x"/>
                                          </p:val>
                                        </p:tav>
                                      </p:tavLst>
                                    </p:anim>
                                    <p:anim calcmode="lin" valueType="num">
                                      <p:cBhvr>
                                        <p:cTn id="102" dur="950" decel="100000" fill="hold"/>
                                        <p:tgtEl>
                                          <p:spTgt spid="29"/>
                                        </p:tgtEl>
                                        <p:attrNameLst>
                                          <p:attrName>ppt_y</p:attrName>
                                        </p:attrNameLst>
                                      </p:cBhvr>
                                      <p:tavLst>
                                        <p:tav tm="0">
                                          <p:val>
                                            <p:strVal val="#ppt_y+0.022"/>
                                          </p:val>
                                        </p:tav>
                                        <p:tav tm="100000">
                                          <p:val>
                                            <p:strVal val="#ppt_y"/>
                                          </p:val>
                                        </p:tav>
                                      </p:tavLst>
                                    </p:anim>
                                  </p:childTnLst>
                                </p:cTn>
                              </p:par>
                              <p:par>
                                <p:cTn id="103" presetID="10" presetClass="entr" presetSubtype="0" fill="hold" grpId="0" nodeType="withEffect">
                                  <p:stCondLst>
                                    <p:cond delay="700"/>
                                  </p:stCondLst>
                                  <p:childTnLst>
                                    <p:set>
                                      <p:cBhvr>
                                        <p:cTn id="104" dur="1" fill="hold">
                                          <p:stCondLst>
                                            <p:cond delay="0"/>
                                          </p:stCondLst>
                                        </p:cTn>
                                        <p:tgtEl>
                                          <p:spTgt spid="30"/>
                                        </p:tgtEl>
                                        <p:attrNameLst>
                                          <p:attrName>style.visibility</p:attrName>
                                        </p:attrNameLst>
                                      </p:cBhvr>
                                      <p:to>
                                        <p:strVal val="visible"/>
                                      </p:to>
                                    </p:set>
                                    <p:animEffect transition="in" filter="fade">
                                      <p:cBhvr>
                                        <p:cTn id="105" dur="950"/>
                                        <p:tgtEl>
                                          <p:spTgt spid="30"/>
                                        </p:tgtEl>
                                      </p:cBhvr>
                                    </p:animEffect>
                                    <p:anim calcmode="lin" valueType="num">
                                      <p:cBhvr>
                                        <p:cTn id="106" dur="950" decel="100000" fill="hold"/>
                                        <p:tgtEl>
                                          <p:spTgt spid="30"/>
                                        </p:tgtEl>
                                        <p:attrNameLst>
                                          <p:attrName>ppt_x</p:attrName>
                                        </p:attrNameLst>
                                      </p:cBhvr>
                                      <p:tavLst>
                                        <p:tav tm="0">
                                          <p:val>
                                            <p:strVal val="#ppt_x"/>
                                          </p:val>
                                        </p:tav>
                                        <p:tav tm="100000">
                                          <p:val>
                                            <p:strVal val="#ppt_x"/>
                                          </p:val>
                                        </p:tav>
                                      </p:tavLst>
                                    </p:anim>
                                    <p:anim calcmode="lin" valueType="num">
                                      <p:cBhvr>
                                        <p:cTn id="107" dur="950" decel="100000" fill="hold"/>
                                        <p:tgtEl>
                                          <p:spTgt spid="30"/>
                                        </p:tgtEl>
                                        <p:attrNameLst>
                                          <p:attrName>ppt_y</p:attrName>
                                        </p:attrNameLst>
                                      </p:cBhvr>
                                      <p:tavLst>
                                        <p:tav tm="0">
                                          <p:val>
                                            <p:strVal val="#ppt_y+0.022"/>
                                          </p:val>
                                        </p:tav>
                                        <p:tav tm="100000">
                                          <p:val>
                                            <p:strVal val="#ppt_y"/>
                                          </p:val>
                                        </p:tav>
                                      </p:tavLst>
                                    </p:anim>
                                  </p:childTnLst>
                                </p:cTn>
                              </p:par>
                              <p:par>
                                <p:cTn id="108" presetID="10" presetClass="entr" presetSubtype="0" fill="hold" grpId="0" nodeType="withEffect">
                                  <p:stCondLst>
                                    <p:cond delay="70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950"/>
                                        <p:tgtEl>
                                          <p:spTgt spid="31"/>
                                        </p:tgtEl>
                                      </p:cBhvr>
                                    </p:animEffect>
                                    <p:anim calcmode="lin" valueType="num">
                                      <p:cBhvr>
                                        <p:cTn id="111" dur="950" decel="100000" fill="hold"/>
                                        <p:tgtEl>
                                          <p:spTgt spid="31"/>
                                        </p:tgtEl>
                                        <p:attrNameLst>
                                          <p:attrName>ppt_x</p:attrName>
                                        </p:attrNameLst>
                                      </p:cBhvr>
                                      <p:tavLst>
                                        <p:tav tm="0">
                                          <p:val>
                                            <p:strVal val="#ppt_x"/>
                                          </p:val>
                                        </p:tav>
                                        <p:tav tm="100000">
                                          <p:val>
                                            <p:strVal val="#ppt_x"/>
                                          </p:val>
                                        </p:tav>
                                      </p:tavLst>
                                    </p:anim>
                                    <p:anim calcmode="lin" valueType="num">
                                      <p:cBhvr>
                                        <p:cTn id="112" dur="950" decel="100000" fill="hold"/>
                                        <p:tgtEl>
                                          <p:spTgt spid="31"/>
                                        </p:tgtEl>
                                        <p:attrNameLst>
                                          <p:attrName>ppt_y</p:attrName>
                                        </p:attrNameLst>
                                      </p:cBhvr>
                                      <p:tavLst>
                                        <p:tav tm="0">
                                          <p:val>
                                            <p:strVal val="#ppt_y+0.022"/>
                                          </p:val>
                                        </p:tav>
                                        <p:tav tm="100000">
                                          <p:val>
                                            <p:strVal val="#ppt_y"/>
                                          </p:val>
                                        </p:tav>
                                      </p:tavLst>
                                    </p:anim>
                                  </p:childTnLst>
                                </p:cTn>
                              </p:par>
                              <p:par>
                                <p:cTn id="113" presetID="22" presetClass="entr" presetSubtype="8" fill="hold" nodeType="withEffect">
                                  <p:stCondLst>
                                    <p:cond delay="810"/>
                                  </p:stCondLst>
                                  <p:childTnLst>
                                    <p:set>
                                      <p:cBhvr>
                                        <p:cTn id="114" dur="1" fill="hold">
                                          <p:stCondLst>
                                            <p:cond delay="0"/>
                                          </p:stCondLst>
                                        </p:cTn>
                                        <p:tgtEl>
                                          <p:spTgt spid="32"/>
                                        </p:tgtEl>
                                        <p:attrNameLst>
                                          <p:attrName>style.visibility</p:attrName>
                                        </p:attrNameLst>
                                      </p:cBhvr>
                                      <p:to>
                                        <p:strVal val="visible"/>
                                      </p:to>
                                    </p:set>
                                    <p:animEffect transition="in" filter="wipe(left)">
                                      <p:cBhvr>
                                        <p:cTn id="115" dur="1250" decel="100000"/>
                                        <p:tgtEl>
                                          <p:spTgt spid="32"/>
                                        </p:tgtEl>
                                      </p:cBhvr>
                                    </p:animEffect>
                                  </p:childTnLst>
                                </p:cTn>
                              </p:par>
                              <p:par>
                                <p:cTn id="116" presetID="10" presetClass="entr" presetSubtype="0" fill="hold" grpId="0" nodeType="withEffect">
                                  <p:stCondLst>
                                    <p:cond delay="92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950"/>
                                        <p:tgtEl>
                                          <p:spTgt spid="33"/>
                                        </p:tgtEl>
                                      </p:cBhvr>
                                    </p:animEffect>
                                    <p:anim calcmode="lin" valueType="num">
                                      <p:cBhvr>
                                        <p:cTn id="119" dur="950" decel="100000" fill="hold"/>
                                        <p:tgtEl>
                                          <p:spTgt spid="33"/>
                                        </p:tgtEl>
                                        <p:attrNameLst>
                                          <p:attrName>ppt_x</p:attrName>
                                        </p:attrNameLst>
                                      </p:cBhvr>
                                      <p:tavLst>
                                        <p:tav tm="0">
                                          <p:val>
                                            <p:strVal val="#ppt_x"/>
                                          </p:val>
                                        </p:tav>
                                        <p:tav tm="100000">
                                          <p:val>
                                            <p:strVal val="#ppt_x"/>
                                          </p:val>
                                        </p:tav>
                                      </p:tavLst>
                                    </p:anim>
                                    <p:anim calcmode="lin" valueType="num">
                                      <p:cBhvr>
                                        <p:cTn id="120" dur="950" decel="100000" fill="hold"/>
                                        <p:tgtEl>
                                          <p:spTgt spid="33"/>
                                        </p:tgtEl>
                                        <p:attrNameLst>
                                          <p:attrName>ppt_y</p:attrName>
                                        </p:attrNameLst>
                                      </p:cBhvr>
                                      <p:tavLst>
                                        <p:tav tm="0">
                                          <p:val>
                                            <p:strVal val="#ppt_y+0.02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3" grpId="0" animBg="1"/>
      <p:bldP spid="14" grpId="0" animBg="1"/>
      <p:bldP spid="15" grpId="0" animBg="1"/>
      <p:bldP spid="17" grpId="0" animBg="1"/>
      <p:bldP spid="18" grpId="0" animBg="1"/>
      <p:bldP spid="19" grpId="0" animBg="1"/>
      <p:bldP spid="21" grpId="0" animBg="1"/>
      <p:bldP spid="22" grpId="0" animBg="1"/>
      <p:bldP spid="23" grpId="0" animBg="1"/>
      <p:bldP spid="25" grpId="0" animBg="1"/>
      <p:bldP spid="26" grpId="0" animBg="1"/>
      <p:bldP spid="27" grpId="0" animBg="1"/>
      <p:bldP spid="29" grpId="0" animBg="1"/>
      <p:bldP spid="30" grpId="0" animBg="1"/>
      <p:bldP spid="31" grpId="0" animBg="1"/>
      <p:bldP spid="3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B"/>
        </a:solidFill>
        <a:effectLst/>
      </p:bgPr>
    </p:bg>
    <p:spTree>
      <p:nvGrpSpPr>
        <p:cNvPr id="1" name=""/>
        <p:cNvGrpSpPr/>
        <p:nvPr/>
      </p:nvGrpSpPr>
      <p:grpSpPr>
        <a:xfrm>
          <a:off x="0" y="0"/>
          <a:ext cx="0" cy="0"/>
          <a:chOff x="0" y="0"/>
          <a:chExt cx="0" cy="0"/>
        </a:xfrm>
      </p:grpSpPr>
      <p:pic>
        <p:nvPicPr>
          <p:cNvPr id="2" name="!!Photo" descr="E:/Matter Of Place/Matter Of Place Codebase/src/assets/la-jolla.jpg"/>
          <p:cNvPicPr>
            <a:picLocks noChangeAspect="1"/>
          </p:cNvPicPr>
          <p:nvPr/>
        </p:nvPicPr>
        <p:blipFill>
          <a:blip r:embed="rId3"/>
          <a:srcRect l="26614" r="26614"/>
          <a:stretch/>
        </p:blipFill>
        <p:spPr>
          <a:xfrm>
            <a:off x="7711135" y="0"/>
            <a:ext cx="4480560" cy="6858000"/>
          </a:xfrm>
          <a:prstGeom prst="rect">
            <a:avLst/>
          </a:prstGeom>
        </p:spPr>
      </p:pic>
      <p:sp>
        <p:nvSpPr>
          <p:cNvPr id="3" name="!!Agenda">
            <a:hlinkClick r:id="" action="ppaction://noaction"/>
          </p:cNvPr>
          <p:cNvSpPr/>
          <p:nvPr/>
        </p:nvSpPr>
        <p:spPr>
          <a:xfrm>
            <a:off x="5882335" y="381000"/>
            <a:ext cx="1097280" cy="228600"/>
          </a:xfrm>
          <a:prstGeom prst="rect">
            <a:avLst/>
          </a:prstGeom>
          <a:noFill/>
          <a:ln/>
        </p:spPr>
        <p:txBody>
          <a:bodyPr wrap="square" lIns="0" tIns="0" rIns="0" bIns="0" rtlCol="0" anchor="ctr"/>
          <a:lstStyle/>
          <a:p>
            <a:pPr marL="0" indent="0" algn="r">
              <a:buNone/>
            </a:pPr>
            <a:r>
              <a:rPr lang="en-US" sz="1000" u="sng" kern="0" spc="250" dirty="0">
                <a:solidFill>
                  <a:srgbClr val="11110F"/>
                </a:solidFill>
                <a:latin typeface="Jost" pitchFamily="34" charset="0"/>
                <a:ea typeface="Jost" pitchFamily="34" charset="-122"/>
                <a:cs typeface="Jost" pitchFamily="34" charset="-120"/>
                <a:hlinkClick r:id="" action="ppaction://noaction">
                  <a:extLst>
                    <a:ext uri="{A12FA001-AC4F-418D-AE19-62706E023703}">
                      <ahyp:hlinkClr xmlns:ahyp="http://schemas.microsoft.com/office/drawing/2018/hyperlinkcolor" val="tx"/>
                    </a:ext>
                  </a:extLst>
                </a:hlinkClick>
              </a:rPr>
              <a:t>Agenda</a:t>
            </a:r>
            <a:endParaRPr lang="en-US" sz="1000" dirty="0"/>
          </a:p>
        </p:txBody>
      </p:sp>
      <p:sp>
        <p:nvSpPr>
          <p:cNvPr id="4" name="!!Footer"/>
          <p:cNvSpPr/>
          <p:nvPr/>
        </p:nvSpPr>
        <p:spPr>
          <a:xfrm>
            <a:off x="731520" y="6172200"/>
            <a:ext cx="4572000" cy="228600"/>
          </a:xfrm>
          <a:prstGeom prst="rect">
            <a:avLst/>
          </a:prstGeom>
          <a:noFill/>
          <a:ln/>
        </p:spPr>
        <p:txBody>
          <a:bodyPr wrap="square" lIns="0" tIns="0" rIns="0" bIns="0" rtlCol="0" anchor="ctr"/>
          <a:lstStyle/>
          <a:p>
            <a:pPr marL="0" indent="0">
              <a:buNone/>
            </a:pPr>
            <a:r>
              <a:rPr lang="en-US" sz="900" kern="0" spc="250" dirty="0">
                <a:solidFill>
                  <a:srgbClr val="5E5A54"/>
                </a:solidFill>
                <a:latin typeface="Jost" pitchFamily="34" charset="0"/>
                <a:ea typeface="Jost" pitchFamily="34" charset="-122"/>
                <a:cs typeface="Jost" pitchFamily="34" charset="-120"/>
              </a:rPr>
              <a:t>MATTER OF PLACE  ·  FOR PARTNERS</a:t>
            </a:r>
            <a:endParaRPr lang="en-US" sz="900" dirty="0"/>
          </a:p>
        </p:txBody>
      </p:sp>
      <p:sp>
        <p:nvSpPr>
          <p:cNvPr id="5" name="!!Page"/>
          <p:cNvSpPr/>
          <p:nvPr/>
        </p:nvSpPr>
        <p:spPr>
          <a:xfrm>
            <a:off x="5882335" y="6172200"/>
            <a:ext cx="1097280" cy="228600"/>
          </a:xfrm>
          <a:prstGeom prst="rect">
            <a:avLst/>
          </a:prstGeom>
          <a:noFill/>
          <a:ln/>
        </p:spPr>
        <p:txBody>
          <a:bodyPr wrap="square" lIns="0" tIns="0" rIns="0" bIns="0" rtlCol="0" anchor="ctr"/>
          <a:lstStyle/>
          <a:p>
            <a:pPr marL="0" indent="0" algn="r">
              <a:buNone/>
            </a:pPr>
            <a:r>
              <a:rPr lang="en-US" sz="900" kern="0" spc="250" dirty="0">
                <a:solidFill>
                  <a:srgbClr val="5E5A54"/>
                </a:solidFill>
                <a:latin typeface="Jost" pitchFamily="34" charset="0"/>
                <a:ea typeface="Jost" pitchFamily="34" charset="-122"/>
                <a:cs typeface="Jost" pitchFamily="34" charset="-120"/>
              </a:rPr>
              <a:t>06 / 14</a:t>
            </a:r>
            <a:endParaRPr lang="en-US" sz="900" dirty="0"/>
          </a:p>
        </p:txBody>
      </p:sp>
      <p:sp>
        <p:nvSpPr>
          <p:cNvPr id="6" name="!!Eyebrow"/>
          <p:cNvSpPr/>
          <p:nvPr/>
        </p:nvSpPr>
        <p:spPr>
          <a:xfrm>
            <a:off x="731520" y="868680"/>
            <a:ext cx="5486400" cy="274320"/>
          </a:xfrm>
          <a:prstGeom prst="rect">
            <a:avLst/>
          </a:prstGeom>
          <a:noFill/>
          <a:ln/>
        </p:spPr>
        <p:txBody>
          <a:bodyPr wrap="square" lIns="0" tIns="0" rIns="0" bIns="0" rtlCol="0" anchor="ctr"/>
          <a:lstStyle/>
          <a:p>
            <a:pPr marL="0" indent="0">
              <a:buNone/>
            </a:pPr>
            <a:r>
              <a:rPr lang="en-US" sz="1050" kern="0" spc="300" dirty="0">
                <a:solidFill>
                  <a:srgbClr val="575751"/>
                </a:solidFill>
                <a:latin typeface="Jost" pitchFamily="34" charset="0"/>
                <a:ea typeface="Jost" pitchFamily="34" charset="-122"/>
                <a:cs typeface="Jost" pitchFamily="34" charset="-120"/>
              </a:rPr>
              <a:t>PROPERTY EXPOSURE</a:t>
            </a:r>
            <a:endParaRPr lang="en-US" sz="1050" dirty="0"/>
          </a:p>
        </p:txBody>
      </p:sp>
      <p:sp>
        <p:nvSpPr>
          <p:cNvPr id="7" name="!!Title"/>
          <p:cNvSpPr/>
          <p:nvPr/>
        </p:nvSpPr>
        <p:spPr>
          <a:xfrm>
            <a:off x="736600" y="1193800"/>
            <a:ext cx="4318000" cy="711200"/>
          </a:xfrm>
          <a:prstGeom prst="rect">
            <a:avLst/>
          </a:prstGeom>
          <a:noFill/>
          <a:ln/>
        </p:spPr>
        <p:txBody>
          <a:bodyPr wrap="square" lIns="0" tIns="0" rIns="0" bIns="0" rtlCol="0" anchor="t"/>
          <a:lstStyle/>
          <a:p>
            <a:pPr marL="0" indent="0">
              <a:buNone/>
            </a:pPr>
            <a:r>
              <a:rPr lang="en-US" sz="3800" dirty="0">
                <a:solidFill>
                  <a:srgbClr val="11110F"/>
                </a:solidFill>
                <a:latin typeface="Cormorant Garamond" pitchFamily="34" charset="0"/>
                <a:ea typeface="Cormorant Garamond" pitchFamily="34" charset="-122"/>
                <a:cs typeface="Cormorant Garamond" pitchFamily="34" charset="-120"/>
              </a:rPr>
              <a:t>The Feature</a:t>
            </a:r>
            <a:endParaRPr lang="en-US" sz="3800" dirty="0"/>
          </a:p>
        </p:txBody>
      </p:sp>
      <p:sp>
        <p:nvSpPr>
          <p:cNvPr id="8" name="s6-8"/>
          <p:cNvSpPr/>
          <p:nvPr/>
        </p:nvSpPr>
        <p:spPr>
          <a:xfrm>
            <a:off x="5080000" y="1193800"/>
            <a:ext cx="1905000" cy="711200"/>
          </a:xfrm>
          <a:prstGeom prst="rect">
            <a:avLst/>
          </a:prstGeom>
          <a:noFill/>
          <a:ln/>
        </p:spPr>
        <p:txBody>
          <a:bodyPr wrap="square" lIns="0" tIns="0" rIns="0" bIns="0" rtlCol="0" anchor="t"/>
          <a:lstStyle/>
          <a:p>
            <a:pPr marL="0" indent="0" algn="r">
              <a:buNone/>
            </a:pPr>
            <a:r>
              <a:rPr lang="en-US" sz="3200" dirty="0">
                <a:solidFill>
                  <a:srgbClr val="11110F"/>
                </a:solidFill>
                <a:latin typeface="Cormorant Garamond" pitchFamily="34" charset="0"/>
                <a:ea typeface="Cormorant Garamond" pitchFamily="34" charset="-122"/>
                <a:cs typeface="Cormorant Garamond" pitchFamily="34" charset="-120"/>
              </a:rPr>
              <a:t>$295</a:t>
            </a:r>
            <a:endParaRPr lang="en-US" sz="3200" dirty="0"/>
          </a:p>
        </p:txBody>
      </p:sp>
      <p:sp>
        <p:nvSpPr>
          <p:cNvPr id="9" name="s6-9"/>
          <p:cNvSpPr/>
          <p:nvPr/>
        </p:nvSpPr>
        <p:spPr>
          <a:xfrm>
            <a:off x="736600" y="1930400"/>
            <a:ext cx="6248400" cy="431800"/>
          </a:xfrm>
          <a:prstGeom prst="rect">
            <a:avLst/>
          </a:prstGeom>
          <a:noFill/>
          <a:ln/>
        </p:spPr>
        <p:txBody>
          <a:bodyPr wrap="square" lIns="0" tIns="0" rIns="0" bIns="0" rtlCol="0" anchor="t"/>
          <a:lstStyle/>
          <a:p>
            <a:pPr marL="0" indent="0">
              <a:buNone/>
            </a:pPr>
            <a:r>
              <a:rPr lang="en-US" sz="1500" i="1" dirty="0">
                <a:solidFill>
                  <a:srgbClr val="575751"/>
                </a:solidFill>
                <a:latin typeface="Cormorant Garamond" pitchFamily="34" charset="0"/>
                <a:ea typeface="Cormorant Garamond" pitchFamily="34" charset="-122"/>
                <a:cs typeface="Cormorant Garamond" pitchFamily="34" charset="-120"/>
              </a:rPr>
              <a:t>Editorial presence.</a:t>
            </a:r>
            <a:endParaRPr lang="en-US" sz="1500" dirty="0"/>
          </a:p>
        </p:txBody>
      </p:sp>
      <p:sp>
        <p:nvSpPr>
          <p:cNvPr id="32" name="s6-32"/>
          <p:cNvSpPr/>
          <p:nvPr/>
        </p:nvSpPr>
        <p:spPr>
          <a:xfrm>
            <a:off x="4013200" y="5257800"/>
            <a:ext cx="2971800" cy="0"/>
          </a:xfrm>
          <a:prstGeom prst="line">
            <a:avLst/>
          </a:prstGeom>
          <a:noFill/>
          <a:ln w="9525">
            <a:solidFill>
              <a:srgbClr val="C9C0B2"/>
            </a:solidFill>
            <a:prstDash val="solid"/>
          </a:ln>
        </p:spPr>
      </p:sp>
      <p:sp>
        <p:nvSpPr>
          <p:cNvPr id="10" name="s6-10"/>
          <p:cNvSpPr/>
          <p:nvPr/>
        </p:nvSpPr>
        <p:spPr>
          <a:xfrm>
            <a:off x="736600" y="2590800"/>
            <a:ext cx="2971800" cy="0"/>
          </a:xfrm>
          <a:prstGeom prst="line">
            <a:avLst/>
          </a:prstGeom>
          <a:noFill/>
          <a:ln w="9525">
            <a:solidFill>
              <a:srgbClr val="C9C0B2"/>
            </a:solidFill>
            <a:prstDash val="solid"/>
          </a:ln>
        </p:spPr>
      </p:sp>
      <p:sp>
        <p:nvSpPr>
          <p:cNvPr id="11" name="s6-11"/>
          <p:cNvSpPr/>
          <p:nvPr/>
        </p:nvSpPr>
        <p:spPr>
          <a:xfrm>
            <a:off x="736600" y="25908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Dedicated Matter of Place property page</a:t>
            </a:r>
            <a:endParaRPr lang="en-US" sz="1400" dirty="0"/>
          </a:p>
        </p:txBody>
      </p:sp>
      <p:sp>
        <p:nvSpPr>
          <p:cNvPr id="12" name="s6-12"/>
          <p:cNvSpPr/>
          <p:nvPr/>
        </p:nvSpPr>
        <p:spPr>
          <a:xfrm>
            <a:off x="736600" y="3124200"/>
            <a:ext cx="2971800" cy="0"/>
          </a:xfrm>
          <a:prstGeom prst="line">
            <a:avLst/>
          </a:prstGeom>
          <a:noFill/>
          <a:ln w="9525">
            <a:solidFill>
              <a:srgbClr val="C9C0B2"/>
            </a:solidFill>
            <a:prstDash val="solid"/>
          </a:ln>
        </p:spPr>
      </p:sp>
      <p:sp>
        <p:nvSpPr>
          <p:cNvPr id="13" name="s6-13"/>
          <p:cNvSpPr/>
          <p:nvPr/>
        </p:nvSpPr>
        <p:spPr>
          <a:xfrm>
            <a:off x="736600" y="31242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Professionally edited editorial narrative</a:t>
            </a:r>
            <a:endParaRPr lang="en-US" sz="1400" dirty="0"/>
          </a:p>
        </p:txBody>
      </p:sp>
      <p:sp>
        <p:nvSpPr>
          <p:cNvPr id="14" name="s6-14"/>
          <p:cNvSpPr/>
          <p:nvPr/>
        </p:nvSpPr>
        <p:spPr>
          <a:xfrm>
            <a:off x="736600" y="3657600"/>
            <a:ext cx="2971800" cy="0"/>
          </a:xfrm>
          <a:prstGeom prst="line">
            <a:avLst/>
          </a:prstGeom>
          <a:noFill/>
          <a:ln w="9525">
            <a:solidFill>
              <a:srgbClr val="C9C0B2"/>
            </a:solidFill>
            <a:prstDash val="solid"/>
          </a:ln>
        </p:spPr>
      </p:sp>
      <p:sp>
        <p:nvSpPr>
          <p:cNvPr id="15" name="s6-15"/>
          <p:cNvSpPr/>
          <p:nvPr/>
        </p:nvSpPr>
        <p:spPr>
          <a:xfrm>
            <a:off x="736600" y="36576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Architecture, design and location context</a:t>
            </a:r>
            <a:endParaRPr lang="en-US" sz="1400" dirty="0"/>
          </a:p>
        </p:txBody>
      </p:sp>
      <p:sp>
        <p:nvSpPr>
          <p:cNvPr id="16" name="s6-16"/>
          <p:cNvSpPr/>
          <p:nvPr/>
        </p:nvSpPr>
        <p:spPr>
          <a:xfrm>
            <a:off x="736600" y="4191000"/>
            <a:ext cx="2971800" cy="0"/>
          </a:xfrm>
          <a:prstGeom prst="line">
            <a:avLst/>
          </a:prstGeom>
          <a:noFill/>
          <a:ln w="9525">
            <a:solidFill>
              <a:srgbClr val="C9C0B2"/>
            </a:solidFill>
            <a:prstDash val="solid"/>
          </a:ln>
        </p:spPr>
      </p:sp>
      <p:sp>
        <p:nvSpPr>
          <p:cNvPr id="17" name="s6-17"/>
          <p:cNvSpPr/>
          <p:nvPr/>
        </p:nvSpPr>
        <p:spPr>
          <a:xfrm>
            <a:off x="736600" y="41910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Curated image sequencing</a:t>
            </a:r>
            <a:endParaRPr lang="en-US" sz="1400" dirty="0"/>
          </a:p>
        </p:txBody>
      </p:sp>
      <p:sp>
        <p:nvSpPr>
          <p:cNvPr id="18" name="s6-18"/>
          <p:cNvSpPr/>
          <p:nvPr/>
        </p:nvSpPr>
        <p:spPr>
          <a:xfrm>
            <a:off x="736600" y="4724400"/>
            <a:ext cx="2971800" cy="0"/>
          </a:xfrm>
          <a:prstGeom prst="line">
            <a:avLst/>
          </a:prstGeom>
          <a:noFill/>
          <a:ln w="9525">
            <a:solidFill>
              <a:srgbClr val="C9C0B2"/>
            </a:solidFill>
            <a:prstDash val="solid"/>
          </a:ln>
        </p:spPr>
      </p:sp>
      <p:sp>
        <p:nvSpPr>
          <p:cNvPr id="19" name="s6-19"/>
          <p:cNvSpPr/>
          <p:nvPr/>
        </p:nvSpPr>
        <p:spPr>
          <a:xfrm>
            <a:off x="736600" y="47244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Matter of Place social carousel</a:t>
            </a:r>
            <a:endParaRPr lang="en-US" sz="1400" dirty="0"/>
          </a:p>
        </p:txBody>
      </p:sp>
      <p:sp>
        <p:nvSpPr>
          <p:cNvPr id="20" name="s6-20"/>
          <p:cNvSpPr/>
          <p:nvPr/>
        </p:nvSpPr>
        <p:spPr>
          <a:xfrm>
            <a:off x="736600" y="5257800"/>
            <a:ext cx="2971800" cy="0"/>
          </a:xfrm>
          <a:prstGeom prst="line">
            <a:avLst/>
          </a:prstGeom>
          <a:noFill/>
          <a:ln w="9525">
            <a:solidFill>
              <a:srgbClr val="C9C0B2"/>
            </a:solidFill>
            <a:prstDash val="solid"/>
          </a:ln>
        </p:spPr>
      </p:sp>
      <p:sp>
        <p:nvSpPr>
          <p:cNvPr id="21" name="s6-21"/>
          <p:cNvSpPr/>
          <p:nvPr/>
        </p:nvSpPr>
        <p:spPr>
          <a:xfrm>
            <a:off x="4013200" y="25908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Collaborator invitation where applicable</a:t>
            </a:r>
            <a:endParaRPr lang="en-US" sz="1400" dirty="0"/>
          </a:p>
        </p:txBody>
      </p:sp>
      <p:sp>
        <p:nvSpPr>
          <p:cNvPr id="22" name="s6-22"/>
          <p:cNvSpPr/>
          <p:nvPr/>
        </p:nvSpPr>
        <p:spPr>
          <a:xfrm>
            <a:off x="4013200" y="2590800"/>
            <a:ext cx="2971800" cy="0"/>
          </a:xfrm>
          <a:prstGeom prst="line">
            <a:avLst/>
          </a:prstGeom>
          <a:noFill/>
          <a:ln w="9525">
            <a:solidFill>
              <a:srgbClr val="C9C0B2"/>
            </a:solidFill>
            <a:prstDash val="solid"/>
          </a:ln>
        </p:spPr>
      </p:sp>
      <p:sp>
        <p:nvSpPr>
          <p:cNvPr id="23" name="s6-23"/>
          <p:cNvSpPr/>
          <p:nvPr/>
        </p:nvSpPr>
        <p:spPr>
          <a:xfrm>
            <a:off x="4013200" y="31242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Agent or brokerage attribution</a:t>
            </a:r>
            <a:endParaRPr lang="en-US" sz="1400" dirty="0"/>
          </a:p>
        </p:txBody>
      </p:sp>
      <p:sp>
        <p:nvSpPr>
          <p:cNvPr id="24" name="s6-24"/>
          <p:cNvSpPr/>
          <p:nvPr/>
        </p:nvSpPr>
        <p:spPr>
          <a:xfrm>
            <a:off x="4013200" y="3124200"/>
            <a:ext cx="2971800" cy="0"/>
          </a:xfrm>
          <a:prstGeom prst="line">
            <a:avLst/>
          </a:prstGeom>
          <a:noFill/>
          <a:ln w="9525">
            <a:solidFill>
              <a:srgbClr val="C9C0B2"/>
            </a:solidFill>
            <a:prstDash val="solid"/>
          </a:ln>
        </p:spPr>
      </p:sp>
      <p:sp>
        <p:nvSpPr>
          <p:cNvPr id="25" name="s6-25"/>
          <p:cNvSpPr/>
          <p:nvPr/>
        </p:nvSpPr>
        <p:spPr>
          <a:xfrm>
            <a:off x="4013200" y="36576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Direct inquiry routing</a:t>
            </a:r>
            <a:endParaRPr lang="en-US" sz="1400" dirty="0"/>
          </a:p>
        </p:txBody>
      </p:sp>
      <p:sp>
        <p:nvSpPr>
          <p:cNvPr id="26" name="s6-26"/>
          <p:cNvSpPr/>
          <p:nvPr/>
        </p:nvSpPr>
        <p:spPr>
          <a:xfrm>
            <a:off x="4013200" y="3657600"/>
            <a:ext cx="2971800" cy="0"/>
          </a:xfrm>
          <a:prstGeom prst="line">
            <a:avLst/>
          </a:prstGeom>
          <a:noFill/>
          <a:ln w="9525">
            <a:solidFill>
              <a:srgbClr val="C9C0B2"/>
            </a:solidFill>
            <a:prstDash val="solid"/>
          </a:ln>
        </p:spPr>
      </p:sp>
      <p:sp>
        <p:nvSpPr>
          <p:cNvPr id="27" name="s6-27"/>
          <p:cNvSpPr/>
          <p:nvPr/>
        </p:nvSpPr>
        <p:spPr>
          <a:xfrm>
            <a:off x="4013200" y="41910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Search-indexable permanent URL</a:t>
            </a:r>
            <a:endParaRPr lang="en-US" sz="1400" dirty="0"/>
          </a:p>
        </p:txBody>
      </p:sp>
      <p:sp>
        <p:nvSpPr>
          <p:cNvPr id="28" name="s6-28"/>
          <p:cNvSpPr/>
          <p:nvPr/>
        </p:nvSpPr>
        <p:spPr>
          <a:xfrm>
            <a:off x="4013200" y="4191000"/>
            <a:ext cx="2971800" cy="0"/>
          </a:xfrm>
          <a:prstGeom prst="line">
            <a:avLst/>
          </a:prstGeom>
          <a:noFill/>
          <a:ln w="9525">
            <a:solidFill>
              <a:srgbClr val="C9C0B2"/>
            </a:solidFill>
            <a:prstDash val="solid"/>
          </a:ln>
        </p:spPr>
      </p:sp>
      <p:sp>
        <p:nvSpPr>
          <p:cNvPr id="29" name="s6-29"/>
          <p:cNvSpPr/>
          <p:nvPr/>
        </p:nvSpPr>
        <p:spPr>
          <a:xfrm>
            <a:off x="4013200" y="47244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Placement in the California, New York or Florida collection</a:t>
            </a:r>
            <a:endParaRPr lang="en-US" sz="1400" dirty="0"/>
          </a:p>
        </p:txBody>
      </p:sp>
      <p:sp>
        <p:nvSpPr>
          <p:cNvPr id="30" name="s6-30"/>
          <p:cNvSpPr/>
          <p:nvPr/>
        </p:nvSpPr>
        <p:spPr>
          <a:xfrm>
            <a:off x="4013200" y="4724400"/>
            <a:ext cx="2971800" cy="0"/>
          </a:xfrm>
          <a:prstGeom prst="line">
            <a:avLst/>
          </a:prstGeom>
          <a:noFill/>
          <a:ln w="9525">
            <a:solidFill>
              <a:srgbClr val="C9C0B2"/>
            </a:solidFill>
            <a:prstDash val="solid"/>
          </a:ln>
        </p:spPr>
      </p:sp>
      <p:sp>
        <p:nvSpPr>
          <p:cNvPr id="31" name="s6-31">
            <a:hlinkClick r:id="rId4" tooltip="matterofplace.com/submit"/>
          </p:cNvPr>
          <p:cNvSpPr/>
          <p:nvPr/>
        </p:nvSpPr>
        <p:spPr>
          <a:xfrm>
            <a:off x="736600" y="5638800"/>
            <a:ext cx="2743200" cy="279400"/>
          </a:xfrm>
          <a:prstGeom prst="rect">
            <a:avLst/>
          </a:prstGeom>
          <a:noFill/>
          <a:ln/>
        </p:spPr>
        <p:txBody>
          <a:bodyPr wrap="square" lIns="0" tIns="0" rIns="0" bIns="0" rtlCol="0" anchor="ctr"/>
          <a:lstStyle/>
          <a:p>
            <a:pPr marL="0" indent="0">
              <a:buNone/>
            </a:pPr>
            <a:r>
              <a:rPr lang="en-US" sz="1100" u="sng" kern="0" spc="250" dirty="0">
                <a:solidFill>
                  <a:srgbClr val="11110F"/>
                </a:solidFill>
                <a:latin typeface="Jost" pitchFamily="34" charset="0"/>
                <a:ea typeface="Jost" pitchFamily="34" charset="-122"/>
                <a:cs typeface="Jost" pitchFamily="34" charset="-120"/>
                <a:hlinkClick r:id="rId4" tooltip="matterofplace.com/submit">
                  <a:extLst>
                    <a:ext uri="{A12FA001-AC4F-418D-AE19-62706E023703}">
                      <ahyp:hlinkClr xmlns:ahyp="http://schemas.microsoft.com/office/drawing/2018/hyperlinkcolor" val="tx"/>
                    </a:ext>
                  </a:extLst>
                </a:hlinkClick>
              </a:rPr>
              <a:t>Submit a Property</a:t>
            </a:r>
            <a:endParaRPr lang="en-US" sz="1100" dirty="0"/>
          </a:p>
        </p:txBody>
      </p:sp>
    </p:spTree>
    <p:extLst>
      <p:ext uri="{BB962C8B-B14F-4D97-AF65-F5344CB8AC3E}">
        <p14:creationId xmlns:p14="http://schemas.microsoft.com/office/powerpoint/2010/main" val="218319975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950"/>
                                        <p:tgtEl>
                                          <p:spTgt spid="8"/>
                                        </p:tgtEl>
                                      </p:cBhvr>
                                    </p:animEffect>
                                    <p:anim calcmode="lin" valueType="num">
                                      <p:cBhvr>
                                        <p:cTn id="8" dur="950" decel="100000" fill="hold"/>
                                        <p:tgtEl>
                                          <p:spTgt spid="8"/>
                                        </p:tgtEl>
                                        <p:attrNameLst>
                                          <p:attrName>ppt_x</p:attrName>
                                        </p:attrNameLst>
                                      </p:cBhvr>
                                      <p:tavLst>
                                        <p:tav tm="0">
                                          <p:val>
                                            <p:strVal val="#ppt_x"/>
                                          </p:val>
                                        </p:tav>
                                        <p:tav tm="100000">
                                          <p:val>
                                            <p:strVal val="#ppt_x"/>
                                          </p:val>
                                        </p:tav>
                                      </p:tavLst>
                                    </p:anim>
                                    <p:anim calcmode="lin" valueType="num">
                                      <p:cBhvr>
                                        <p:cTn id="9" dur="950" decel="100000" fill="hold"/>
                                        <p:tgtEl>
                                          <p:spTgt spid="8"/>
                                        </p:tgtEl>
                                        <p:attrNameLst>
                                          <p:attrName>ppt_y</p:attrName>
                                        </p:attrNameLst>
                                      </p:cBhvr>
                                      <p:tavLst>
                                        <p:tav tm="0">
                                          <p:val>
                                            <p:strVal val="#ppt_y+0.022"/>
                                          </p:val>
                                        </p:tav>
                                        <p:tav tm="100000">
                                          <p:val>
                                            <p:strVal val="#ppt_y"/>
                                          </p:val>
                                        </p:tav>
                                      </p:tavLst>
                                    </p:anim>
                                  </p:childTnLst>
                                </p:cTn>
                              </p:par>
                              <p:par>
                                <p:cTn id="10" presetID="10" presetClass="entr" presetSubtype="0" fill="hold" grpId="0" nodeType="withEffect">
                                  <p:stCondLst>
                                    <p:cond delay="26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950"/>
                                        <p:tgtEl>
                                          <p:spTgt spid="9"/>
                                        </p:tgtEl>
                                      </p:cBhvr>
                                    </p:animEffect>
                                    <p:anim calcmode="lin" valueType="num">
                                      <p:cBhvr>
                                        <p:cTn id="13" dur="950" decel="100000" fill="hold"/>
                                        <p:tgtEl>
                                          <p:spTgt spid="9"/>
                                        </p:tgtEl>
                                        <p:attrNameLst>
                                          <p:attrName>ppt_x</p:attrName>
                                        </p:attrNameLst>
                                      </p:cBhvr>
                                      <p:tavLst>
                                        <p:tav tm="0">
                                          <p:val>
                                            <p:strVal val="#ppt_x"/>
                                          </p:val>
                                        </p:tav>
                                        <p:tav tm="100000">
                                          <p:val>
                                            <p:strVal val="#ppt_x"/>
                                          </p:val>
                                        </p:tav>
                                      </p:tavLst>
                                    </p:anim>
                                    <p:anim calcmode="lin" valueType="num">
                                      <p:cBhvr>
                                        <p:cTn id="14" dur="950" decel="100000" fill="hold"/>
                                        <p:tgtEl>
                                          <p:spTgt spid="9"/>
                                        </p:tgtEl>
                                        <p:attrNameLst>
                                          <p:attrName>ppt_y</p:attrName>
                                        </p:attrNameLst>
                                      </p:cBhvr>
                                      <p:tavLst>
                                        <p:tav tm="0">
                                          <p:val>
                                            <p:strVal val="#ppt_y+0.022"/>
                                          </p:val>
                                        </p:tav>
                                        <p:tav tm="100000">
                                          <p:val>
                                            <p:strVal val="#ppt_y"/>
                                          </p:val>
                                        </p:tav>
                                      </p:tavLst>
                                    </p:anim>
                                  </p:childTnLst>
                                </p:cTn>
                              </p:par>
                              <p:par>
                                <p:cTn id="15" presetID="22" presetClass="entr" presetSubtype="8" fill="hold" nodeType="withEffect">
                                  <p:stCondLst>
                                    <p:cond delay="37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250" decel="100000"/>
                                        <p:tgtEl>
                                          <p:spTgt spid="10"/>
                                        </p:tgtEl>
                                      </p:cBhvr>
                                    </p:animEffect>
                                  </p:childTnLst>
                                </p:cTn>
                              </p:par>
                              <p:par>
                                <p:cTn id="18" presetID="10" presetClass="entr" presetSubtype="0" fill="hold" grpId="0" nodeType="withEffect">
                                  <p:stCondLst>
                                    <p:cond delay="37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950"/>
                                        <p:tgtEl>
                                          <p:spTgt spid="11"/>
                                        </p:tgtEl>
                                      </p:cBhvr>
                                    </p:animEffect>
                                    <p:anim calcmode="lin" valueType="num">
                                      <p:cBhvr>
                                        <p:cTn id="21" dur="950" decel="100000" fill="hold"/>
                                        <p:tgtEl>
                                          <p:spTgt spid="11"/>
                                        </p:tgtEl>
                                        <p:attrNameLst>
                                          <p:attrName>ppt_x</p:attrName>
                                        </p:attrNameLst>
                                      </p:cBhvr>
                                      <p:tavLst>
                                        <p:tav tm="0">
                                          <p:val>
                                            <p:strVal val="#ppt_x"/>
                                          </p:val>
                                        </p:tav>
                                        <p:tav tm="100000">
                                          <p:val>
                                            <p:strVal val="#ppt_x"/>
                                          </p:val>
                                        </p:tav>
                                      </p:tavLst>
                                    </p:anim>
                                    <p:anim calcmode="lin" valueType="num">
                                      <p:cBhvr>
                                        <p:cTn id="22" dur="950" decel="100000" fill="hold"/>
                                        <p:tgtEl>
                                          <p:spTgt spid="11"/>
                                        </p:tgtEl>
                                        <p:attrNameLst>
                                          <p:attrName>ppt_y</p:attrName>
                                        </p:attrNameLst>
                                      </p:cBhvr>
                                      <p:tavLst>
                                        <p:tav tm="0">
                                          <p:val>
                                            <p:strVal val="#ppt_y+0.022"/>
                                          </p:val>
                                        </p:tav>
                                        <p:tav tm="100000">
                                          <p:val>
                                            <p:strVal val="#ppt_y"/>
                                          </p:val>
                                        </p:tav>
                                      </p:tavLst>
                                    </p:anim>
                                  </p:childTnLst>
                                </p:cTn>
                              </p:par>
                              <p:par>
                                <p:cTn id="23" presetID="10" presetClass="entr" presetSubtype="0" fill="hold" grpId="0" nodeType="withEffect">
                                  <p:stCondLst>
                                    <p:cond delay="37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950"/>
                                        <p:tgtEl>
                                          <p:spTgt spid="21"/>
                                        </p:tgtEl>
                                      </p:cBhvr>
                                    </p:animEffect>
                                    <p:anim calcmode="lin" valueType="num">
                                      <p:cBhvr>
                                        <p:cTn id="26" dur="950" decel="100000" fill="hold"/>
                                        <p:tgtEl>
                                          <p:spTgt spid="21"/>
                                        </p:tgtEl>
                                        <p:attrNameLst>
                                          <p:attrName>ppt_x</p:attrName>
                                        </p:attrNameLst>
                                      </p:cBhvr>
                                      <p:tavLst>
                                        <p:tav tm="0">
                                          <p:val>
                                            <p:strVal val="#ppt_x"/>
                                          </p:val>
                                        </p:tav>
                                        <p:tav tm="100000">
                                          <p:val>
                                            <p:strVal val="#ppt_x"/>
                                          </p:val>
                                        </p:tav>
                                      </p:tavLst>
                                    </p:anim>
                                    <p:anim calcmode="lin" valueType="num">
                                      <p:cBhvr>
                                        <p:cTn id="27" dur="950" decel="100000" fill="hold"/>
                                        <p:tgtEl>
                                          <p:spTgt spid="21"/>
                                        </p:tgtEl>
                                        <p:attrNameLst>
                                          <p:attrName>ppt_y</p:attrName>
                                        </p:attrNameLst>
                                      </p:cBhvr>
                                      <p:tavLst>
                                        <p:tav tm="0">
                                          <p:val>
                                            <p:strVal val="#ppt_y+0.022"/>
                                          </p:val>
                                        </p:tav>
                                        <p:tav tm="100000">
                                          <p:val>
                                            <p:strVal val="#ppt_y"/>
                                          </p:val>
                                        </p:tav>
                                      </p:tavLst>
                                    </p:anim>
                                  </p:childTnLst>
                                </p:cTn>
                              </p:par>
                              <p:par>
                                <p:cTn id="28" presetID="22" presetClass="entr" presetSubtype="8" fill="hold" nodeType="withEffect">
                                  <p:stCondLst>
                                    <p:cond delay="370"/>
                                  </p:stCondLst>
                                  <p:childTnLst>
                                    <p:set>
                                      <p:cBhvr>
                                        <p:cTn id="29" dur="1" fill="hold">
                                          <p:stCondLst>
                                            <p:cond delay="0"/>
                                          </p:stCondLst>
                                        </p:cTn>
                                        <p:tgtEl>
                                          <p:spTgt spid="22"/>
                                        </p:tgtEl>
                                        <p:attrNameLst>
                                          <p:attrName>style.visibility</p:attrName>
                                        </p:attrNameLst>
                                      </p:cBhvr>
                                      <p:to>
                                        <p:strVal val="visible"/>
                                      </p:to>
                                    </p:set>
                                    <p:animEffect transition="in" filter="wipe(left)">
                                      <p:cBhvr>
                                        <p:cTn id="30" dur="1250" decel="100000"/>
                                        <p:tgtEl>
                                          <p:spTgt spid="22"/>
                                        </p:tgtEl>
                                      </p:cBhvr>
                                    </p:animEffect>
                                  </p:childTnLst>
                                </p:cTn>
                              </p:par>
                              <p:par>
                                <p:cTn id="31" presetID="22" presetClass="entr" presetSubtype="8" fill="hold" nodeType="withEffect">
                                  <p:stCondLst>
                                    <p:cond delay="48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1250" decel="100000"/>
                                        <p:tgtEl>
                                          <p:spTgt spid="12"/>
                                        </p:tgtEl>
                                      </p:cBhvr>
                                    </p:animEffect>
                                  </p:childTnLst>
                                </p:cTn>
                              </p:par>
                              <p:par>
                                <p:cTn id="34" presetID="10" presetClass="entr" presetSubtype="0" fill="hold" grpId="0" nodeType="withEffect">
                                  <p:stCondLst>
                                    <p:cond delay="48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950"/>
                                        <p:tgtEl>
                                          <p:spTgt spid="13"/>
                                        </p:tgtEl>
                                      </p:cBhvr>
                                    </p:animEffect>
                                    <p:anim calcmode="lin" valueType="num">
                                      <p:cBhvr>
                                        <p:cTn id="37" dur="950" decel="100000" fill="hold"/>
                                        <p:tgtEl>
                                          <p:spTgt spid="13"/>
                                        </p:tgtEl>
                                        <p:attrNameLst>
                                          <p:attrName>ppt_x</p:attrName>
                                        </p:attrNameLst>
                                      </p:cBhvr>
                                      <p:tavLst>
                                        <p:tav tm="0">
                                          <p:val>
                                            <p:strVal val="#ppt_x"/>
                                          </p:val>
                                        </p:tav>
                                        <p:tav tm="100000">
                                          <p:val>
                                            <p:strVal val="#ppt_x"/>
                                          </p:val>
                                        </p:tav>
                                      </p:tavLst>
                                    </p:anim>
                                    <p:anim calcmode="lin" valueType="num">
                                      <p:cBhvr>
                                        <p:cTn id="38" dur="950" decel="100000" fill="hold"/>
                                        <p:tgtEl>
                                          <p:spTgt spid="13"/>
                                        </p:tgtEl>
                                        <p:attrNameLst>
                                          <p:attrName>ppt_y</p:attrName>
                                        </p:attrNameLst>
                                      </p:cBhvr>
                                      <p:tavLst>
                                        <p:tav tm="0">
                                          <p:val>
                                            <p:strVal val="#ppt_y+0.022"/>
                                          </p:val>
                                        </p:tav>
                                        <p:tav tm="100000">
                                          <p:val>
                                            <p:strVal val="#ppt_y"/>
                                          </p:val>
                                        </p:tav>
                                      </p:tavLst>
                                    </p:anim>
                                  </p:childTnLst>
                                </p:cTn>
                              </p:par>
                              <p:par>
                                <p:cTn id="39" presetID="10" presetClass="entr" presetSubtype="0" fill="hold" grpId="0" nodeType="withEffect">
                                  <p:stCondLst>
                                    <p:cond delay="48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950"/>
                                        <p:tgtEl>
                                          <p:spTgt spid="23"/>
                                        </p:tgtEl>
                                      </p:cBhvr>
                                    </p:animEffect>
                                    <p:anim calcmode="lin" valueType="num">
                                      <p:cBhvr>
                                        <p:cTn id="42" dur="950" decel="100000" fill="hold"/>
                                        <p:tgtEl>
                                          <p:spTgt spid="23"/>
                                        </p:tgtEl>
                                        <p:attrNameLst>
                                          <p:attrName>ppt_x</p:attrName>
                                        </p:attrNameLst>
                                      </p:cBhvr>
                                      <p:tavLst>
                                        <p:tav tm="0">
                                          <p:val>
                                            <p:strVal val="#ppt_x"/>
                                          </p:val>
                                        </p:tav>
                                        <p:tav tm="100000">
                                          <p:val>
                                            <p:strVal val="#ppt_x"/>
                                          </p:val>
                                        </p:tav>
                                      </p:tavLst>
                                    </p:anim>
                                    <p:anim calcmode="lin" valueType="num">
                                      <p:cBhvr>
                                        <p:cTn id="43" dur="950" decel="100000" fill="hold"/>
                                        <p:tgtEl>
                                          <p:spTgt spid="23"/>
                                        </p:tgtEl>
                                        <p:attrNameLst>
                                          <p:attrName>ppt_y</p:attrName>
                                        </p:attrNameLst>
                                      </p:cBhvr>
                                      <p:tavLst>
                                        <p:tav tm="0">
                                          <p:val>
                                            <p:strVal val="#ppt_y+0.022"/>
                                          </p:val>
                                        </p:tav>
                                        <p:tav tm="100000">
                                          <p:val>
                                            <p:strVal val="#ppt_y"/>
                                          </p:val>
                                        </p:tav>
                                      </p:tavLst>
                                    </p:anim>
                                  </p:childTnLst>
                                </p:cTn>
                              </p:par>
                              <p:par>
                                <p:cTn id="44" presetID="22" presetClass="entr" presetSubtype="8" fill="hold" nodeType="withEffect">
                                  <p:stCondLst>
                                    <p:cond delay="480"/>
                                  </p:stCondLst>
                                  <p:childTnLst>
                                    <p:set>
                                      <p:cBhvr>
                                        <p:cTn id="45" dur="1" fill="hold">
                                          <p:stCondLst>
                                            <p:cond delay="0"/>
                                          </p:stCondLst>
                                        </p:cTn>
                                        <p:tgtEl>
                                          <p:spTgt spid="24"/>
                                        </p:tgtEl>
                                        <p:attrNameLst>
                                          <p:attrName>style.visibility</p:attrName>
                                        </p:attrNameLst>
                                      </p:cBhvr>
                                      <p:to>
                                        <p:strVal val="visible"/>
                                      </p:to>
                                    </p:set>
                                    <p:animEffect transition="in" filter="wipe(left)">
                                      <p:cBhvr>
                                        <p:cTn id="46" dur="1250" decel="100000"/>
                                        <p:tgtEl>
                                          <p:spTgt spid="24"/>
                                        </p:tgtEl>
                                      </p:cBhvr>
                                    </p:animEffect>
                                  </p:childTnLst>
                                </p:cTn>
                              </p:par>
                              <p:par>
                                <p:cTn id="47" presetID="22" presetClass="entr" presetSubtype="8" fill="hold" nodeType="withEffect">
                                  <p:stCondLst>
                                    <p:cond delay="590"/>
                                  </p:stCondLst>
                                  <p:childTnLst>
                                    <p:set>
                                      <p:cBhvr>
                                        <p:cTn id="48" dur="1" fill="hold">
                                          <p:stCondLst>
                                            <p:cond delay="0"/>
                                          </p:stCondLst>
                                        </p:cTn>
                                        <p:tgtEl>
                                          <p:spTgt spid="14"/>
                                        </p:tgtEl>
                                        <p:attrNameLst>
                                          <p:attrName>style.visibility</p:attrName>
                                        </p:attrNameLst>
                                      </p:cBhvr>
                                      <p:to>
                                        <p:strVal val="visible"/>
                                      </p:to>
                                    </p:set>
                                    <p:animEffect transition="in" filter="wipe(left)">
                                      <p:cBhvr>
                                        <p:cTn id="49" dur="1250" decel="100000"/>
                                        <p:tgtEl>
                                          <p:spTgt spid="14"/>
                                        </p:tgtEl>
                                      </p:cBhvr>
                                    </p:animEffect>
                                  </p:childTnLst>
                                </p:cTn>
                              </p:par>
                              <p:par>
                                <p:cTn id="50" presetID="10" presetClass="entr" presetSubtype="0" fill="hold" grpId="0" nodeType="withEffect">
                                  <p:stCondLst>
                                    <p:cond delay="59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950"/>
                                        <p:tgtEl>
                                          <p:spTgt spid="15"/>
                                        </p:tgtEl>
                                      </p:cBhvr>
                                    </p:animEffect>
                                    <p:anim calcmode="lin" valueType="num">
                                      <p:cBhvr>
                                        <p:cTn id="53" dur="950" decel="100000" fill="hold"/>
                                        <p:tgtEl>
                                          <p:spTgt spid="15"/>
                                        </p:tgtEl>
                                        <p:attrNameLst>
                                          <p:attrName>ppt_x</p:attrName>
                                        </p:attrNameLst>
                                      </p:cBhvr>
                                      <p:tavLst>
                                        <p:tav tm="0">
                                          <p:val>
                                            <p:strVal val="#ppt_x"/>
                                          </p:val>
                                        </p:tav>
                                        <p:tav tm="100000">
                                          <p:val>
                                            <p:strVal val="#ppt_x"/>
                                          </p:val>
                                        </p:tav>
                                      </p:tavLst>
                                    </p:anim>
                                    <p:anim calcmode="lin" valueType="num">
                                      <p:cBhvr>
                                        <p:cTn id="54" dur="950" decel="100000" fill="hold"/>
                                        <p:tgtEl>
                                          <p:spTgt spid="15"/>
                                        </p:tgtEl>
                                        <p:attrNameLst>
                                          <p:attrName>ppt_y</p:attrName>
                                        </p:attrNameLst>
                                      </p:cBhvr>
                                      <p:tavLst>
                                        <p:tav tm="0">
                                          <p:val>
                                            <p:strVal val="#ppt_y+0.022"/>
                                          </p:val>
                                        </p:tav>
                                        <p:tav tm="100000">
                                          <p:val>
                                            <p:strVal val="#ppt_y"/>
                                          </p:val>
                                        </p:tav>
                                      </p:tavLst>
                                    </p:anim>
                                  </p:childTnLst>
                                </p:cTn>
                              </p:par>
                              <p:par>
                                <p:cTn id="55" presetID="10" presetClass="entr" presetSubtype="0" fill="hold" grpId="0" nodeType="withEffect">
                                  <p:stCondLst>
                                    <p:cond delay="59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950"/>
                                        <p:tgtEl>
                                          <p:spTgt spid="25"/>
                                        </p:tgtEl>
                                      </p:cBhvr>
                                    </p:animEffect>
                                    <p:anim calcmode="lin" valueType="num">
                                      <p:cBhvr>
                                        <p:cTn id="58" dur="950" decel="100000" fill="hold"/>
                                        <p:tgtEl>
                                          <p:spTgt spid="25"/>
                                        </p:tgtEl>
                                        <p:attrNameLst>
                                          <p:attrName>ppt_x</p:attrName>
                                        </p:attrNameLst>
                                      </p:cBhvr>
                                      <p:tavLst>
                                        <p:tav tm="0">
                                          <p:val>
                                            <p:strVal val="#ppt_x"/>
                                          </p:val>
                                        </p:tav>
                                        <p:tav tm="100000">
                                          <p:val>
                                            <p:strVal val="#ppt_x"/>
                                          </p:val>
                                        </p:tav>
                                      </p:tavLst>
                                    </p:anim>
                                    <p:anim calcmode="lin" valueType="num">
                                      <p:cBhvr>
                                        <p:cTn id="59" dur="950" decel="100000" fill="hold"/>
                                        <p:tgtEl>
                                          <p:spTgt spid="25"/>
                                        </p:tgtEl>
                                        <p:attrNameLst>
                                          <p:attrName>ppt_y</p:attrName>
                                        </p:attrNameLst>
                                      </p:cBhvr>
                                      <p:tavLst>
                                        <p:tav tm="0">
                                          <p:val>
                                            <p:strVal val="#ppt_y+0.022"/>
                                          </p:val>
                                        </p:tav>
                                        <p:tav tm="100000">
                                          <p:val>
                                            <p:strVal val="#ppt_y"/>
                                          </p:val>
                                        </p:tav>
                                      </p:tavLst>
                                    </p:anim>
                                  </p:childTnLst>
                                </p:cTn>
                              </p:par>
                              <p:par>
                                <p:cTn id="60" presetID="22" presetClass="entr" presetSubtype="8" fill="hold" nodeType="withEffect">
                                  <p:stCondLst>
                                    <p:cond delay="59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250" decel="100000"/>
                                        <p:tgtEl>
                                          <p:spTgt spid="26"/>
                                        </p:tgtEl>
                                      </p:cBhvr>
                                    </p:animEffect>
                                  </p:childTnLst>
                                </p:cTn>
                              </p:par>
                              <p:par>
                                <p:cTn id="63" presetID="22" presetClass="entr" presetSubtype="8" fill="hold" nodeType="withEffect">
                                  <p:stCondLst>
                                    <p:cond delay="700"/>
                                  </p:stCondLst>
                                  <p:childTnLst>
                                    <p:set>
                                      <p:cBhvr>
                                        <p:cTn id="64" dur="1" fill="hold">
                                          <p:stCondLst>
                                            <p:cond delay="0"/>
                                          </p:stCondLst>
                                        </p:cTn>
                                        <p:tgtEl>
                                          <p:spTgt spid="16"/>
                                        </p:tgtEl>
                                        <p:attrNameLst>
                                          <p:attrName>style.visibility</p:attrName>
                                        </p:attrNameLst>
                                      </p:cBhvr>
                                      <p:to>
                                        <p:strVal val="visible"/>
                                      </p:to>
                                    </p:set>
                                    <p:animEffect transition="in" filter="wipe(left)">
                                      <p:cBhvr>
                                        <p:cTn id="65" dur="1250" decel="100000"/>
                                        <p:tgtEl>
                                          <p:spTgt spid="16"/>
                                        </p:tgtEl>
                                      </p:cBhvr>
                                    </p:animEffect>
                                  </p:childTnLst>
                                </p:cTn>
                              </p:par>
                              <p:par>
                                <p:cTn id="66" presetID="10" presetClass="entr" presetSubtype="0" fill="hold" grpId="0" nodeType="withEffect">
                                  <p:stCondLst>
                                    <p:cond delay="700"/>
                                  </p:stCondLst>
                                  <p:childTnLst>
                                    <p:set>
                                      <p:cBhvr>
                                        <p:cTn id="67" dur="1" fill="hold">
                                          <p:stCondLst>
                                            <p:cond delay="0"/>
                                          </p:stCondLst>
                                        </p:cTn>
                                        <p:tgtEl>
                                          <p:spTgt spid="17"/>
                                        </p:tgtEl>
                                        <p:attrNameLst>
                                          <p:attrName>style.visibility</p:attrName>
                                        </p:attrNameLst>
                                      </p:cBhvr>
                                      <p:to>
                                        <p:strVal val="visible"/>
                                      </p:to>
                                    </p:set>
                                    <p:animEffect transition="in" filter="fade">
                                      <p:cBhvr>
                                        <p:cTn id="68" dur="950"/>
                                        <p:tgtEl>
                                          <p:spTgt spid="17"/>
                                        </p:tgtEl>
                                      </p:cBhvr>
                                    </p:animEffect>
                                    <p:anim calcmode="lin" valueType="num">
                                      <p:cBhvr>
                                        <p:cTn id="69" dur="950" decel="100000" fill="hold"/>
                                        <p:tgtEl>
                                          <p:spTgt spid="17"/>
                                        </p:tgtEl>
                                        <p:attrNameLst>
                                          <p:attrName>ppt_x</p:attrName>
                                        </p:attrNameLst>
                                      </p:cBhvr>
                                      <p:tavLst>
                                        <p:tav tm="0">
                                          <p:val>
                                            <p:strVal val="#ppt_x"/>
                                          </p:val>
                                        </p:tav>
                                        <p:tav tm="100000">
                                          <p:val>
                                            <p:strVal val="#ppt_x"/>
                                          </p:val>
                                        </p:tav>
                                      </p:tavLst>
                                    </p:anim>
                                    <p:anim calcmode="lin" valueType="num">
                                      <p:cBhvr>
                                        <p:cTn id="70" dur="950" decel="100000" fill="hold"/>
                                        <p:tgtEl>
                                          <p:spTgt spid="17"/>
                                        </p:tgtEl>
                                        <p:attrNameLst>
                                          <p:attrName>ppt_y</p:attrName>
                                        </p:attrNameLst>
                                      </p:cBhvr>
                                      <p:tavLst>
                                        <p:tav tm="0">
                                          <p:val>
                                            <p:strVal val="#ppt_y+0.022"/>
                                          </p:val>
                                        </p:tav>
                                        <p:tav tm="100000">
                                          <p:val>
                                            <p:strVal val="#ppt_y"/>
                                          </p:val>
                                        </p:tav>
                                      </p:tavLst>
                                    </p:anim>
                                  </p:childTnLst>
                                </p:cTn>
                              </p:par>
                              <p:par>
                                <p:cTn id="71" presetID="10" presetClass="entr" presetSubtype="0" fill="hold" grpId="0" nodeType="withEffect">
                                  <p:stCondLst>
                                    <p:cond delay="700"/>
                                  </p:stCondLst>
                                  <p:childTnLst>
                                    <p:set>
                                      <p:cBhvr>
                                        <p:cTn id="72" dur="1" fill="hold">
                                          <p:stCondLst>
                                            <p:cond delay="0"/>
                                          </p:stCondLst>
                                        </p:cTn>
                                        <p:tgtEl>
                                          <p:spTgt spid="27"/>
                                        </p:tgtEl>
                                        <p:attrNameLst>
                                          <p:attrName>style.visibility</p:attrName>
                                        </p:attrNameLst>
                                      </p:cBhvr>
                                      <p:to>
                                        <p:strVal val="visible"/>
                                      </p:to>
                                    </p:set>
                                    <p:animEffect transition="in" filter="fade">
                                      <p:cBhvr>
                                        <p:cTn id="73" dur="950"/>
                                        <p:tgtEl>
                                          <p:spTgt spid="27"/>
                                        </p:tgtEl>
                                      </p:cBhvr>
                                    </p:animEffect>
                                    <p:anim calcmode="lin" valueType="num">
                                      <p:cBhvr>
                                        <p:cTn id="74" dur="950" decel="100000" fill="hold"/>
                                        <p:tgtEl>
                                          <p:spTgt spid="27"/>
                                        </p:tgtEl>
                                        <p:attrNameLst>
                                          <p:attrName>ppt_x</p:attrName>
                                        </p:attrNameLst>
                                      </p:cBhvr>
                                      <p:tavLst>
                                        <p:tav tm="0">
                                          <p:val>
                                            <p:strVal val="#ppt_x"/>
                                          </p:val>
                                        </p:tav>
                                        <p:tav tm="100000">
                                          <p:val>
                                            <p:strVal val="#ppt_x"/>
                                          </p:val>
                                        </p:tav>
                                      </p:tavLst>
                                    </p:anim>
                                    <p:anim calcmode="lin" valueType="num">
                                      <p:cBhvr>
                                        <p:cTn id="75" dur="950" decel="100000" fill="hold"/>
                                        <p:tgtEl>
                                          <p:spTgt spid="27"/>
                                        </p:tgtEl>
                                        <p:attrNameLst>
                                          <p:attrName>ppt_y</p:attrName>
                                        </p:attrNameLst>
                                      </p:cBhvr>
                                      <p:tavLst>
                                        <p:tav tm="0">
                                          <p:val>
                                            <p:strVal val="#ppt_y+0.022"/>
                                          </p:val>
                                        </p:tav>
                                        <p:tav tm="100000">
                                          <p:val>
                                            <p:strVal val="#ppt_y"/>
                                          </p:val>
                                        </p:tav>
                                      </p:tavLst>
                                    </p:anim>
                                  </p:childTnLst>
                                </p:cTn>
                              </p:par>
                              <p:par>
                                <p:cTn id="76" presetID="22" presetClass="entr" presetSubtype="8" fill="hold" nodeType="withEffect">
                                  <p:stCondLst>
                                    <p:cond delay="700"/>
                                  </p:stCondLst>
                                  <p:childTnLst>
                                    <p:set>
                                      <p:cBhvr>
                                        <p:cTn id="77" dur="1" fill="hold">
                                          <p:stCondLst>
                                            <p:cond delay="0"/>
                                          </p:stCondLst>
                                        </p:cTn>
                                        <p:tgtEl>
                                          <p:spTgt spid="28"/>
                                        </p:tgtEl>
                                        <p:attrNameLst>
                                          <p:attrName>style.visibility</p:attrName>
                                        </p:attrNameLst>
                                      </p:cBhvr>
                                      <p:to>
                                        <p:strVal val="visible"/>
                                      </p:to>
                                    </p:set>
                                    <p:animEffect transition="in" filter="wipe(left)">
                                      <p:cBhvr>
                                        <p:cTn id="78" dur="1250" decel="100000"/>
                                        <p:tgtEl>
                                          <p:spTgt spid="28"/>
                                        </p:tgtEl>
                                      </p:cBhvr>
                                    </p:animEffect>
                                  </p:childTnLst>
                                </p:cTn>
                              </p:par>
                              <p:par>
                                <p:cTn id="79" presetID="22" presetClass="entr" presetSubtype="8" fill="hold" nodeType="withEffect">
                                  <p:stCondLst>
                                    <p:cond delay="810"/>
                                  </p:stCondLst>
                                  <p:childTnLst>
                                    <p:set>
                                      <p:cBhvr>
                                        <p:cTn id="80" dur="1" fill="hold">
                                          <p:stCondLst>
                                            <p:cond delay="0"/>
                                          </p:stCondLst>
                                        </p:cTn>
                                        <p:tgtEl>
                                          <p:spTgt spid="18"/>
                                        </p:tgtEl>
                                        <p:attrNameLst>
                                          <p:attrName>style.visibility</p:attrName>
                                        </p:attrNameLst>
                                      </p:cBhvr>
                                      <p:to>
                                        <p:strVal val="visible"/>
                                      </p:to>
                                    </p:set>
                                    <p:animEffect transition="in" filter="wipe(left)">
                                      <p:cBhvr>
                                        <p:cTn id="81" dur="1250" decel="100000"/>
                                        <p:tgtEl>
                                          <p:spTgt spid="18"/>
                                        </p:tgtEl>
                                      </p:cBhvr>
                                    </p:animEffect>
                                  </p:childTnLst>
                                </p:cTn>
                              </p:par>
                              <p:par>
                                <p:cTn id="82" presetID="10" presetClass="entr" presetSubtype="0" fill="hold" grpId="0" nodeType="withEffect">
                                  <p:stCondLst>
                                    <p:cond delay="81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950"/>
                                        <p:tgtEl>
                                          <p:spTgt spid="19"/>
                                        </p:tgtEl>
                                      </p:cBhvr>
                                    </p:animEffect>
                                    <p:anim calcmode="lin" valueType="num">
                                      <p:cBhvr>
                                        <p:cTn id="85" dur="950" decel="100000" fill="hold"/>
                                        <p:tgtEl>
                                          <p:spTgt spid="19"/>
                                        </p:tgtEl>
                                        <p:attrNameLst>
                                          <p:attrName>ppt_x</p:attrName>
                                        </p:attrNameLst>
                                      </p:cBhvr>
                                      <p:tavLst>
                                        <p:tav tm="0">
                                          <p:val>
                                            <p:strVal val="#ppt_x"/>
                                          </p:val>
                                        </p:tav>
                                        <p:tav tm="100000">
                                          <p:val>
                                            <p:strVal val="#ppt_x"/>
                                          </p:val>
                                        </p:tav>
                                      </p:tavLst>
                                    </p:anim>
                                    <p:anim calcmode="lin" valueType="num">
                                      <p:cBhvr>
                                        <p:cTn id="86" dur="950" decel="100000" fill="hold"/>
                                        <p:tgtEl>
                                          <p:spTgt spid="19"/>
                                        </p:tgtEl>
                                        <p:attrNameLst>
                                          <p:attrName>ppt_y</p:attrName>
                                        </p:attrNameLst>
                                      </p:cBhvr>
                                      <p:tavLst>
                                        <p:tav tm="0">
                                          <p:val>
                                            <p:strVal val="#ppt_y+0.022"/>
                                          </p:val>
                                        </p:tav>
                                        <p:tav tm="100000">
                                          <p:val>
                                            <p:strVal val="#ppt_y"/>
                                          </p:val>
                                        </p:tav>
                                      </p:tavLst>
                                    </p:anim>
                                  </p:childTnLst>
                                </p:cTn>
                              </p:par>
                              <p:par>
                                <p:cTn id="87" presetID="10" presetClass="entr" presetSubtype="0" fill="hold" grpId="0" nodeType="withEffect">
                                  <p:stCondLst>
                                    <p:cond delay="810"/>
                                  </p:stCondLst>
                                  <p:childTnLst>
                                    <p:set>
                                      <p:cBhvr>
                                        <p:cTn id="88" dur="1" fill="hold">
                                          <p:stCondLst>
                                            <p:cond delay="0"/>
                                          </p:stCondLst>
                                        </p:cTn>
                                        <p:tgtEl>
                                          <p:spTgt spid="29"/>
                                        </p:tgtEl>
                                        <p:attrNameLst>
                                          <p:attrName>style.visibility</p:attrName>
                                        </p:attrNameLst>
                                      </p:cBhvr>
                                      <p:to>
                                        <p:strVal val="visible"/>
                                      </p:to>
                                    </p:set>
                                    <p:animEffect transition="in" filter="fade">
                                      <p:cBhvr>
                                        <p:cTn id="89" dur="950"/>
                                        <p:tgtEl>
                                          <p:spTgt spid="29"/>
                                        </p:tgtEl>
                                      </p:cBhvr>
                                    </p:animEffect>
                                    <p:anim calcmode="lin" valueType="num">
                                      <p:cBhvr>
                                        <p:cTn id="90" dur="950" decel="100000" fill="hold"/>
                                        <p:tgtEl>
                                          <p:spTgt spid="29"/>
                                        </p:tgtEl>
                                        <p:attrNameLst>
                                          <p:attrName>ppt_x</p:attrName>
                                        </p:attrNameLst>
                                      </p:cBhvr>
                                      <p:tavLst>
                                        <p:tav tm="0">
                                          <p:val>
                                            <p:strVal val="#ppt_x"/>
                                          </p:val>
                                        </p:tav>
                                        <p:tav tm="100000">
                                          <p:val>
                                            <p:strVal val="#ppt_x"/>
                                          </p:val>
                                        </p:tav>
                                      </p:tavLst>
                                    </p:anim>
                                    <p:anim calcmode="lin" valueType="num">
                                      <p:cBhvr>
                                        <p:cTn id="91" dur="950" decel="100000" fill="hold"/>
                                        <p:tgtEl>
                                          <p:spTgt spid="29"/>
                                        </p:tgtEl>
                                        <p:attrNameLst>
                                          <p:attrName>ppt_y</p:attrName>
                                        </p:attrNameLst>
                                      </p:cBhvr>
                                      <p:tavLst>
                                        <p:tav tm="0">
                                          <p:val>
                                            <p:strVal val="#ppt_y+0.022"/>
                                          </p:val>
                                        </p:tav>
                                        <p:tav tm="100000">
                                          <p:val>
                                            <p:strVal val="#ppt_y"/>
                                          </p:val>
                                        </p:tav>
                                      </p:tavLst>
                                    </p:anim>
                                  </p:childTnLst>
                                </p:cTn>
                              </p:par>
                              <p:par>
                                <p:cTn id="92" presetID="22" presetClass="entr" presetSubtype="8" fill="hold" nodeType="withEffect">
                                  <p:stCondLst>
                                    <p:cond delay="810"/>
                                  </p:stCondLst>
                                  <p:childTnLst>
                                    <p:set>
                                      <p:cBhvr>
                                        <p:cTn id="93" dur="1" fill="hold">
                                          <p:stCondLst>
                                            <p:cond delay="0"/>
                                          </p:stCondLst>
                                        </p:cTn>
                                        <p:tgtEl>
                                          <p:spTgt spid="30"/>
                                        </p:tgtEl>
                                        <p:attrNameLst>
                                          <p:attrName>style.visibility</p:attrName>
                                        </p:attrNameLst>
                                      </p:cBhvr>
                                      <p:to>
                                        <p:strVal val="visible"/>
                                      </p:to>
                                    </p:set>
                                    <p:animEffect transition="in" filter="wipe(left)">
                                      <p:cBhvr>
                                        <p:cTn id="94" dur="1250" decel="100000"/>
                                        <p:tgtEl>
                                          <p:spTgt spid="30"/>
                                        </p:tgtEl>
                                      </p:cBhvr>
                                    </p:animEffect>
                                  </p:childTnLst>
                                </p:cTn>
                              </p:par>
                              <p:par>
                                <p:cTn id="95" presetID="22" presetClass="entr" presetSubtype="8" fill="hold" nodeType="withEffect">
                                  <p:stCondLst>
                                    <p:cond delay="920"/>
                                  </p:stCondLst>
                                  <p:childTnLst>
                                    <p:set>
                                      <p:cBhvr>
                                        <p:cTn id="96" dur="1" fill="hold">
                                          <p:stCondLst>
                                            <p:cond delay="0"/>
                                          </p:stCondLst>
                                        </p:cTn>
                                        <p:tgtEl>
                                          <p:spTgt spid="20"/>
                                        </p:tgtEl>
                                        <p:attrNameLst>
                                          <p:attrName>style.visibility</p:attrName>
                                        </p:attrNameLst>
                                      </p:cBhvr>
                                      <p:to>
                                        <p:strVal val="visible"/>
                                      </p:to>
                                    </p:set>
                                    <p:animEffect transition="in" filter="wipe(left)">
                                      <p:cBhvr>
                                        <p:cTn id="97" dur="1250" decel="100000"/>
                                        <p:tgtEl>
                                          <p:spTgt spid="20"/>
                                        </p:tgtEl>
                                      </p:cBhvr>
                                    </p:animEffect>
                                  </p:childTnLst>
                                </p:cTn>
                              </p:par>
                              <p:par>
                                <p:cTn id="98" presetID="22" presetClass="entr" presetSubtype="8" fill="hold" nodeType="withEffect">
                                  <p:stCondLst>
                                    <p:cond delay="920"/>
                                  </p:stCondLst>
                                  <p:childTnLst>
                                    <p:set>
                                      <p:cBhvr>
                                        <p:cTn id="99" dur="1" fill="hold">
                                          <p:stCondLst>
                                            <p:cond delay="0"/>
                                          </p:stCondLst>
                                        </p:cTn>
                                        <p:tgtEl>
                                          <p:spTgt spid="32"/>
                                        </p:tgtEl>
                                        <p:attrNameLst>
                                          <p:attrName>style.visibility</p:attrName>
                                        </p:attrNameLst>
                                      </p:cBhvr>
                                      <p:to>
                                        <p:strVal val="visible"/>
                                      </p:to>
                                    </p:set>
                                    <p:animEffect transition="in" filter="wipe(left)">
                                      <p:cBhvr>
                                        <p:cTn id="100" dur="1250" decel="100000"/>
                                        <p:tgtEl>
                                          <p:spTgt spid="32"/>
                                        </p:tgtEl>
                                      </p:cBhvr>
                                    </p:animEffect>
                                  </p:childTnLst>
                                </p:cTn>
                              </p:par>
                              <p:par>
                                <p:cTn id="101" presetID="10" presetClass="entr" presetSubtype="0" fill="hold" grpId="0" nodeType="withEffect">
                                  <p:stCondLst>
                                    <p:cond delay="103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950"/>
                                        <p:tgtEl>
                                          <p:spTgt spid="31"/>
                                        </p:tgtEl>
                                      </p:cBhvr>
                                    </p:animEffect>
                                    <p:anim calcmode="lin" valueType="num">
                                      <p:cBhvr>
                                        <p:cTn id="104" dur="950" decel="100000" fill="hold"/>
                                        <p:tgtEl>
                                          <p:spTgt spid="31"/>
                                        </p:tgtEl>
                                        <p:attrNameLst>
                                          <p:attrName>ppt_x</p:attrName>
                                        </p:attrNameLst>
                                      </p:cBhvr>
                                      <p:tavLst>
                                        <p:tav tm="0">
                                          <p:val>
                                            <p:strVal val="#ppt_x"/>
                                          </p:val>
                                        </p:tav>
                                        <p:tav tm="100000">
                                          <p:val>
                                            <p:strVal val="#ppt_x"/>
                                          </p:val>
                                        </p:tav>
                                      </p:tavLst>
                                    </p:anim>
                                    <p:anim calcmode="lin" valueType="num">
                                      <p:cBhvr>
                                        <p:cTn id="105" dur="950" decel="100000" fill="hold"/>
                                        <p:tgtEl>
                                          <p:spTgt spid="31"/>
                                        </p:tgtEl>
                                        <p:attrNameLst>
                                          <p:attrName>ppt_y</p:attrName>
                                        </p:attrNameLst>
                                      </p:cBhvr>
                                      <p:tavLst>
                                        <p:tav tm="0">
                                          <p:val>
                                            <p:strVal val="#ppt_y+0.02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3" grpId="0" animBg="1"/>
      <p:bldP spid="15" grpId="0" animBg="1"/>
      <p:bldP spid="17" grpId="0" animBg="1"/>
      <p:bldP spid="19" grpId="0" animBg="1"/>
      <p:bldP spid="21" grpId="0" animBg="1"/>
      <p:bldP spid="23" grpId="0" animBg="1"/>
      <p:bldP spid="25" grpId="0" animBg="1"/>
      <p:bldP spid="27" grpId="0" animBg="1"/>
      <p:bldP spid="29" grpId="0" animBg="1"/>
      <p:bldP spid="3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EAE1"/>
        </a:solidFill>
        <a:effectLst/>
      </p:bgPr>
    </p:bg>
    <p:spTree>
      <p:nvGrpSpPr>
        <p:cNvPr id="1" name=""/>
        <p:cNvGrpSpPr/>
        <p:nvPr/>
      </p:nvGrpSpPr>
      <p:grpSpPr>
        <a:xfrm>
          <a:off x="0" y="0"/>
          <a:ext cx="0" cy="0"/>
          <a:chOff x="0" y="0"/>
          <a:chExt cx="0" cy="0"/>
        </a:xfrm>
      </p:grpSpPr>
      <p:pic>
        <p:nvPicPr>
          <p:cNvPr id="2" name="!!Photo" descr="E:/Matter Of Place/Matter Of Place Codebase/src/assets/gallery/fl-pavilion.jpg"/>
          <p:cNvPicPr>
            <a:picLocks noChangeAspect="1"/>
          </p:cNvPicPr>
          <p:nvPr/>
        </p:nvPicPr>
        <p:blipFill>
          <a:blip r:embed="rId3"/>
          <a:srcRect l="27460" r="27460"/>
          <a:stretch/>
        </p:blipFill>
        <p:spPr>
          <a:xfrm>
            <a:off x="0" y="0"/>
            <a:ext cx="4480560" cy="6858000"/>
          </a:xfrm>
          <a:prstGeom prst="rect">
            <a:avLst/>
          </a:prstGeom>
        </p:spPr>
      </p:pic>
      <p:sp>
        <p:nvSpPr>
          <p:cNvPr id="3" name="!!Agenda">
            <a:hlinkClick r:id="" action="ppaction://noaction"/>
          </p:cNvPr>
          <p:cNvSpPr/>
          <p:nvPr/>
        </p:nvSpPr>
        <p:spPr>
          <a:xfrm>
            <a:off x="10362895" y="381000"/>
            <a:ext cx="1097280" cy="228600"/>
          </a:xfrm>
          <a:prstGeom prst="rect">
            <a:avLst/>
          </a:prstGeom>
          <a:noFill/>
          <a:ln/>
        </p:spPr>
        <p:txBody>
          <a:bodyPr wrap="square" lIns="0" tIns="0" rIns="0" bIns="0" rtlCol="0" anchor="ctr"/>
          <a:lstStyle/>
          <a:p>
            <a:pPr marL="0" indent="0" algn="r">
              <a:buNone/>
            </a:pPr>
            <a:r>
              <a:rPr lang="en-US" sz="1000" u="sng" kern="0" spc="250" dirty="0">
                <a:solidFill>
                  <a:srgbClr val="11110F"/>
                </a:solidFill>
                <a:latin typeface="Jost" pitchFamily="34" charset="0"/>
                <a:ea typeface="Jost" pitchFamily="34" charset="-122"/>
                <a:cs typeface="Jost" pitchFamily="34" charset="-120"/>
                <a:hlinkClick r:id="" action="ppaction://noaction">
                  <a:extLst>
                    <a:ext uri="{A12FA001-AC4F-418D-AE19-62706E023703}">
                      <ahyp:hlinkClr xmlns:ahyp="http://schemas.microsoft.com/office/drawing/2018/hyperlinkcolor" val="tx"/>
                    </a:ext>
                  </a:extLst>
                </a:hlinkClick>
              </a:rPr>
              <a:t>Agenda</a:t>
            </a:r>
            <a:endParaRPr lang="en-US" sz="1000" dirty="0"/>
          </a:p>
        </p:txBody>
      </p:sp>
      <p:sp>
        <p:nvSpPr>
          <p:cNvPr id="4" name="!!Footer"/>
          <p:cNvSpPr/>
          <p:nvPr/>
        </p:nvSpPr>
        <p:spPr>
          <a:xfrm>
            <a:off x="5212080" y="6172200"/>
            <a:ext cx="4572000" cy="228600"/>
          </a:xfrm>
          <a:prstGeom prst="rect">
            <a:avLst/>
          </a:prstGeom>
          <a:noFill/>
          <a:ln/>
        </p:spPr>
        <p:txBody>
          <a:bodyPr wrap="square" lIns="0" tIns="0" rIns="0" bIns="0" rtlCol="0" anchor="ctr"/>
          <a:lstStyle/>
          <a:p>
            <a:pPr marL="0" indent="0">
              <a:buNone/>
            </a:pPr>
            <a:r>
              <a:rPr lang="en-US" sz="900" kern="0" spc="250" dirty="0">
                <a:solidFill>
                  <a:srgbClr val="5E5A54"/>
                </a:solidFill>
                <a:latin typeface="Jost" pitchFamily="34" charset="0"/>
                <a:ea typeface="Jost" pitchFamily="34" charset="-122"/>
                <a:cs typeface="Jost" pitchFamily="34" charset="-120"/>
              </a:rPr>
              <a:t>MATTER OF PLACE  ·  FOR PARTNERS</a:t>
            </a:r>
            <a:endParaRPr lang="en-US" sz="900" dirty="0"/>
          </a:p>
        </p:txBody>
      </p:sp>
      <p:sp>
        <p:nvSpPr>
          <p:cNvPr id="5" name="!!Page"/>
          <p:cNvSpPr/>
          <p:nvPr/>
        </p:nvSpPr>
        <p:spPr>
          <a:xfrm>
            <a:off x="10362895" y="6172200"/>
            <a:ext cx="1097280" cy="228600"/>
          </a:xfrm>
          <a:prstGeom prst="rect">
            <a:avLst/>
          </a:prstGeom>
          <a:noFill/>
          <a:ln/>
        </p:spPr>
        <p:txBody>
          <a:bodyPr wrap="square" lIns="0" tIns="0" rIns="0" bIns="0" rtlCol="0" anchor="ctr"/>
          <a:lstStyle/>
          <a:p>
            <a:pPr marL="0" indent="0" algn="r">
              <a:buNone/>
            </a:pPr>
            <a:r>
              <a:rPr lang="en-US" sz="900" kern="0" spc="250" dirty="0">
                <a:solidFill>
                  <a:srgbClr val="5E5A54"/>
                </a:solidFill>
                <a:latin typeface="Jost" pitchFamily="34" charset="0"/>
                <a:ea typeface="Jost" pitchFamily="34" charset="-122"/>
                <a:cs typeface="Jost" pitchFamily="34" charset="-120"/>
              </a:rPr>
              <a:t>07 / 14</a:t>
            </a:r>
            <a:endParaRPr lang="en-US" sz="900" dirty="0"/>
          </a:p>
        </p:txBody>
      </p:sp>
      <p:sp>
        <p:nvSpPr>
          <p:cNvPr id="6" name="!!Eyebrow"/>
          <p:cNvSpPr/>
          <p:nvPr/>
        </p:nvSpPr>
        <p:spPr>
          <a:xfrm>
            <a:off x="5212080" y="868680"/>
            <a:ext cx="5486400" cy="274320"/>
          </a:xfrm>
          <a:prstGeom prst="rect">
            <a:avLst/>
          </a:prstGeom>
          <a:noFill/>
          <a:ln/>
        </p:spPr>
        <p:txBody>
          <a:bodyPr wrap="square" lIns="0" tIns="0" rIns="0" bIns="0" rtlCol="0" anchor="ctr"/>
          <a:lstStyle/>
          <a:p>
            <a:pPr marL="0" indent="0">
              <a:buNone/>
            </a:pPr>
            <a:r>
              <a:rPr lang="en-US" sz="1050" kern="0" spc="300" dirty="0">
                <a:solidFill>
                  <a:srgbClr val="575751"/>
                </a:solidFill>
                <a:latin typeface="Jost" pitchFamily="34" charset="0"/>
                <a:ea typeface="Jost" pitchFamily="34" charset="-122"/>
                <a:cs typeface="Jost" pitchFamily="34" charset="-120"/>
              </a:rPr>
              <a:t>PROPERTY EXPOSURE</a:t>
            </a:r>
            <a:endParaRPr lang="en-US" sz="1050" dirty="0"/>
          </a:p>
        </p:txBody>
      </p:sp>
      <p:sp>
        <p:nvSpPr>
          <p:cNvPr id="7" name="s7-7"/>
          <p:cNvSpPr/>
          <p:nvPr/>
        </p:nvSpPr>
        <p:spPr>
          <a:xfrm>
            <a:off x="7360920" y="850392"/>
            <a:ext cx="1234440" cy="256032"/>
          </a:xfrm>
          <a:prstGeom prst="rect">
            <a:avLst/>
          </a:prstGeom>
          <a:noFill/>
          <a:ln w="9525">
            <a:solidFill>
              <a:srgbClr val="11110F"/>
            </a:solidFill>
          </a:ln>
        </p:spPr>
        <p:txBody>
          <a:bodyPr wrap="square" lIns="0" tIns="0" rIns="0" bIns="0" rtlCol="0" anchor="ctr"/>
          <a:lstStyle/>
          <a:p>
            <a:pPr marL="0" indent="0" algn="ctr">
              <a:buNone/>
            </a:pPr>
            <a:r>
              <a:rPr lang="en-US" sz="750" kern="0" spc="250" dirty="0">
                <a:solidFill>
                  <a:srgbClr val="11110F"/>
                </a:solidFill>
                <a:latin typeface="Jost" pitchFamily="34" charset="0"/>
                <a:ea typeface="Jost" pitchFamily="34" charset="-122"/>
                <a:cs typeface="Jost" pitchFamily="34" charset="-120"/>
              </a:rPr>
              <a:t>RECOMMENDED</a:t>
            </a:r>
            <a:endParaRPr lang="en-US" sz="750" dirty="0"/>
          </a:p>
        </p:txBody>
      </p:sp>
      <p:sp>
        <p:nvSpPr>
          <p:cNvPr id="8" name="!!Title"/>
          <p:cNvSpPr/>
          <p:nvPr/>
        </p:nvSpPr>
        <p:spPr>
          <a:xfrm>
            <a:off x="5207000" y="1193800"/>
            <a:ext cx="4318000" cy="711200"/>
          </a:xfrm>
          <a:prstGeom prst="rect">
            <a:avLst/>
          </a:prstGeom>
          <a:noFill/>
          <a:ln/>
        </p:spPr>
        <p:txBody>
          <a:bodyPr wrap="square" lIns="0" tIns="0" rIns="0" bIns="0" rtlCol="0" anchor="t"/>
          <a:lstStyle/>
          <a:p>
            <a:pPr marL="0" indent="0">
              <a:buNone/>
            </a:pPr>
            <a:r>
              <a:rPr lang="en-US" sz="3800" dirty="0">
                <a:solidFill>
                  <a:srgbClr val="11110F"/>
                </a:solidFill>
                <a:latin typeface="Cormorant Garamond" pitchFamily="34" charset="0"/>
                <a:ea typeface="Cormorant Garamond" pitchFamily="34" charset="-122"/>
                <a:cs typeface="Cormorant Garamond" pitchFamily="34" charset="-120"/>
              </a:rPr>
              <a:t>The Reach</a:t>
            </a:r>
            <a:endParaRPr lang="en-US" sz="3800" dirty="0"/>
          </a:p>
        </p:txBody>
      </p:sp>
      <p:sp>
        <p:nvSpPr>
          <p:cNvPr id="9" name="s7-9"/>
          <p:cNvSpPr/>
          <p:nvPr/>
        </p:nvSpPr>
        <p:spPr>
          <a:xfrm>
            <a:off x="9550400" y="1193800"/>
            <a:ext cx="1905000" cy="711200"/>
          </a:xfrm>
          <a:prstGeom prst="rect">
            <a:avLst/>
          </a:prstGeom>
          <a:noFill/>
          <a:ln/>
        </p:spPr>
        <p:txBody>
          <a:bodyPr wrap="square" lIns="0" tIns="0" rIns="0" bIns="0" rtlCol="0" anchor="t"/>
          <a:lstStyle/>
          <a:p>
            <a:pPr marL="0" indent="0" algn="r">
              <a:buNone/>
            </a:pPr>
            <a:r>
              <a:rPr lang="en-US" sz="3200" dirty="0">
                <a:solidFill>
                  <a:srgbClr val="11110F"/>
                </a:solidFill>
                <a:latin typeface="Cormorant Garamond" pitchFamily="34" charset="0"/>
                <a:ea typeface="Cormorant Garamond" pitchFamily="34" charset="-122"/>
                <a:cs typeface="Cormorant Garamond" pitchFamily="34" charset="-120"/>
              </a:rPr>
              <a:t>$695</a:t>
            </a:r>
            <a:endParaRPr lang="en-US" sz="3200" dirty="0"/>
          </a:p>
        </p:txBody>
      </p:sp>
      <p:sp>
        <p:nvSpPr>
          <p:cNvPr id="10" name="s7-10"/>
          <p:cNvSpPr/>
          <p:nvPr/>
        </p:nvSpPr>
        <p:spPr>
          <a:xfrm>
            <a:off x="5207000" y="1930400"/>
            <a:ext cx="6248400" cy="431800"/>
          </a:xfrm>
          <a:prstGeom prst="rect">
            <a:avLst/>
          </a:prstGeom>
          <a:noFill/>
          <a:ln/>
        </p:spPr>
        <p:txBody>
          <a:bodyPr wrap="square" lIns="0" tIns="0" rIns="0" bIns="0" rtlCol="0" anchor="t"/>
          <a:lstStyle/>
          <a:p>
            <a:pPr marL="0" indent="0">
              <a:buNone/>
            </a:pPr>
            <a:r>
              <a:rPr lang="en-US" sz="1500" i="1" dirty="0">
                <a:solidFill>
                  <a:srgbClr val="575751"/>
                </a:solidFill>
                <a:latin typeface="Cormorant Garamond" pitchFamily="34" charset="0"/>
                <a:ea typeface="Cormorant Garamond" pitchFamily="34" charset="-122"/>
                <a:cs typeface="Cormorant Garamond" pitchFamily="34" charset="-120"/>
              </a:rPr>
              <a:t>Editorial presence, expanded through precision distribution.</a:t>
            </a:r>
            <a:endParaRPr lang="en-US" sz="1500" dirty="0"/>
          </a:p>
        </p:txBody>
      </p:sp>
      <p:sp>
        <p:nvSpPr>
          <p:cNvPr id="34" name="s7-34"/>
          <p:cNvSpPr/>
          <p:nvPr/>
        </p:nvSpPr>
        <p:spPr>
          <a:xfrm>
            <a:off x="8483600" y="5257800"/>
            <a:ext cx="2971800" cy="0"/>
          </a:xfrm>
          <a:prstGeom prst="line">
            <a:avLst/>
          </a:prstGeom>
          <a:noFill/>
          <a:ln w="9525">
            <a:solidFill>
              <a:srgbClr val="C9C0B2"/>
            </a:solidFill>
            <a:prstDash val="solid"/>
          </a:ln>
        </p:spPr>
      </p:sp>
      <p:sp>
        <p:nvSpPr>
          <p:cNvPr id="11" name="s7-11"/>
          <p:cNvSpPr/>
          <p:nvPr/>
        </p:nvSpPr>
        <p:spPr>
          <a:xfrm>
            <a:off x="5207000" y="2590800"/>
            <a:ext cx="2971800" cy="0"/>
          </a:xfrm>
          <a:prstGeom prst="line">
            <a:avLst/>
          </a:prstGeom>
          <a:noFill/>
          <a:ln w="9525">
            <a:solidFill>
              <a:srgbClr val="C9C0B2"/>
            </a:solidFill>
            <a:prstDash val="solid"/>
          </a:ln>
        </p:spPr>
      </p:sp>
      <p:sp>
        <p:nvSpPr>
          <p:cNvPr id="12" name="s7-12"/>
          <p:cNvSpPr/>
          <p:nvPr/>
        </p:nvSpPr>
        <p:spPr>
          <a:xfrm>
            <a:off x="5207000" y="25908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Everything in The Feature</a:t>
            </a:r>
            <a:endParaRPr lang="en-US" sz="1400" dirty="0"/>
          </a:p>
        </p:txBody>
      </p:sp>
      <p:sp>
        <p:nvSpPr>
          <p:cNvPr id="13" name="s7-13"/>
          <p:cNvSpPr/>
          <p:nvPr/>
        </p:nvSpPr>
        <p:spPr>
          <a:xfrm>
            <a:off x="5207000" y="3124200"/>
            <a:ext cx="2971800" cy="0"/>
          </a:xfrm>
          <a:prstGeom prst="line">
            <a:avLst/>
          </a:prstGeom>
          <a:noFill/>
          <a:ln w="9525">
            <a:solidFill>
              <a:srgbClr val="C9C0B2"/>
            </a:solidFill>
            <a:prstDash val="solid"/>
          </a:ln>
        </p:spPr>
      </p:sp>
      <p:sp>
        <p:nvSpPr>
          <p:cNvPr id="14" name="s7-14"/>
          <p:cNvSpPr/>
          <p:nvPr/>
        </p:nvSpPr>
        <p:spPr>
          <a:xfrm>
            <a:off x="5207000" y="31242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Matter of Place Stories</a:t>
            </a:r>
            <a:endParaRPr lang="en-US" sz="1400" dirty="0"/>
          </a:p>
        </p:txBody>
      </p:sp>
      <p:sp>
        <p:nvSpPr>
          <p:cNvPr id="15" name="s7-15"/>
          <p:cNvSpPr/>
          <p:nvPr/>
        </p:nvSpPr>
        <p:spPr>
          <a:xfrm>
            <a:off x="5207000" y="3657600"/>
            <a:ext cx="2971800" cy="0"/>
          </a:xfrm>
          <a:prstGeom prst="line">
            <a:avLst/>
          </a:prstGeom>
          <a:noFill/>
          <a:ln w="9525">
            <a:solidFill>
              <a:srgbClr val="C9C0B2"/>
            </a:solidFill>
            <a:prstDash val="solid"/>
          </a:ln>
        </p:spPr>
      </p:sp>
      <p:sp>
        <p:nvSpPr>
          <p:cNvPr id="16" name="s7-16"/>
          <p:cNvSpPr/>
          <p:nvPr/>
        </p:nvSpPr>
        <p:spPr>
          <a:xfrm>
            <a:off x="5207000" y="36576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Newsletter inclusion</a:t>
            </a:r>
            <a:endParaRPr lang="en-US" sz="1400" dirty="0"/>
          </a:p>
        </p:txBody>
      </p:sp>
      <p:sp>
        <p:nvSpPr>
          <p:cNvPr id="17" name="s7-17"/>
          <p:cNvSpPr/>
          <p:nvPr/>
        </p:nvSpPr>
        <p:spPr>
          <a:xfrm>
            <a:off x="5207000" y="4191000"/>
            <a:ext cx="2971800" cy="0"/>
          </a:xfrm>
          <a:prstGeom prst="line">
            <a:avLst/>
          </a:prstGeom>
          <a:noFill/>
          <a:ln w="9525">
            <a:solidFill>
              <a:srgbClr val="C9C0B2"/>
            </a:solidFill>
            <a:prstDash val="solid"/>
          </a:ln>
        </p:spPr>
      </p:sp>
      <p:sp>
        <p:nvSpPr>
          <p:cNvPr id="18" name="s7-18"/>
          <p:cNvSpPr/>
          <p:nvPr/>
        </p:nvSpPr>
        <p:spPr>
          <a:xfrm>
            <a:off x="5207000" y="41910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Priority editorial scheduling</a:t>
            </a:r>
            <a:endParaRPr lang="en-US" sz="1400" dirty="0"/>
          </a:p>
        </p:txBody>
      </p:sp>
      <p:sp>
        <p:nvSpPr>
          <p:cNvPr id="19" name="s7-19"/>
          <p:cNvSpPr/>
          <p:nvPr/>
        </p:nvSpPr>
        <p:spPr>
          <a:xfrm>
            <a:off x="5207000" y="4724400"/>
            <a:ext cx="2971800" cy="0"/>
          </a:xfrm>
          <a:prstGeom prst="line">
            <a:avLst/>
          </a:prstGeom>
          <a:noFill/>
          <a:ln w="9525">
            <a:solidFill>
              <a:srgbClr val="C9C0B2"/>
            </a:solidFill>
            <a:prstDash val="solid"/>
          </a:ln>
        </p:spPr>
      </p:sp>
      <p:sp>
        <p:nvSpPr>
          <p:cNvPr id="20" name="s7-20"/>
          <p:cNvSpPr/>
          <p:nvPr/>
        </p:nvSpPr>
        <p:spPr>
          <a:xfrm>
            <a:off x="5207000" y="47244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Homepage or market-page rotation</a:t>
            </a:r>
            <a:endParaRPr lang="en-US" sz="1400" dirty="0"/>
          </a:p>
        </p:txBody>
      </p:sp>
      <p:sp>
        <p:nvSpPr>
          <p:cNvPr id="21" name="s7-21"/>
          <p:cNvSpPr/>
          <p:nvPr/>
        </p:nvSpPr>
        <p:spPr>
          <a:xfrm>
            <a:off x="5207000" y="5257800"/>
            <a:ext cx="2971800" cy="0"/>
          </a:xfrm>
          <a:prstGeom prst="line">
            <a:avLst/>
          </a:prstGeom>
          <a:noFill/>
          <a:ln w="9525">
            <a:solidFill>
              <a:srgbClr val="C9C0B2"/>
            </a:solidFill>
            <a:prstDash val="solid"/>
          </a:ln>
        </p:spPr>
      </p:sp>
      <p:sp>
        <p:nvSpPr>
          <p:cNvPr id="22" name="s7-22"/>
          <p:cNvSpPr/>
          <p:nvPr/>
        </p:nvSpPr>
        <p:spPr>
          <a:xfrm>
            <a:off x="8483600" y="25908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Additional social distribution</a:t>
            </a:r>
            <a:endParaRPr lang="en-US" sz="1400" dirty="0"/>
          </a:p>
        </p:txBody>
      </p:sp>
      <p:sp>
        <p:nvSpPr>
          <p:cNvPr id="23" name="s7-23"/>
          <p:cNvSpPr/>
          <p:nvPr/>
        </p:nvSpPr>
        <p:spPr>
          <a:xfrm>
            <a:off x="8483600" y="2590800"/>
            <a:ext cx="2971800" cy="0"/>
          </a:xfrm>
          <a:prstGeom prst="line">
            <a:avLst/>
          </a:prstGeom>
          <a:noFill/>
          <a:ln w="9525">
            <a:solidFill>
              <a:srgbClr val="C9C0B2"/>
            </a:solidFill>
            <a:prstDash val="solid"/>
          </a:ln>
        </p:spPr>
      </p:sp>
      <p:sp>
        <p:nvSpPr>
          <p:cNvPr id="24" name="s7-24"/>
          <p:cNvSpPr/>
          <p:nvPr/>
        </p:nvSpPr>
        <p:spPr>
          <a:xfrm>
            <a:off x="8483600" y="31242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Programmatic campaign planning</a:t>
            </a:r>
            <a:endParaRPr lang="en-US" sz="1400" dirty="0"/>
          </a:p>
        </p:txBody>
      </p:sp>
      <p:sp>
        <p:nvSpPr>
          <p:cNvPr id="25" name="s7-25"/>
          <p:cNvSpPr/>
          <p:nvPr/>
        </p:nvSpPr>
        <p:spPr>
          <a:xfrm>
            <a:off x="8483600" y="3124200"/>
            <a:ext cx="2971800" cy="0"/>
          </a:xfrm>
          <a:prstGeom prst="line">
            <a:avLst/>
          </a:prstGeom>
          <a:noFill/>
          <a:ln w="9525">
            <a:solidFill>
              <a:srgbClr val="C9C0B2"/>
            </a:solidFill>
            <a:prstDash val="solid"/>
          </a:ln>
        </p:spPr>
      </p:sp>
      <p:sp>
        <p:nvSpPr>
          <p:cNvPr id="26" name="s7-26"/>
          <p:cNvSpPr/>
          <p:nvPr/>
        </p:nvSpPr>
        <p:spPr>
          <a:xfrm>
            <a:off x="8483600" y="36576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Audience-targeting setup</a:t>
            </a:r>
            <a:endParaRPr lang="en-US" sz="1400" dirty="0"/>
          </a:p>
        </p:txBody>
      </p:sp>
      <p:sp>
        <p:nvSpPr>
          <p:cNvPr id="27" name="s7-27"/>
          <p:cNvSpPr/>
          <p:nvPr/>
        </p:nvSpPr>
        <p:spPr>
          <a:xfrm>
            <a:off x="8483600" y="3657600"/>
            <a:ext cx="2971800" cy="0"/>
          </a:xfrm>
          <a:prstGeom prst="line">
            <a:avLst/>
          </a:prstGeom>
          <a:noFill/>
          <a:ln w="9525">
            <a:solidFill>
              <a:srgbClr val="C9C0B2"/>
            </a:solidFill>
            <a:prstDash val="solid"/>
          </a:ln>
        </p:spPr>
      </p:sp>
      <p:sp>
        <p:nvSpPr>
          <p:cNvPr id="28" name="s7-28"/>
          <p:cNvSpPr/>
          <p:nvPr/>
        </p:nvSpPr>
        <p:spPr>
          <a:xfrm>
            <a:off x="8483600" y="41910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Campaign reporting framework</a:t>
            </a:r>
            <a:endParaRPr lang="en-US" sz="1400" dirty="0"/>
          </a:p>
        </p:txBody>
      </p:sp>
      <p:sp>
        <p:nvSpPr>
          <p:cNvPr id="29" name="s7-29"/>
          <p:cNvSpPr/>
          <p:nvPr/>
        </p:nvSpPr>
        <p:spPr>
          <a:xfrm>
            <a:off x="8483600" y="4191000"/>
            <a:ext cx="2971800" cy="0"/>
          </a:xfrm>
          <a:prstGeom prst="line">
            <a:avLst/>
          </a:prstGeom>
          <a:noFill/>
          <a:ln w="9525">
            <a:solidFill>
              <a:srgbClr val="C9C0B2"/>
            </a:solidFill>
            <a:prstDash val="solid"/>
          </a:ln>
        </p:spPr>
      </p:sp>
      <p:sp>
        <p:nvSpPr>
          <p:cNvPr id="30" name="s7-30"/>
          <p:cNvSpPr/>
          <p:nvPr/>
        </p:nvSpPr>
        <p:spPr>
          <a:xfrm>
            <a:off x="8483600" y="47244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Option to add programmatic media spend</a:t>
            </a:r>
            <a:endParaRPr lang="en-US" sz="1400" dirty="0"/>
          </a:p>
        </p:txBody>
      </p:sp>
      <p:sp>
        <p:nvSpPr>
          <p:cNvPr id="31" name="s7-31"/>
          <p:cNvSpPr/>
          <p:nvPr/>
        </p:nvSpPr>
        <p:spPr>
          <a:xfrm>
            <a:off x="8483600" y="4724400"/>
            <a:ext cx="2971800" cy="0"/>
          </a:xfrm>
          <a:prstGeom prst="line">
            <a:avLst/>
          </a:prstGeom>
          <a:noFill/>
          <a:ln w="9525">
            <a:solidFill>
              <a:srgbClr val="C9C0B2"/>
            </a:solidFill>
            <a:prstDash val="solid"/>
          </a:ln>
        </p:spPr>
      </p:sp>
      <p:sp>
        <p:nvSpPr>
          <p:cNvPr id="32" name="s7-32"/>
          <p:cNvSpPr/>
          <p:nvPr/>
        </p:nvSpPr>
        <p:spPr>
          <a:xfrm>
            <a:off x="5207000" y="5384800"/>
            <a:ext cx="6248400" cy="254000"/>
          </a:xfrm>
          <a:prstGeom prst="rect">
            <a:avLst/>
          </a:prstGeom>
          <a:noFill/>
          <a:ln/>
        </p:spPr>
        <p:txBody>
          <a:bodyPr wrap="square" lIns="0" tIns="0" rIns="0" bIns="0" rtlCol="0" anchor="t"/>
          <a:lstStyle/>
          <a:p>
            <a:pPr marL="0" indent="0">
              <a:lnSpc>
                <a:spcPct val="125000"/>
              </a:lnSpc>
              <a:buNone/>
            </a:pPr>
            <a:r>
              <a:rPr lang="en-US" sz="1100" dirty="0">
                <a:solidFill>
                  <a:srgbClr val="575751"/>
                </a:solidFill>
                <a:latin typeface="Jost" pitchFamily="34" charset="0"/>
                <a:ea typeface="Jost" pitchFamily="34" charset="-122"/>
                <a:cs typeface="Jost" pitchFamily="34" charset="-120"/>
              </a:rPr>
              <a:t>Programmatic media spend is billed separately.</a:t>
            </a:r>
            <a:endParaRPr lang="en-US" sz="1100" dirty="0"/>
          </a:p>
        </p:txBody>
      </p:sp>
      <p:sp>
        <p:nvSpPr>
          <p:cNvPr id="33" name="s7-33">
            <a:hlinkClick r:id="rId4" tooltip="matterofplace.com/submit"/>
          </p:cNvPr>
          <p:cNvSpPr/>
          <p:nvPr/>
        </p:nvSpPr>
        <p:spPr>
          <a:xfrm>
            <a:off x="5207000" y="5765800"/>
            <a:ext cx="2743200" cy="279400"/>
          </a:xfrm>
          <a:prstGeom prst="rect">
            <a:avLst/>
          </a:prstGeom>
          <a:noFill/>
          <a:ln/>
        </p:spPr>
        <p:txBody>
          <a:bodyPr wrap="square" lIns="0" tIns="0" rIns="0" bIns="0" rtlCol="0" anchor="ctr"/>
          <a:lstStyle/>
          <a:p>
            <a:pPr marL="0" indent="0">
              <a:buNone/>
            </a:pPr>
            <a:r>
              <a:rPr lang="en-US" sz="1100" u="sng" kern="0" spc="250" dirty="0">
                <a:solidFill>
                  <a:srgbClr val="11110F"/>
                </a:solidFill>
                <a:latin typeface="Jost" pitchFamily="34" charset="0"/>
                <a:ea typeface="Jost" pitchFamily="34" charset="-122"/>
                <a:cs typeface="Jost" pitchFamily="34" charset="-120"/>
                <a:hlinkClick r:id="rId4" tooltip="matterofplace.com/submit">
                  <a:extLst>
                    <a:ext uri="{A12FA001-AC4F-418D-AE19-62706E023703}">
                      <ahyp:hlinkClr xmlns:ahyp="http://schemas.microsoft.com/office/drawing/2018/hyperlinkcolor" val="tx"/>
                    </a:ext>
                  </a:extLst>
                </a:hlinkClick>
              </a:rPr>
              <a:t>Expand the Reach</a:t>
            </a:r>
            <a:endParaRPr lang="en-US" sz="1100" dirty="0"/>
          </a:p>
        </p:txBody>
      </p:sp>
    </p:spTree>
    <p:extLst>
      <p:ext uri="{BB962C8B-B14F-4D97-AF65-F5344CB8AC3E}">
        <p14:creationId xmlns:p14="http://schemas.microsoft.com/office/powerpoint/2010/main" val="375015553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950"/>
                                        <p:tgtEl>
                                          <p:spTgt spid="7"/>
                                        </p:tgtEl>
                                      </p:cBhvr>
                                    </p:animEffect>
                                    <p:anim calcmode="lin" valueType="num">
                                      <p:cBhvr>
                                        <p:cTn id="8" dur="950" decel="100000" fill="hold"/>
                                        <p:tgtEl>
                                          <p:spTgt spid="7"/>
                                        </p:tgtEl>
                                        <p:attrNameLst>
                                          <p:attrName>ppt_x</p:attrName>
                                        </p:attrNameLst>
                                      </p:cBhvr>
                                      <p:tavLst>
                                        <p:tav tm="0">
                                          <p:val>
                                            <p:strVal val="#ppt_x"/>
                                          </p:val>
                                        </p:tav>
                                        <p:tav tm="100000">
                                          <p:val>
                                            <p:strVal val="#ppt_x"/>
                                          </p:val>
                                        </p:tav>
                                      </p:tavLst>
                                    </p:anim>
                                    <p:anim calcmode="lin" valueType="num">
                                      <p:cBhvr>
                                        <p:cTn id="9" dur="950" decel="100000" fill="hold"/>
                                        <p:tgtEl>
                                          <p:spTgt spid="7"/>
                                        </p:tgtEl>
                                        <p:attrNameLst>
                                          <p:attrName>ppt_y</p:attrName>
                                        </p:attrNameLst>
                                      </p:cBhvr>
                                      <p:tavLst>
                                        <p:tav tm="0">
                                          <p:val>
                                            <p:strVal val="#ppt_y+0.022"/>
                                          </p:val>
                                        </p:tav>
                                        <p:tav tm="100000">
                                          <p:val>
                                            <p:strVal val="#ppt_y"/>
                                          </p:val>
                                        </p:tav>
                                      </p:tavLst>
                                    </p:anim>
                                  </p:childTnLst>
                                </p:cTn>
                              </p:par>
                              <p:par>
                                <p:cTn id="10" presetID="10" presetClass="entr" presetSubtype="0" fill="hold" grpId="0" nodeType="withEffect">
                                  <p:stCondLst>
                                    <p:cond delay="26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950"/>
                                        <p:tgtEl>
                                          <p:spTgt spid="9"/>
                                        </p:tgtEl>
                                      </p:cBhvr>
                                    </p:animEffect>
                                    <p:anim calcmode="lin" valueType="num">
                                      <p:cBhvr>
                                        <p:cTn id="13" dur="950" decel="100000" fill="hold"/>
                                        <p:tgtEl>
                                          <p:spTgt spid="9"/>
                                        </p:tgtEl>
                                        <p:attrNameLst>
                                          <p:attrName>ppt_x</p:attrName>
                                        </p:attrNameLst>
                                      </p:cBhvr>
                                      <p:tavLst>
                                        <p:tav tm="0">
                                          <p:val>
                                            <p:strVal val="#ppt_x"/>
                                          </p:val>
                                        </p:tav>
                                        <p:tav tm="100000">
                                          <p:val>
                                            <p:strVal val="#ppt_x"/>
                                          </p:val>
                                        </p:tav>
                                      </p:tavLst>
                                    </p:anim>
                                    <p:anim calcmode="lin" valueType="num">
                                      <p:cBhvr>
                                        <p:cTn id="14" dur="950" decel="100000" fill="hold"/>
                                        <p:tgtEl>
                                          <p:spTgt spid="9"/>
                                        </p:tgtEl>
                                        <p:attrNameLst>
                                          <p:attrName>ppt_y</p:attrName>
                                        </p:attrNameLst>
                                      </p:cBhvr>
                                      <p:tavLst>
                                        <p:tav tm="0">
                                          <p:val>
                                            <p:strVal val="#ppt_y+0.022"/>
                                          </p:val>
                                        </p:tav>
                                        <p:tav tm="100000">
                                          <p:val>
                                            <p:strVal val="#ppt_y"/>
                                          </p:val>
                                        </p:tav>
                                      </p:tavLst>
                                    </p:anim>
                                  </p:childTnLst>
                                </p:cTn>
                              </p:par>
                              <p:par>
                                <p:cTn id="15" presetID="10" presetClass="entr" presetSubtype="0" fill="hold" grpId="0" nodeType="withEffect">
                                  <p:stCondLst>
                                    <p:cond delay="37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950"/>
                                        <p:tgtEl>
                                          <p:spTgt spid="10"/>
                                        </p:tgtEl>
                                      </p:cBhvr>
                                    </p:animEffect>
                                    <p:anim calcmode="lin" valueType="num">
                                      <p:cBhvr>
                                        <p:cTn id="18" dur="950" decel="100000" fill="hold"/>
                                        <p:tgtEl>
                                          <p:spTgt spid="10"/>
                                        </p:tgtEl>
                                        <p:attrNameLst>
                                          <p:attrName>ppt_x</p:attrName>
                                        </p:attrNameLst>
                                      </p:cBhvr>
                                      <p:tavLst>
                                        <p:tav tm="0">
                                          <p:val>
                                            <p:strVal val="#ppt_x"/>
                                          </p:val>
                                        </p:tav>
                                        <p:tav tm="100000">
                                          <p:val>
                                            <p:strVal val="#ppt_x"/>
                                          </p:val>
                                        </p:tav>
                                      </p:tavLst>
                                    </p:anim>
                                    <p:anim calcmode="lin" valueType="num">
                                      <p:cBhvr>
                                        <p:cTn id="19" dur="950" decel="100000" fill="hold"/>
                                        <p:tgtEl>
                                          <p:spTgt spid="10"/>
                                        </p:tgtEl>
                                        <p:attrNameLst>
                                          <p:attrName>ppt_y</p:attrName>
                                        </p:attrNameLst>
                                      </p:cBhvr>
                                      <p:tavLst>
                                        <p:tav tm="0">
                                          <p:val>
                                            <p:strVal val="#ppt_y+0.022"/>
                                          </p:val>
                                        </p:tav>
                                        <p:tav tm="100000">
                                          <p:val>
                                            <p:strVal val="#ppt_y"/>
                                          </p:val>
                                        </p:tav>
                                      </p:tavLst>
                                    </p:anim>
                                  </p:childTnLst>
                                </p:cTn>
                              </p:par>
                              <p:par>
                                <p:cTn id="20" presetID="22" presetClass="entr" presetSubtype="8" fill="hold" nodeType="withEffect">
                                  <p:stCondLst>
                                    <p:cond delay="480"/>
                                  </p:stCondLst>
                                  <p:childTnLst>
                                    <p:set>
                                      <p:cBhvr>
                                        <p:cTn id="21" dur="1" fill="hold">
                                          <p:stCondLst>
                                            <p:cond delay="0"/>
                                          </p:stCondLst>
                                        </p:cTn>
                                        <p:tgtEl>
                                          <p:spTgt spid="11"/>
                                        </p:tgtEl>
                                        <p:attrNameLst>
                                          <p:attrName>style.visibility</p:attrName>
                                        </p:attrNameLst>
                                      </p:cBhvr>
                                      <p:to>
                                        <p:strVal val="visible"/>
                                      </p:to>
                                    </p:set>
                                    <p:animEffect transition="in" filter="wipe(left)">
                                      <p:cBhvr>
                                        <p:cTn id="22" dur="1250" decel="100000"/>
                                        <p:tgtEl>
                                          <p:spTgt spid="11"/>
                                        </p:tgtEl>
                                      </p:cBhvr>
                                    </p:animEffect>
                                  </p:childTnLst>
                                </p:cTn>
                              </p:par>
                              <p:par>
                                <p:cTn id="23" presetID="10" presetClass="entr" presetSubtype="0" fill="hold" grpId="0" nodeType="withEffect">
                                  <p:stCondLst>
                                    <p:cond delay="48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950"/>
                                        <p:tgtEl>
                                          <p:spTgt spid="12"/>
                                        </p:tgtEl>
                                      </p:cBhvr>
                                    </p:animEffect>
                                    <p:anim calcmode="lin" valueType="num">
                                      <p:cBhvr>
                                        <p:cTn id="26" dur="950" decel="100000" fill="hold"/>
                                        <p:tgtEl>
                                          <p:spTgt spid="12"/>
                                        </p:tgtEl>
                                        <p:attrNameLst>
                                          <p:attrName>ppt_x</p:attrName>
                                        </p:attrNameLst>
                                      </p:cBhvr>
                                      <p:tavLst>
                                        <p:tav tm="0">
                                          <p:val>
                                            <p:strVal val="#ppt_x"/>
                                          </p:val>
                                        </p:tav>
                                        <p:tav tm="100000">
                                          <p:val>
                                            <p:strVal val="#ppt_x"/>
                                          </p:val>
                                        </p:tav>
                                      </p:tavLst>
                                    </p:anim>
                                    <p:anim calcmode="lin" valueType="num">
                                      <p:cBhvr>
                                        <p:cTn id="27" dur="950" decel="100000" fill="hold"/>
                                        <p:tgtEl>
                                          <p:spTgt spid="12"/>
                                        </p:tgtEl>
                                        <p:attrNameLst>
                                          <p:attrName>ppt_y</p:attrName>
                                        </p:attrNameLst>
                                      </p:cBhvr>
                                      <p:tavLst>
                                        <p:tav tm="0">
                                          <p:val>
                                            <p:strVal val="#ppt_y+0.022"/>
                                          </p:val>
                                        </p:tav>
                                        <p:tav tm="100000">
                                          <p:val>
                                            <p:strVal val="#ppt_y"/>
                                          </p:val>
                                        </p:tav>
                                      </p:tavLst>
                                    </p:anim>
                                  </p:childTnLst>
                                </p:cTn>
                              </p:par>
                              <p:par>
                                <p:cTn id="28" presetID="10" presetClass="entr" presetSubtype="0" fill="hold" grpId="0" nodeType="withEffect">
                                  <p:stCondLst>
                                    <p:cond delay="480"/>
                                  </p:stCondLst>
                                  <p:childTnLst>
                                    <p:set>
                                      <p:cBhvr>
                                        <p:cTn id="29" dur="1" fill="hold">
                                          <p:stCondLst>
                                            <p:cond delay="0"/>
                                          </p:stCondLst>
                                        </p:cTn>
                                        <p:tgtEl>
                                          <p:spTgt spid="22"/>
                                        </p:tgtEl>
                                        <p:attrNameLst>
                                          <p:attrName>style.visibility</p:attrName>
                                        </p:attrNameLst>
                                      </p:cBhvr>
                                      <p:to>
                                        <p:strVal val="visible"/>
                                      </p:to>
                                    </p:set>
                                    <p:animEffect transition="in" filter="fade">
                                      <p:cBhvr>
                                        <p:cTn id="30" dur="950"/>
                                        <p:tgtEl>
                                          <p:spTgt spid="22"/>
                                        </p:tgtEl>
                                      </p:cBhvr>
                                    </p:animEffect>
                                    <p:anim calcmode="lin" valueType="num">
                                      <p:cBhvr>
                                        <p:cTn id="31" dur="950" decel="100000" fill="hold"/>
                                        <p:tgtEl>
                                          <p:spTgt spid="22"/>
                                        </p:tgtEl>
                                        <p:attrNameLst>
                                          <p:attrName>ppt_x</p:attrName>
                                        </p:attrNameLst>
                                      </p:cBhvr>
                                      <p:tavLst>
                                        <p:tav tm="0">
                                          <p:val>
                                            <p:strVal val="#ppt_x"/>
                                          </p:val>
                                        </p:tav>
                                        <p:tav tm="100000">
                                          <p:val>
                                            <p:strVal val="#ppt_x"/>
                                          </p:val>
                                        </p:tav>
                                      </p:tavLst>
                                    </p:anim>
                                    <p:anim calcmode="lin" valueType="num">
                                      <p:cBhvr>
                                        <p:cTn id="32" dur="950" decel="100000" fill="hold"/>
                                        <p:tgtEl>
                                          <p:spTgt spid="22"/>
                                        </p:tgtEl>
                                        <p:attrNameLst>
                                          <p:attrName>ppt_y</p:attrName>
                                        </p:attrNameLst>
                                      </p:cBhvr>
                                      <p:tavLst>
                                        <p:tav tm="0">
                                          <p:val>
                                            <p:strVal val="#ppt_y+0.022"/>
                                          </p:val>
                                        </p:tav>
                                        <p:tav tm="100000">
                                          <p:val>
                                            <p:strVal val="#ppt_y"/>
                                          </p:val>
                                        </p:tav>
                                      </p:tavLst>
                                    </p:anim>
                                  </p:childTnLst>
                                </p:cTn>
                              </p:par>
                              <p:par>
                                <p:cTn id="33" presetID="22" presetClass="entr" presetSubtype="8" fill="hold" nodeType="withEffect">
                                  <p:stCondLst>
                                    <p:cond delay="480"/>
                                  </p:stCondLst>
                                  <p:childTnLst>
                                    <p:set>
                                      <p:cBhvr>
                                        <p:cTn id="34" dur="1" fill="hold">
                                          <p:stCondLst>
                                            <p:cond delay="0"/>
                                          </p:stCondLst>
                                        </p:cTn>
                                        <p:tgtEl>
                                          <p:spTgt spid="23"/>
                                        </p:tgtEl>
                                        <p:attrNameLst>
                                          <p:attrName>style.visibility</p:attrName>
                                        </p:attrNameLst>
                                      </p:cBhvr>
                                      <p:to>
                                        <p:strVal val="visible"/>
                                      </p:to>
                                    </p:set>
                                    <p:animEffect transition="in" filter="wipe(left)">
                                      <p:cBhvr>
                                        <p:cTn id="35" dur="1250" decel="100000"/>
                                        <p:tgtEl>
                                          <p:spTgt spid="23"/>
                                        </p:tgtEl>
                                      </p:cBhvr>
                                    </p:animEffect>
                                  </p:childTnLst>
                                </p:cTn>
                              </p:par>
                              <p:par>
                                <p:cTn id="36" presetID="22" presetClass="entr" presetSubtype="8" fill="hold" nodeType="withEffect">
                                  <p:stCondLst>
                                    <p:cond delay="590"/>
                                  </p:stCondLst>
                                  <p:childTnLst>
                                    <p:set>
                                      <p:cBhvr>
                                        <p:cTn id="37" dur="1" fill="hold">
                                          <p:stCondLst>
                                            <p:cond delay="0"/>
                                          </p:stCondLst>
                                        </p:cTn>
                                        <p:tgtEl>
                                          <p:spTgt spid="13"/>
                                        </p:tgtEl>
                                        <p:attrNameLst>
                                          <p:attrName>style.visibility</p:attrName>
                                        </p:attrNameLst>
                                      </p:cBhvr>
                                      <p:to>
                                        <p:strVal val="visible"/>
                                      </p:to>
                                    </p:set>
                                    <p:animEffect transition="in" filter="wipe(left)">
                                      <p:cBhvr>
                                        <p:cTn id="38" dur="1250" decel="100000"/>
                                        <p:tgtEl>
                                          <p:spTgt spid="13"/>
                                        </p:tgtEl>
                                      </p:cBhvr>
                                    </p:animEffect>
                                  </p:childTnLst>
                                </p:cTn>
                              </p:par>
                              <p:par>
                                <p:cTn id="39" presetID="10" presetClass="entr" presetSubtype="0" fill="hold" grpId="0" nodeType="withEffect">
                                  <p:stCondLst>
                                    <p:cond delay="5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950"/>
                                        <p:tgtEl>
                                          <p:spTgt spid="14"/>
                                        </p:tgtEl>
                                      </p:cBhvr>
                                    </p:animEffect>
                                    <p:anim calcmode="lin" valueType="num">
                                      <p:cBhvr>
                                        <p:cTn id="42" dur="950" decel="100000" fill="hold"/>
                                        <p:tgtEl>
                                          <p:spTgt spid="14"/>
                                        </p:tgtEl>
                                        <p:attrNameLst>
                                          <p:attrName>ppt_x</p:attrName>
                                        </p:attrNameLst>
                                      </p:cBhvr>
                                      <p:tavLst>
                                        <p:tav tm="0">
                                          <p:val>
                                            <p:strVal val="#ppt_x"/>
                                          </p:val>
                                        </p:tav>
                                        <p:tav tm="100000">
                                          <p:val>
                                            <p:strVal val="#ppt_x"/>
                                          </p:val>
                                        </p:tav>
                                      </p:tavLst>
                                    </p:anim>
                                    <p:anim calcmode="lin" valueType="num">
                                      <p:cBhvr>
                                        <p:cTn id="43" dur="950" decel="100000" fill="hold"/>
                                        <p:tgtEl>
                                          <p:spTgt spid="14"/>
                                        </p:tgtEl>
                                        <p:attrNameLst>
                                          <p:attrName>ppt_y</p:attrName>
                                        </p:attrNameLst>
                                      </p:cBhvr>
                                      <p:tavLst>
                                        <p:tav tm="0">
                                          <p:val>
                                            <p:strVal val="#ppt_y+0.022"/>
                                          </p:val>
                                        </p:tav>
                                        <p:tav tm="100000">
                                          <p:val>
                                            <p:strVal val="#ppt_y"/>
                                          </p:val>
                                        </p:tav>
                                      </p:tavLst>
                                    </p:anim>
                                  </p:childTnLst>
                                </p:cTn>
                              </p:par>
                              <p:par>
                                <p:cTn id="44" presetID="10" presetClass="entr" presetSubtype="0" fill="hold" grpId="0" nodeType="withEffect">
                                  <p:stCondLst>
                                    <p:cond delay="59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950"/>
                                        <p:tgtEl>
                                          <p:spTgt spid="24"/>
                                        </p:tgtEl>
                                      </p:cBhvr>
                                    </p:animEffect>
                                    <p:anim calcmode="lin" valueType="num">
                                      <p:cBhvr>
                                        <p:cTn id="47" dur="950" decel="100000" fill="hold"/>
                                        <p:tgtEl>
                                          <p:spTgt spid="24"/>
                                        </p:tgtEl>
                                        <p:attrNameLst>
                                          <p:attrName>ppt_x</p:attrName>
                                        </p:attrNameLst>
                                      </p:cBhvr>
                                      <p:tavLst>
                                        <p:tav tm="0">
                                          <p:val>
                                            <p:strVal val="#ppt_x"/>
                                          </p:val>
                                        </p:tav>
                                        <p:tav tm="100000">
                                          <p:val>
                                            <p:strVal val="#ppt_x"/>
                                          </p:val>
                                        </p:tav>
                                      </p:tavLst>
                                    </p:anim>
                                    <p:anim calcmode="lin" valueType="num">
                                      <p:cBhvr>
                                        <p:cTn id="48" dur="950" decel="100000" fill="hold"/>
                                        <p:tgtEl>
                                          <p:spTgt spid="24"/>
                                        </p:tgtEl>
                                        <p:attrNameLst>
                                          <p:attrName>ppt_y</p:attrName>
                                        </p:attrNameLst>
                                      </p:cBhvr>
                                      <p:tavLst>
                                        <p:tav tm="0">
                                          <p:val>
                                            <p:strVal val="#ppt_y+0.022"/>
                                          </p:val>
                                        </p:tav>
                                        <p:tav tm="100000">
                                          <p:val>
                                            <p:strVal val="#ppt_y"/>
                                          </p:val>
                                        </p:tav>
                                      </p:tavLst>
                                    </p:anim>
                                  </p:childTnLst>
                                </p:cTn>
                              </p:par>
                              <p:par>
                                <p:cTn id="49" presetID="22" presetClass="entr" presetSubtype="8" fill="hold" nodeType="withEffect">
                                  <p:stCondLst>
                                    <p:cond delay="590"/>
                                  </p:stCondLst>
                                  <p:childTnLst>
                                    <p:set>
                                      <p:cBhvr>
                                        <p:cTn id="50" dur="1" fill="hold">
                                          <p:stCondLst>
                                            <p:cond delay="0"/>
                                          </p:stCondLst>
                                        </p:cTn>
                                        <p:tgtEl>
                                          <p:spTgt spid="25"/>
                                        </p:tgtEl>
                                        <p:attrNameLst>
                                          <p:attrName>style.visibility</p:attrName>
                                        </p:attrNameLst>
                                      </p:cBhvr>
                                      <p:to>
                                        <p:strVal val="visible"/>
                                      </p:to>
                                    </p:set>
                                    <p:animEffect transition="in" filter="wipe(left)">
                                      <p:cBhvr>
                                        <p:cTn id="51" dur="1250" decel="100000"/>
                                        <p:tgtEl>
                                          <p:spTgt spid="25"/>
                                        </p:tgtEl>
                                      </p:cBhvr>
                                    </p:animEffect>
                                  </p:childTnLst>
                                </p:cTn>
                              </p:par>
                              <p:par>
                                <p:cTn id="52" presetID="22" presetClass="entr" presetSubtype="8" fill="hold" nodeType="withEffect">
                                  <p:stCondLst>
                                    <p:cond delay="700"/>
                                  </p:stCondLst>
                                  <p:childTnLst>
                                    <p:set>
                                      <p:cBhvr>
                                        <p:cTn id="53" dur="1" fill="hold">
                                          <p:stCondLst>
                                            <p:cond delay="0"/>
                                          </p:stCondLst>
                                        </p:cTn>
                                        <p:tgtEl>
                                          <p:spTgt spid="15"/>
                                        </p:tgtEl>
                                        <p:attrNameLst>
                                          <p:attrName>style.visibility</p:attrName>
                                        </p:attrNameLst>
                                      </p:cBhvr>
                                      <p:to>
                                        <p:strVal val="visible"/>
                                      </p:to>
                                    </p:set>
                                    <p:animEffect transition="in" filter="wipe(left)">
                                      <p:cBhvr>
                                        <p:cTn id="54" dur="1250" decel="100000"/>
                                        <p:tgtEl>
                                          <p:spTgt spid="15"/>
                                        </p:tgtEl>
                                      </p:cBhvr>
                                    </p:animEffect>
                                  </p:childTnLst>
                                </p:cTn>
                              </p:par>
                              <p:par>
                                <p:cTn id="55" presetID="10" presetClass="entr" presetSubtype="0" fill="hold" grpId="0" nodeType="withEffect">
                                  <p:stCondLst>
                                    <p:cond delay="700"/>
                                  </p:stCondLst>
                                  <p:childTnLst>
                                    <p:set>
                                      <p:cBhvr>
                                        <p:cTn id="56" dur="1" fill="hold">
                                          <p:stCondLst>
                                            <p:cond delay="0"/>
                                          </p:stCondLst>
                                        </p:cTn>
                                        <p:tgtEl>
                                          <p:spTgt spid="16"/>
                                        </p:tgtEl>
                                        <p:attrNameLst>
                                          <p:attrName>style.visibility</p:attrName>
                                        </p:attrNameLst>
                                      </p:cBhvr>
                                      <p:to>
                                        <p:strVal val="visible"/>
                                      </p:to>
                                    </p:set>
                                    <p:animEffect transition="in" filter="fade">
                                      <p:cBhvr>
                                        <p:cTn id="57" dur="950"/>
                                        <p:tgtEl>
                                          <p:spTgt spid="16"/>
                                        </p:tgtEl>
                                      </p:cBhvr>
                                    </p:animEffect>
                                    <p:anim calcmode="lin" valueType="num">
                                      <p:cBhvr>
                                        <p:cTn id="58" dur="950" decel="100000" fill="hold"/>
                                        <p:tgtEl>
                                          <p:spTgt spid="16"/>
                                        </p:tgtEl>
                                        <p:attrNameLst>
                                          <p:attrName>ppt_x</p:attrName>
                                        </p:attrNameLst>
                                      </p:cBhvr>
                                      <p:tavLst>
                                        <p:tav tm="0">
                                          <p:val>
                                            <p:strVal val="#ppt_x"/>
                                          </p:val>
                                        </p:tav>
                                        <p:tav tm="100000">
                                          <p:val>
                                            <p:strVal val="#ppt_x"/>
                                          </p:val>
                                        </p:tav>
                                      </p:tavLst>
                                    </p:anim>
                                    <p:anim calcmode="lin" valueType="num">
                                      <p:cBhvr>
                                        <p:cTn id="59" dur="950" decel="100000" fill="hold"/>
                                        <p:tgtEl>
                                          <p:spTgt spid="16"/>
                                        </p:tgtEl>
                                        <p:attrNameLst>
                                          <p:attrName>ppt_y</p:attrName>
                                        </p:attrNameLst>
                                      </p:cBhvr>
                                      <p:tavLst>
                                        <p:tav tm="0">
                                          <p:val>
                                            <p:strVal val="#ppt_y+0.022"/>
                                          </p:val>
                                        </p:tav>
                                        <p:tav tm="100000">
                                          <p:val>
                                            <p:strVal val="#ppt_y"/>
                                          </p:val>
                                        </p:tav>
                                      </p:tavLst>
                                    </p:anim>
                                  </p:childTnLst>
                                </p:cTn>
                              </p:par>
                              <p:par>
                                <p:cTn id="60" presetID="10" presetClass="entr" presetSubtype="0" fill="hold" grpId="0" nodeType="withEffect">
                                  <p:stCondLst>
                                    <p:cond delay="70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950"/>
                                        <p:tgtEl>
                                          <p:spTgt spid="26"/>
                                        </p:tgtEl>
                                      </p:cBhvr>
                                    </p:animEffect>
                                    <p:anim calcmode="lin" valueType="num">
                                      <p:cBhvr>
                                        <p:cTn id="63" dur="950" decel="100000" fill="hold"/>
                                        <p:tgtEl>
                                          <p:spTgt spid="26"/>
                                        </p:tgtEl>
                                        <p:attrNameLst>
                                          <p:attrName>ppt_x</p:attrName>
                                        </p:attrNameLst>
                                      </p:cBhvr>
                                      <p:tavLst>
                                        <p:tav tm="0">
                                          <p:val>
                                            <p:strVal val="#ppt_x"/>
                                          </p:val>
                                        </p:tav>
                                        <p:tav tm="100000">
                                          <p:val>
                                            <p:strVal val="#ppt_x"/>
                                          </p:val>
                                        </p:tav>
                                      </p:tavLst>
                                    </p:anim>
                                    <p:anim calcmode="lin" valueType="num">
                                      <p:cBhvr>
                                        <p:cTn id="64" dur="950" decel="100000" fill="hold"/>
                                        <p:tgtEl>
                                          <p:spTgt spid="26"/>
                                        </p:tgtEl>
                                        <p:attrNameLst>
                                          <p:attrName>ppt_y</p:attrName>
                                        </p:attrNameLst>
                                      </p:cBhvr>
                                      <p:tavLst>
                                        <p:tav tm="0">
                                          <p:val>
                                            <p:strVal val="#ppt_y+0.022"/>
                                          </p:val>
                                        </p:tav>
                                        <p:tav tm="100000">
                                          <p:val>
                                            <p:strVal val="#ppt_y"/>
                                          </p:val>
                                        </p:tav>
                                      </p:tavLst>
                                    </p:anim>
                                  </p:childTnLst>
                                </p:cTn>
                              </p:par>
                              <p:par>
                                <p:cTn id="65" presetID="22" presetClass="entr" presetSubtype="8" fill="hold" nodeType="withEffect">
                                  <p:stCondLst>
                                    <p:cond delay="700"/>
                                  </p:stCondLst>
                                  <p:childTnLst>
                                    <p:set>
                                      <p:cBhvr>
                                        <p:cTn id="66" dur="1" fill="hold">
                                          <p:stCondLst>
                                            <p:cond delay="0"/>
                                          </p:stCondLst>
                                        </p:cTn>
                                        <p:tgtEl>
                                          <p:spTgt spid="27"/>
                                        </p:tgtEl>
                                        <p:attrNameLst>
                                          <p:attrName>style.visibility</p:attrName>
                                        </p:attrNameLst>
                                      </p:cBhvr>
                                      <p:to>
                                        <p:strVal val="visible"/>
                                      </p:to>
                                    </p:set>
                                    <p:animEffect transition="in" filter="wipe(left)">
                                      <p:cBhvr>
                                        <p:cTn id="67" dur="1250" decel="100000"/>
                                        <p:tgtEl>
                                          <p:spTgt spid="27"/>
                                        </p:tgtEl>
                                      </p:cBhvr>
                                    </p:animEffect>
                                  </p:childTnLst>
                                </p:cTn>
                              </p:par>
                              <p:par>
                                <p:cTn id="68" presetID="22" presetClass="entr" presetSubtype="8" fill="hold" nodeType="withEffect">
                                  <p:stCondLst>
                                    <p:cond delay="810"/>
                                  </p:stCondLst>
                                  <p:childTnLst>
                                    <p:set>
                                      <p:cBhvr>
                                        <p:cTn id="69" dur="1" fill="hold">
                                          <p:stCondLst>
                                            <p:cond delay="0"/>
                                          </p:stCondLst>
                                        </p:cTn>
                                        <p:tgtEl>
                                          <p:spTgt spid="17"/>
                                        </p:tgtEl>
                                        <p:attrNameLst>
                                          <p:attrName>style.visibility</p:attrName>
                                        </p:attrNameLst>
                                      </p:cBhvr>
                                      <p:to>
                                        <p:strVal val="visible"/>
                                      </p:to>
                                    </p:set>
                                    <p:animEffect transition="in" filter="wipe(left)">
                                      <p:cBhvr>
                                        <p:cTn id="70" dur="1250" decel="100000"/>
                                        <p:tgtEl>
                                          <p:spTgt spid="17"/>
                                        </p:tgtEl>
                                      </p:cBhvr>
                                    </p:animEffect>
                                  </p:childTnLst>
                                </p:cTn>
                              </p:par>
                              <p:par>
                                <p:cTn id="71" presetID="10" presetClass="entr" presetSubtype="0" fill="hold" grpId="0" nodeType="withEffect">
                                  <p:stCondLst>
                                    <p:cond delay="810"/>
                                  </p:stCondLst>
                                  <p:childTnLst>
                                    <p:set>
                                      <p:cBhvr>
                                        <p:cTn id="72" dur="1" fill="hold">
                                          <p:stCondLst>
                                            <p:cond delay="0"/>
                                          </p:stCondLst>
                                        </p:cTn>
                                        <p:tgtEl>
                                          <p:spTgt spid="18"/>
                                        </p:tgtEl>
                                        <p:attrNameLst>
                                          <p:attrName>style.visibility</p:attrName>
                                        </p:attrNameLst>
                                      </p:cBhvr>
                                      <p:to>
                                        <p:strVal val="visible"/>
                                      </p:to>
                                    </p:set>
                                    <p:animEffect transition="in" filter="fade">
                                      <p:cBhvr>
                                        <p:cTn id="73" dur="950"/>
                                        <p:tgtEl>
                                          <p:spTgt spid="18"/>
                                        </p:tgtEl>
                                      </p:cBhvr>
                                    </p:animEffect>
                                    <p:anim calcmode="lin" valueType="num">
                                      <p:cBhvr>
                                        <p:cTn id="74" dur="950" decel="100000" fill="hold"/>
                                        <p:tgtEl>
                                          <p:spTgt spid="18"/>
                                        </p:tgtEl>
                                        <p:attrNameLst>
                                          <p:attrName>ppt_x</p:attrName>
                                        </p:attrNameLst>
                                      </p:cBhvr>
                                      <p:tavLst>
                                        <p:tav tm="0">
                                          <p:val>
                                            <p:strVal val="#ppt_x"/>
                                          </p:val>
                                        </p:tav>
                                        <p:tav tm="100000">
                                          <p:val>
                                            <p:strVal val="#ppt_x"/>
                                          </p:val>
                                        </p:tav>
                                      </p:tavLst>
                                    </p:anim>
                                    <p:anim calcmode="lin" valueType="num">
                                      <p:cBhvr>
                                        <p:cTn id="75" dur="950" decel="100000" fill="hold"/>
                                        <p:tgtEl>
                                          <p:spTgt spid="18"/>
                                        </p:tgtEl>
                                        <p:attrNameLst>
                                          <p:attrName>ppt_y</p:attrName>
                                        </p:attrNameLst>
                                      </p:cBhvr>
                                      <p:tavLst>
                                        <p:tav tm="0">
                                          <p:val>
                                            <p:strVal val="#ppt_y+0.022"/>
                                          </p:val>
                                        </p:tav>
                                        <p:tav tm="100000">
                                          <p:val>
                                            <p:strVal val="#ppt_y"/>
                                          </p:val>
                                        </p:tav>
                                      </p:tavLst>
                                    </p:anim>
                                  </p:childTnLst>
                                </p:cTn>
                              </p:par>
                              <p:par>
                                <p:cTn id="76" presetID="10" presetClass="entr" presetSubtype="0" fill="hold" grpId="0" nodeType="withEffect">
                                  <p:stCondLst>
                                    <p:cond delay="810"/>
                                  </p:stCondLst>
                                  <p:childTnLst>
                                    <p:set>
                                      <p:cBhvr>
                                        <p:cTn id="77" dur="1" fill="hold">
                                          <p:stCondLst>
                                            <p:cond delay="0"/>
                                          </p:stCondLst>
                                        </p:cTn>
                                        <p:tgtEl>
                                          <p:spTgt spid="28"/>
                                        </p:tgtEl>
                                        <p:attrNameLst>
                                          <p:attrName>style.visibility</p:attrName>
                                        </p:attrNameLst>
                                      </p:cBhvr>
                                      <p:to>
                                        <p:strVal val="visible"/>
                                      </p:to>
                                    </p:set>
                                    <p:animEffect transition="in" filter="fade">
                                      <p:cBhvr>
                                        <p:cTn id="78" dur="950"/>
                                        <p:tgtEl>
                                          <p:spTgt spid="28"/>
                                        </p:tgtEl>
                                      </p:cBhvr>
                                    </p:animEffect>
                                    <p:anim calcmode="lin" valueType="num">
                                      <p:cBhvr>
                                        <p:cTn id="79" dur="950" decel="100000" fill="hold"/>
                                        <p:tgtEl>
                                          <p:spTgt spid="28"/>
                                        </p:tgtEl>
                                        <p:attrNameLst>
                                          <p:attrName>ppt_x</p:attrName>
                                        </p:attrNameLst>
                                      </p:cBhvr>
                                      <p:tavLst>
                                        <p:tav tm="0">
                                          <p:val>
                                            <p:strVal val="#ppt_x"/>
                                          </p:val>
                                        </p:tav>
                                        <p:tav tm="100000">
                                          <p:val>
                                            <p:strVal val="#ppt_x"/>
                                          </p:val>
                                        </p:tav>
                                      </p:tavLst>
                                    </p:anim>
                                    <p:anim calcmode="lin" valueType="num">
                                      <p:cBhvr>
                                        <p:cTn id="80" dur="950" decel="100000" fill="hold"/>
                                        <p:tgtEl>
                                          <p:spTgt spid="28"/>
                                        </p:tgtEl>
                                        <p:attrNameLst>
                                          <p:attrName>ppt_y</p:attrName>
                                        </p:attrNameLst>
                                      </p:cBhvr>
                                      <p:tavLst>
                                        <p:tav tm="0">
                                          <p:val>
                                            <p:strVal val="#ppt_y+0.022"/>
                                          </p:val>
                                        </p:tav>
                                        <p:tav tm="100000">
                                          <p:val>
                                            <p:strVal val="#ppt_y"/>
                                          </p:val>
                                        </p:tav>
                                      </p:tavLst>
                                    </p:anim>
                                  </p:childTnLst>
                                </p:cTn>
                              </p:par>
                              <p:par>
                                <p:cTn id="81" presetID="22" presetClass="entr" presetSubtype="8" fill="hold" nodeType="withEffect">
                                  <p:stCondLst>
                                    <p:cond delay="810"/>
                                  </p:stCondLst>
                                  <p:childTnLst>
                                    <p:set>
                                      <p:cBhvr>
                                        <p:cTn id="82" dur="1" fill="hold">
                                          <p:stCondLst>
                                            <p:cond delay="0"/>
                                          </p:stCondLst>
                                        </p:cTn>
                                        <p:tgtEl>
                                          <p:spTgt spid="29"/>
                                        </p:tgtEl>
                                        <p:attrNameLst>
                                          <p:attrName>style.visibility</p:attrName>
                                        </p:attrNameLst>
                                      </p:cBhvr>
                                      <p:to>
                                        <p:strVal val="visible"/>
                                      </p:to>
                                    </p:set>
                                    <p:animEffect transition="in" filter="wipe(left)">
                                      <p:cBhvr>
                                        <p:cTn id="83" dur="1250" decel="100000"/>
                                        <p:tgtEl>
                                          <p:spTgt spid="29"/>
                                        </p:tgtEl>
                                      </p:cBhvr>
                                    </p:animEffect>
                                  </p:childTnLst>
                                </p:cTn>
                              </p:par>
                              <p:par>
                                <p:cTn id="84" presetID="22" presetClass="entr" presetSubtype="8" fill="hold" nodeType="withEffect">
                                  <p:stCondLst>
                                    <p:cond delay="920"/>
                                  </p:stCondLst>
                                  <p:childTnLst>
                                    <p:set>
                                      <p:cBhvr>
                                        <p:cTn id="85" dur="1" fill="hold">
                                          <p:stCondLst>
                                            <p:cond delay="0"/>
                                          </p:stCondLst>
                                        </p:cTn>
                                        <p:tgtEl>
                                          <p:spTgt spid="19"/>
                                        </p:tgtEl>
                                        <p:attrNameLst>
                                          <p:attrName>style.visibility</p:attrName>
                                        </p:attrNameLst>
                                      </p:cBhvr>
                                      <p:to>
                                        <p:strVal val="visible"/>
                                      </p:to>
                                    </p:set>
                                    <p:animEffect transition="in" filter="wipe(left)">
                                      <p:cBhvr>
                                        <p:cTn id="86" dur="1250" decel="100000"/>
                                        <p:tgtEl>
                                          <p:spTgt spid="19"/>
                                        </p:tgtEl>
                                      </p:cBhvr>
                                    </p:animEffect>
                                  </p:childTnLst>
                                </p:cTn>
                              </p:par>
                              <p:par>
                                <p:cTn id="87" presetID="10" presetClass="entr" presetSubtype="0" fill="hold" grpId="0" nodeType="withEffect">
                                  <p:stCondLst>
                                    <p:cond delay="920"/>
                                  </p:stCondLst>
                                  <p:childTnLst>
                                    <p:set>
                                      <p:cBhvr>
                                        <p:cTn id="88" dur="1" fill="hold">
                                          <p:stCondLst>
                                            <p:cond delay="0"/>
                                          </p:stCondLst>
                                        </p:cTn>
                                        <p:tgtEl>
                                          <p:spTgt spid="20"/>
                                        </p:tgtEl>
                                        <p:attrNameLst>
                                          <p:attrName>style.visibility</p:attrName>
                                        </p:attrNameLst>
                                      </p:cBhvr>
                                      <p:to>
                                        <p:strVal val="visible"/>
                                      </p:to>
                                    </p:set>
                                    <p:animEffect transition="in" filter="fade">
                                      <p:cBhvr>
                                        <p:cTn id="89" dur="950"/>
                                        <p:tgtEl>
                                          <p:spTgt spid="20"/>
                                        </p:tgtEl>
                                      </p:cBhvr>
                                    </p:animEffect>
                                    <p:anim calcmode="lin" valueType="num">
                                      <p:cBhvr>
                                        <p:cTn id="90" dur="950" decel="100000" fill="hold"/>
                                        <p:tgtEl>
                                          <p:spTgt spid="20"/>
                                        </p:tgtEl>
                                        <p:attrNameLst>
                                          <p:attrName>ppt_x</p:attrName>
                                        </p:attrNameLst>
                                      </p:cBhvr>
                                      <p:tavLst>
                                        <p:tav tm="0">
                                          <p:val>
                                            <p:strVal val="#ppt_x"/>
                                          </p:val>
                                        </p:tav>
                                        <p:tav tm="100000">
                                          <p:val>
                                            <p:strVal val="#ppt_x"/>
                                          </p:val>
                                        </p:tav>
                                      </p:tavLst>
                                    </p:anim>
                                    <p:anim calcmode="lin" valueType="num">
                                      <p:cBhvr>
                                        <p:cTn id="91" dur="950" decel="100000" fill="hold"/>
                                        <p:tgtEl>
                                          <p:spTgt spid="20"/>
                                        </p:tgtEl>
                                        <p:attrNameLst>
                                          <p:attrName>ppt_y</p:attrName>
                                        </p:attrNameLst>
                                      </p:cBhvr>
                                      <p:tavLst>
                                        <p:tav tm="0">
                                          <p:val>
                                            <p:strVal val="#ppt_y+0.022"/>
                                          </p:val>
                                        </p:tav>
                                        <p:tav tm="100000">
                                          <p:val>
                                            <p:strVal val="#ppt_y"/>
                                          </p:val>
                                        </p:tav>
                                      </p:tavLst>
                                    </p:anim>
                                  </p:childTnLst>
                                </p:cTn>
                              </p:par>
                              <p:par>
                                <p:cTn id="92" presetID="10" presetClass="entr" presetSubtype="0" fill="hold" grpId="0" nodeType="withEffect">
                                  <p:stCondLst>
                                    <p:cond delay="920"/>
                                  </p:stCondLst>
                                  <p:childTnLst>
                                    <p:set>
                                      <p:cBhvr>
                                        <p:cTn id="93" dur="1" fill="hold">
                                          <p:stCondLst>
                                            <p:cond delay="0"/>
                                          </p:stCondLst>
                                        </p:cTn>
                                        <p:tgtEl>
                                          <p:spTgt spid="30"/>
                                        </p:tgtEl>
                                        <p:attrNameLst>
                                          <p:attrName>style.visibility</p:attrName>
                                        </p:attrNameLst>
                                      </p:cBhvr>
                                      <p:to>
                                        <p:strVal val="visible"/>
                                      </p:to>
                                    </p:set>
                                    <p:animEffect transition="in" filter="fade">
                                      <p:cBhvr>
                                        <p:cTn id="94" dur="950"/>
                                        <p:tgtEl>
                                          <p:spTgt spid="30"/>
                                        </p:tgtEl>
                                      </p:cBhvr>
                                    </p:animEffect>
                                    <p:anim calcmode="lin" valueType="num">
                                      <p:cBhvr>
                                        <p:cTn id="95" dur="950" decel="100000" fill="hold"/>
                                        <p:tgtEl>
                                          <p:spTgt spid="30"/>
                                        </p:tgtEl>
                                        <p:attrNameLst>
                                          <p:attrName>ppt_x</p:attrName>
                                        </p:attrNameLst>
                                      </p:cBhvr>
                                      <p:tavLst>
                                        <p:tav tm="0">
                                          <p:val>
                                            <p:strVal val="#ppt_x"/>
                                          </p:val>
                                        </p:tav>
                                        <p:tav tm="100000">
                                          <p:val>
                                            <p:strVal val="#ppt_x"/>
                                          </p:val>
                                        </p:tav>
                                      </p:tavLst>
                                    </p:anim>
                                    <p:anim calcmode="lin" valueType="num">
                                      <p:cBhvr>
                                        <p:cTn id="96" dur="950" decel="100000" fill="hold"/>
                                        <p:tgtEl>
                                          <p:spTgt spid="30"/>
                                        </p:tgtEl>
                                        <p:attrNameLst>
                                          <p:attrName>ppt_y</p:attrName>
                                        </p:attrNameLst>
                                      </p:cBhvr>
                                      <p:tavLst>
                                        <p:tav tm="0">
                                          <p:val>
                                            <p:strVal val="#ppt_y+0.022"/>
                                          </p:val>
                                        </p:tav>
                                        <p:tav tm="100000">
                                          <p:val>
                                            <p:strVal val="#ppt_y"/>
                                          </p:val>
                                        </p:tav>
                                      </p:tavLst>
                                    </p:anim>
                                  </p:childTnLst>
                                </p:cTn>
                              </p:par>
                              <p:par>
                                <p:cTn id="97" presetID="22" presetClass="entr" presetSubtype="8" fill="hold" nodeType="withEffect">
                                  <p:stCondLst>
                                    <p:cond delay="920"/>
                                  </p:stCondLst>
                                  <p:childTnLst>
                                    <p:set>
                                      <p:cBhvr>
                                        <p:cTn id="98" dur="1" fill="hold">
                                          <p:stCondLst>
                                            <p:cond delay="0"/>
                                          </p:stCondLst>
                                        </p:cTn>
                                        <p:tgtEl>
                                          <p:spTgt spid="31"/>
                                        </p:tgtEl>
                                        <p:attrNameLst>
                                          <p:attrName>style.visibility</p:attrName>
                                        </p:attrNameLst>
                                      </p:cBhvr>
                                      <p:to>
                                        <p:strVal val="visible"/>
                                      </p:to>
                                    </p:set>
                                    <p:animEffect transition="in" filter="wipe(left)">
                                      <p:cBhvr>
                                        <p:cTn id="99" dur="1250" decel="100000"/>
                                        <p:tgtEl>
                                          <p:spTgt spid="31"/>
                                        </p:tgtEl>
                                      </p:cBhvr>
                                    </p:animEffect>
                                  </p:childTnLst>
                                </p:cTn>
                              </p:par>
                              <p:par>
                                <p:cTn id="100" presetID="22" presetClass="entr" presetSubtype="8" fill="hold" nodeType="withEffect">
                                  <p:stCondLst>
                                    <p:cond delay="1030"/>
                                  </p:stCondLst>
                                  <p:childTnLst>
                                    <p:set>
                                      <p:cBhvr>
                                        <p:cTn id="101" dur="1" fill="hold">
                                          <p:stCondLst>
                                            <p:cond delay="0"/>
                                          </p:stCondLst>
                                        </p:cTn>
                                        <p:tgtEl>
                                          <p:spTgt spid="21"/>
                                        </p:tgtEl>
                                        <p:attrNameLst>
                                          <p:attrName>style.visibility</p:attrName>
                                        </p:attrNameLst>
                                      </p:cBhvr>
                                      <p:to>
                                        <p:strVal val="visible"/>
                                      </p:to>
                                    </p:set>
                                    <p:animEffect transition="in" filter="wipe(left)">
                                      <p:cBhvr>
                                        <p:cTn id="102" dur="1250" decel="100000"/>
                                        <p:tgtEl>
                                          <p:spTgt spid="21"/>
                                        </p:tgtEl>
                                      </p:cBhvr>
                                    </p:animEffect>
                                  </p:childTnLst>
                                </p:cTn>
                              </p:par>
                              <p:par>
                                <p:cTn id="103" presetID="22" presetClass="entr" presetSubtype="8" fill="hold" nodeType="withEffect">
                                  <p:stCondLst>
                                    <p:cond delay="1030"/>
                                  </p:stCondLst>
                                  <p:childTnLst>
                                    <p:set>
                                      <p:cBhvr>
                                        <p:cTn id="104" dur="1" fill="hold">
                                          <p:stCondLst>
                                            <p:cond delay="0"/>
                                          </p:stCondLst>
                                        </p:cTn>
                                        <p:tgtEl>
                                          <p:spTgt spid="34"/>
                                        </p:tgtEl>
                                        <p:attrNameLst>
                                          <p:attrName>style.visibility</p:attrName>
                                        </p:attrNameLst>
                                      </p:cBhvr>
                                      <p:to>
                                        <p:strVal val="visible"/>
                                      </p:to>
                                    </p:set>
                                    <p:animEffect transition="in" filter="wipe(left)">
                                      <p:cBhvr>
                                        <p:cTn id="105" dur="1250" decel="100000"/>
                                        <p:tgtEl>
                                          <p:spTgt spid="34"/>
                                        </p:tgtEl>
                                      </p:cBhvr>
                                    </p:animEffect>
                                  </p:childTnLst>
                                </p:cTn>
                              </p:par>
                              <p:par>
                                <p:cTn id="106" presetID="10" presetClass="entr" presetSubtype="0" fill="hold" grpId="0" nodeType="withEffect">
                                  <p:stCondLst>
                                    <p:cond delay="1140"/>
                                  </p:stCondLst>
                                  <p:childTnLst>
                                    <p:set>
                                      <p:cBhvr>
                                        <p:cTn id="107" dur="1" fill="hold">
                                          <p:stCondLst>
                                            <p:cond delay="0"/>
                                          </p:stCondLst>
                                        </p:cTn>
                                        <p:tgtEl>
                                          <p:spTgt spid="32"/>
                                        </p:tgtEl>
                                        <p:attrNameLst>
                                          <p:attrName>style.visibility</p:attrName>
                                        </p:attrNameLst>
                                      </p:cBhvr>
                                      <p:to>
                                        <p:strVal val="visible"/>
                                      </p:to>
                                    </p:set>
                                    <p:animEffect transition="in" filter="fade">
                                      <p:cBhvr>
                                        <p:cTn id="108" dur="950"/>
                                        <p:tgtEl>
                                          <p:spTgt spid="32"/>
                                        </p:tgtEl>
                                      </p:cBhvr>
                                    </p:animEffect>
                                    <p:anim calcmode="lin" valueType="num">
                                      <p:cBhvr>
                                        <p:cTn id="109" dur="950" decel="100000" fill="hold"/>
                                        <p:tgtEl>
                                          <p:spTgt spid="32"/>
                                        </p:tgtEl>
                                        <p:attrNameLst>
                                          <p:attrName>ppt_x</p:attrName>
                                        </p:attrNameLst>
                                      </p:cBhvr>
                                      <p:tavLst>
                                        <p:tav tm="0">
                                          <p:val>
                                            <p:strVal val="#ppt_x"/>
                                          </p:val>
                                        </p:tav>
                                        <p:tav tm="100000">
                                          <p:val>
                                            <p:strVal val="#ppt_x"/>
                                          </p:val>
                                        </p:tav>
                                      </p:tavLst>
                                    </p:anim>
                                    <p:anim calcmode="lin" valueType="num">
                                      <p:cBhvr>
                                        <p:cTn id="110" dur="950" decel="100000" fill="hold"/>
                                        <p:tgtEl>
                                          <p:spTgt spid="32"/>
                                        </p:tgtEl>
                                        <p:attrNameLst>
                                          <p:attrName>ppt_y</p:attrName>
                                        </p:attrNameLst>
                                      </p:cBhvr>
                                      <p:tavLst>
                                        <p:tav tm="0">
                                          <p:val>
                                            <p:strVal val="#ppt_y+0.022"/>
                                          </p:val>
                                        </p:tav>
                                        <p:tav tm="100000">
                                          <p:val>
                                            <p:strVal val="#ppt_y"/>
                                          </p:val>
                                        </p:tav>
                                      </p:tavLst>
                                    </p:anim>
                                  </p:childTnLst>
                                </p:cTn>
                              </p:par>
                              <p:par>
                                <p:cTn id="111" presetID="10" presetClass="entr" presetSubtype="0" fill="hold" grpId="0" nodeType="withEffect">
                                  <p:stCondLst>
                                    <p:cond delay="1140"/>
                                  </p:stCondLst>
                                  <p:childTnLst>
                                    <p:set>
                                      <p:cBhvr>
                                        <p:cTn id="112" dur="1" fill="hold">
                                          <p:stCondLst>
                                            <p:cond delay="0"/>
                                          </p:stCondLst>
                                        </p:cTn>
                                        <p:tgtEl>
                                          <p:spTgt spid="33"/>
                                        </p:tgtEl>
                                        <p:attrNameLst>
                                          <p:attrName>style.visibility</p:attrName>
                                        </p:attrNameLst>
                                      </p:cBhvr>
                                      <p:to>
                                        <p:strVal val="visible"/>
                                      </p:to>
                                    </p:set>
                                    <p:animEffect transition="in" filter="fade">
                                      <p:cBhvr>
                                        <p:cTn id="113" dur="950"/>
                                        <p:tgtEl>
                                          <p:spTgt spid="33"/>
                                        </p:tgtEl>
                                      </p:cBhvr>
                                    </p:animEffect>
                                    <p:anim calcmode="lin" valueType="num">
                                      <p:cBhvr>
                                        <p:cTn id="114" dur="950" decel="100000" fill="hold"/>
                                        <p:tgtEl>
                                          <p:spTgt spid="33"/>
                                        </p:tgtEl>
                                        <p:attrNameLst>
                                          <p:attrName>ppt_x</p:attrName>
                                        </p:attrNameLst>
                                      </p:cBhvr>
                                      <p:tavLst>
                                        <p:tav tm="0">
                                          <p:val>
                                            <p:strVal val="#ppt_x"/>
                                          </p:val>
                                        </p:tav>
                                        <p:tav tm="100000">
                                          <p:val>
                                            <p:strVal val="#ppt_x"/>
                                          </p:val>
                                        </p:tav>
                                      </p:tavLst>
                                    </p:anim>
                                    <p:anim calcmode="lin" valueType="num">
                                      <p:cBhvr>
                                        <p:cTn id="115" dur="950" decel="100000" fill="hold"/>
                                        <p:tgtEl>
                                          <p:spTgt spid="33"/>
                                        </p:tgtEl>
                                        <p:attrNameLst>
                                          <p:attrName>ppt_y</p:attrName>
                                        </p:attrNameLst>
                                      </p:cBhvr>
                                      <p:tavLst>
                                        <p:tav tm="0">
                                          <p:val>
                                            <p:strVal val="#ppt_y+0.02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0" grpId="0" animBg="1"/>
      <p:bldP spid="12" grpId="0" animBg="1"/>
      <p:bldP spid="14" grpId="0" animBg="1"/>
      <p:bldP spid="16" grpId="0" animBg="1"/>
      <p:bldP spid="18" grpId="0" animBg="1"/>
      <p:bldP spid="20" grpId="0" animBg="1"/>
      <p:bldP spid="22" grpId="0" animBg="1"/>
      <p:bldP spid="24" grpId="0" animBg="1"/>
      <p:bldP spid="26" grpId="0" animBg="1"/>
      <p:bldP spid="28" grpId="0" animBg="1"/>
      <p:bldP spid="30" grpId="0" animBg="1"/>
      <p:bldP spid="32" grpId="0" animBg="1"/>
      <p:bldP spid="3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2EB"/>
        </a:solidFill>
        <a:effectLst/>
      </p:bgPr>
    </p:bg>
    <p:spTree>
      <p:nvGrpSpPr>
        <p:cNvPr id="1" name=""/>
        <p:cNvGrpSpPr/>
        <p:nvPr/>
      </p:nvGrpSpPr>
      <p:grpSpPr>
        <a:xfrm>
          <a:off x="0" y="0"/>
          <a:ext cx="0" cy="0"/>
          <a:chOff x="0" y="0"/>
          <a:chExt cx="0" cy="0"/>
        </a:xfrm>
      </p:grpSpPr>
      <p:pic>
        <p:nvPicPr>
          <p:cNvPr id="2" name="!!Photo" descr="E:/Matter Of Place/Matter Of Place Codebase/src/assets/gallery/coast-terrace.jpg"/>
          <p:cNvPicPr>
            <a:picLocks noChangeAspect="1"/>
          </p:cNvPicPr>
          <p:nvPr/>
        </p:nvPicPr>
        <p:blipFill>
          <a:blip r:embed="rId3"/>
          <a:srcRect l="27460" r="27460"/>
          <a:stretch/>
        </p:blipFill>
        <p:spPr>
          <a:xfrm>
            <a:off x="7711135" y="0"/>
            <a:ext cx="4480560" cy="6858000"/>
          </a:xfrm>
          <a:prstGeom prst="rect">
            <a:avLst/>
          </a:prstGeom>
        </p:spPr>
      </p:pic>
      <p:sp>
        <p:nvSpPr>
          <p:cNvPr id="3" name="!!Agenda">
            <a:hlinkClick r:id="" action="ppaction://noaction"/>
          </p:cNvPr>
          <p:cNvSpPr/>
          <p:nvPr/>
        </p:nvSpPr>
        <p:spPr>
          <a:xfrm>
            <a:off x="5882335" y="381000"/>
            <a:ext cx="1097280" cy="228600"/>
          </a:xfrm>
          <a:prstGeom prst="rect">
            <a:avLst/>
          </a:prstGeom>
          <a:noFill/>
          <a:ln/>
        </p:spPr>
        <p:txBody>
          <a:bodyPr wrap="square" lIns="0" tIns="0" rIns="0" bIns="0" rtlCol="0" anchor="ctr"/>
          <a:lstStyle/>
          <a:p>
            <a:pPr marL="0" indent="0" algn="r">
              <a:buNone/>
            </a:pPr>
            <a:r>
              <a:rPr lang="en-US" sz="1000" u="sng" kern="0" spc="250" dirty="0">
                <a:solidFill>
                  <a:srgbClr val="11110F"/>
                </a:solidFill>
                <a:latin typeface="Jost" pitchFamily="34" charset="0"/>
                <a:ea typeface="Jost" pitchFamily="34" charset="-122"/>
                <a:cs typeface="Jost" pitchFamily="34" charset="-120"/>
                <a:hlinkClick r:id="" action="ppaction://noaction">
                  <a:extLst>
                    <a:ext uri="{A12FA001-AC4F-418D-AE19-62706E023703}">
                      <ahyp:hlinkClr xmlns:ahyp="http://schemas.microsoft.com/office/drawing/2018/hyperlinkcolor" val="tx"/>
                    </a:ext>
                  </a:extLst>
                </a:hlinkClick>
              </a:rPr>
              <a:t>Agenda</a:t>
            </a:r>
            <a:endParaRPr lang="en-US" sz="1000" dirty="0"/>
          </a:p>
        </p:txBody>
      </p:sp>
      <p:sp>
        <p:nvSpPr>
          <p:cNvPr id="4" name="!!Footer"/>
          <p:cNvSpPr/>
          <p:nvPr/>
        </p:nvSpPr>
        <p:spPr>
          <a:xfrm>
            <a:off x="731520" y="6172200"/>
            <a:ext cx="4572000" cy="228600"/>
          </a:xfrm>
          <a:prstGeom prst="rect">
            <a:avLst/>
          </a:prstGeom>
          <a:noFill/>
          <a:ln/>
        </p:spPr>
        <p:txBody>
          <a:bodyPr wrap="square" lIns="0" tIns="0" rIns="0" bIns="0" rtlCol="0" anchor="ctr"/>
          <a:lstStyle/>
          <a:p>
            <a:pPr marL="0" indent="0">
              <a:buNone/>
            </a:pPr>
            <a:r>
              <a:rPr lang="en-US" sz="900" kern="0" spc="250" dirty="0">
                <a:solidFill>
                  <a:srgbClr val="5E5A54"/>
                </a:solidFill>
                <a:latin typeface="Jost" pitchFamily="34" charset="0"/>
                <a:ea typeface="Jost" pitchFamily="34" charset="-122"/>
                <a:cs typeface="Jost" pitchFamily="34" charset="-120"/>
              </a:rPr>
              <a:t>MATTER OF PLACE  ·  FOR PARTNERS</a:t>
            </a:r>
            <a:endParaRPr lang="en-US" sz="900" dirty="0"/>
          </a:p>
        </p:txBody>
      </p:sp>
      <p:sp>
        <p:nvSpPr>
          <p:cNvPr id="5" name="!!Page"/>
          <p:cNvSpPr/>
          <p:nvPr/>
        </p:nvSpPr>
        <p:spPr>
          <a:xfrm>
            <a:off x="5882335" y="6172200"/>
            <a:ext cx="1097280" cy="228600"/>
          </a:xfrm>
          <a:prstGeom prst="rect">
            <a:avLst/>
          </a:prstGeom>
          <a:noFill/>
          <a:ln/>
        </p:spPr>
        <p:txBody>
          <a:bodyPr wrap="square" lIns="0" tIns="0" rIns="0" bIns="0" rtlCol="0" anchor="ctr"/>
          <a:lstStyle/>
          <a:p>
            <a:pPr marL="0" indent="0" algn="r">
              <a:buNone/>
            </a:pPr>
            <a:r>
              <a:rPr lang="en-US" sz="900" kern="0" spc="250" dirty="0">
                <a:solidFill>
                  <a:srgbClr val="5E5A54"/>
                </a:solidFill>
                <a:latin typeface="Jost" pitchFamily="34" charset="0"/>
                <a:ea typeface="Jost" pitchFamily="34" charset="-122"/>
                <a:cs typeface="Jost" pitchFamily="34" charset="-120"/>
              </a:rPr>
              <a:t>08 / 14</a:t>
            </a:r>
            <a:endParaRPr lang="en-US" sz="900" dirty="0"/>
          </a:p>
        </p:txBody>
      </p:sp>
      <p:sp>
        <p:nvSpPr>
          <p:cNvPr id="6" name="!!Eyebrow"/>
          <p:cNvSpPr/>
          <p:nvPr/>
        </p:nvSpPr>
        <p:spPr>
          <a:xfrm>
            <a:off x="731520" y="868680"/>
            <a:ext cx="5486400" cy="274320"/>
          </a:xfrm>
          <a:prstGeom prst="rect">
            <a:avLst/>
          </a:prstGeom>
          <a:noFill/>
          <a:ln/>
        </p:spPr>
        <p:txBody>
          <a:bodyPr wrap="square" lIns="0" tIns="0" rIns="0" bIns="0" rtlCol="0" anchor="ctr"/>
          <a:lstStyle/>
          <a:p>
            <a:pPr marL="0" indent="0">
              <a:buNone/>
            </a:pPr>
            <a:r>
              <a:rPr lang="en-US" sz="1050" kern="0" spc="300" dirty="0">
                <a:solidFill>
                  <a:srgbClr val="575751"/>
                </a:solidFill>
                <a:latin typeface="Jost" pitchFamily="34" charset="0"/>
                <a:ea typeface="Jost" pitchFamily="34" charset="-122"/>
                <a:cs typeface="Jost" pitchFamily="34" charset="-120"/>
              </a:rPr>
              <a:t>PROPERTY EXPOSURE</a:t>
            </a:r>
            <a:endParaRPr lang="en-US" sz="1050" dirty="0"/>
          </a:p>
        </p:txBody>
      </p:sp>
      <p:sp>
        <p:nvSpPr>
          <p:cNvPr id="7" name="!!Title"/>
          <p:cNvSpPr/>
          <p:nvPr/>
        </p:nvSpPr>
        <p:spPr>
          <a:xfrm>
            <a:off x="736600" y="1193800"/>
            <a:ext cx="4318000" cy="711200"/>
          </a:xfrm>
          <a:prstGeom prst="rect">
            <a:avLst/>
          </a:prstGeom>
          <a:noFill/>
          <a:ln/>
        </p:spPr>
        <p:txBody>
          <a:bodyPr wrap="square" lIns="0" tIns="0" rIns="0" bIns="0" rtlCol="0" anchor="t"/>
          <a:lstStyle/>
          <a:p>
            <a:pPr marL="0" indent="0">
              <a:buNone/>
            </a:pPr>
            <a:r>
              <a:rPr lang="en-US" sz="3800" dirty="0">
                <a:solidFill>
                  <a:srgbClr val="11110F"/>
                </a:solidFill>
                <a:latin typeface="Cormorant Garamond" pitchFamily="34" charset="0"/>
                <a:ea typeface="Cormorant Garamond" pitchFamily="34" charset="-122"/>
                <a:cs typeface="Cormorant Garamond" pitchFamily="34" charset="-120"/>
              </a:rPr>
              <a:t>The Campaign</a:t>
            </a:r>
            <a:endParaRPr lang="en-US" sz="3800" dirty="0"/>
          </a:p>
        </p:txBody>
      </p:sp>
      <p:sp>
        <p:nvSpPr>
          <p:cNvPr id="8" name="s8-8"/>
          <p:cNvSpPr/>
          <p:nvPr/>
        </p:nvSpPr>
        <p:spPr>
          <a:xfrm>
            <a:off x="5080000" y="1193800"/>
            <a:ext cx="1905000" cy="711200"/>
          </a:xfrm>
          <a:prstGeom prst="rect">
            <a:avLst/>
          </a:prstGeom>
          <a:noFill/>
          <a:ln/>
        </p:spPr>
        <p:txBody>
          <a:bodyPr wrap="square" lIns="0" tIns="0" rIns="0" bIns="0" rtlCol="0" anchor="t"/>
          <a:lstStyle/>
          <a:p>
            <a:pPr marL="0" indent="0" algn="r">
              <a:buNone/>
            </a:pPr>
            <a:r>
              <a:rPr lang="en-US" sz="3200" dirty="0">
                <a:solidFill>
                  <a:srgbClr val="11110F"/>
                </a:solidFill>
                <a:latin typeface="Cormorant Garamond" pitchFamily="34" charset="0"/>
                <a:ea typeface="Cormorant Garamond" pitchFamily="34" charset="-122"/>
                <a:cs typeface="Cormorant Garamond" pitchFamily="34" charset="-120"/>
              </a:rPr>
              <a:t>$1,495</a:t>
            </a:r>
            <a:endParaRPr lang="en-US" sz="3200" dirty="0"/>
          </a:p>
        </p:txBody>
      </p:sp>
      <p:sp>
        <p:nvSpPr>
          <p:cNvPr id="9" name="s8-9"/>
          <p:cNvSpPr/>
          <p:nvPr/>
        </p:nvSpPr>
        <p:spPr>
          <a:xfrm>
            <a:off x="736600" y="1930400"/>
            <a:ext cx="6248400" cy="381000"/>
          </a:xfrm>
          <a:prstGeom prst="rect">
            <a:avLst/>
          </a:prstGeom>
          <a:noFill/>
          <a:ln/>
        </p:spPr>
        <p:txBody>
          <a:bodyPr wrap="square" lIns="0" tIns="0" rIns="0" bIns="0" rtlCol="0" anchor="t"/>
          <a:lstStyle/>
          <a:p>
            <a:pPr marL="0" indent="0">
              <a:buNone/>
            </a:pPr>
            <a:r>
              <a:rPr lang="en-US" sz="1500" i="1" dirty="0">
                <a:solidFill>
                  <a:srgbClr val="575751"/>
                </a:solidFill>
                <a:latin typeface="Cormorant Garamond" pitchFamily="34" charset="0"/>
                <a:ea typeface="Cormorant Garamond" pitchFamily="34" charset="-122"/>
                <a:cs typeface="Cormorant Garamond" pitchFamily="34" charset="-120"/>
              </a:rPr>
              <a:t>A deeper, multi-channel property campaign.</a:t>
            </a:r>
            <a:endParaRPr lang="en-US" sz="1500" dirty="0"/>
          </a:p>
        </p:txBody>
      </p:sp>
      <p:sp>
        <p:nvSpPr>
          <p:cNvPr id="10" name="s8-10"/>
          <p:cNvSpPr/>
          <p:nvPr/>
        </p:nvSpPr>
        <p:spPr>
          <a:xfrm>
            <a:off x="736600" y="2336800"/>
            <a:ext cx="6248400" cy="304800"/>
          </a:xfrm>
          <a:prstGeom prst="rect">
            <a:avLst/>
          </a:prstGeom>
          <a:noFill/>
          <a:ln/>
        </p:spPr>
        <p:txBody>
          <a:bodyPr wrap="square" lIns="0" tIns="0" rIns="0" bIns="0" rtlCol="0" anchor="ctr"/>
          <a:lstStyle/>
          <a:p>
            <a:pPr marL="0" indent="0">
              <a:buNone/>
            </a:pPr>
            <a:r>
              <a:rPr lang="en-US" sz="1300" kern="0" spc="50" dirty="0">
                <a:solidFill>
                  <a:srgbClr val="575751"/>
                </a:solidFill>
                <a:latin typeface="Jost" pitchFamily="34" charset="0"/>
                <a:ea typeface="Jost" pitchFamily="34" charset="-122"/>
                <a:cs typeface="Jost" pitchFamily="34" charset="-120"/>
              </a:rPr>
              <a:t>Recommended media investment: $500 to $2,500+</a:t>
            </a:r>
            <a:endParaRPr lang="en-US" sz="1300" dirty="0"/>
          </a:p>
        </p:txBody>
      </p:sp>
      <p:sp>
        <p:nvSpPr>
          <p:cNvPr id="33" name="s8-33"/>
          <p:cNvSpPr/>
          <p:nvPr/>
        </p:nvSpPr>
        <p:spPr>
          <a:xfrm>
            <a:off x="4013200" y="5410200"/>
            <a:ext cx="2971800" cy="0"/>
          </a:xfrm>
          <a:prstGeom prst="line">
            <a:avLst/>
          </a:prstGeom>
          <a:noFill/>
          <a:ln w="9525">
            <a:solidFill>
              <a:srgbClr val="C9C0B2"/>
            </a:solidFill>
            <a:prstDash val="solid"/>
          </a:ln>
        </p:spPr>
      </p:sp>
      <p:sp>
        <p:nvSpPr>
          <p:cNvPr id="11" name="s8-11"/>
          <p:cNvSpPr/>
          <p:nvPr/>
        </p:nvSpPr>
        <p:spPr>
          <a:xfrm>
            <a:off x="736600" y="2743200"/>
            <a:ext cx="2971800" cy="0"/>
          </a:xfrm>
          <a:prstGeom prst="line">
            <a:avLst/>
          </a:prstGeom>
          <a:noFill/>
          <a:ln w="9525">
            <a:solidFill>
              <a:srgbClr val="C9C0B2"/>
            </a:solidFill>
            <a:prstDash val="solid"/>
          </a:ln>
        </p:spPr>
      </p:sp>
      <p:sp>
        <p:nvSpPr>
          <p:cNvPr id="12" name="s8-12"/>
          <p:cNvSpPr/>
          <p:nvPr/>
        </p:nvSpPr>
        <p:spPr>
          <a:xfrm>
            <a:off x="736600" y="27432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Everything in The Reach</a:t>
            </a:r>
            <a:endParaRPr lang="en-US" sz="1400" dirty="0"/>
          </a:p>
        </p:txBody>
      </p:sp>
      <p:sp>
        <p:nvSpPr>
          <p:cNvPr id="13" name="s8-13"/>
          <p:cNvSpPr/>
          <p:nvPr/>
        </p:nvSpPr>
        <p:spPr>
          <a:xfrm>
            <a:off x="736600" y="3276600"/>
            <a:ext cx="2971800" cy="0"/>
          </a:xfrm>
          <a:prstGeom prst="line">
            <a:avLst/>
          </a:prstGeom>
          <a:noFill/>
          <a:ln w="9525">
            <a:solidFill>
              <a:srgbClr val="C9C0B2"/>
            </a:solidFill>
            <a:prstDash val="solid"/>
          </a:ln>
        </p:spPr>
      </p:sp>
      <p:sp>
        <p:nvSpPr>
          <p:cNvPr id="14" name="s8-14"/>
          <p:cNvSpPr/>
          <p:nvPr/>
        </p:nvSpPr>
        <p:spPr>
          <a:xfrm>
            <a:off x="736600" y="32766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Deeper editorial research and an expanded property story</a:t>
            </a:r>
            <a:endParaRPr lang="en-US" sz="1400" dirty="0"/>
          </a:p>
        </p:txBody>
      </p:sp>
      <p:sp>
        <p:nvSpPr>
          <p:cNvPr id="15" name="s8-15"/>
          <p:cNvSpPr/>
          <p:nvPr/>
        </p:nvSpPr>
        <p:spPr>
          <a:xfrm>
            <a:off x="736600" y="3810000"/>
            <a:ext cx="2971800" cy="0"/>
          </a:xfrm>
          <a:prstGeom prst="line">
            <a:avLst/>
          </a:prstGeom>
          <a:noFill/>
          <a:ln w="9525">
            <a:solidFill>
              <a:srgbClr val="C9C0B2"/>
            </a:solidFill>
            <a:prstDash val="solid"/>
          </a:ln>
        </p:spPr>
      </p:sp>
      <p:sp>
        <p:nvSpPr>
          <p:cNvPr id="16" name="s8-16"/>
          <p:cNvSpPr/>
          <p:nvPr/>
        </p:nvSpPr>
        <p:spPr>
          <a:xfrm>
            <a:off x="736600" y="38100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Multi-post editorial treatment</a:t>
            </a:r>
            <a:endParaRPr lang="en-US" sz="1400" dirty="0"/>
          </a:p>
        </p:txBody>
      </p:sp>
      <p:sp>
        <p:nvSpPr>
          <p:cNvPr id="17" name="s8-17"/>
          <p:cNvSpPr/>
          <p:nvPr/>
        </p:nvSpPr>
        <p:spPr>
          <a:xfrm>
            <a:off x="736600" y="4343400"/>
            <a:ext cx="2971800" cy="0"/>
          </a:xfrm>
          <a:prstGeom prst="line">
            <a:avLst/>
          </a:prstGeom>
          <a:noFill/>
          <a:ln w="9525">
            <a:solidFill>
              <a:srgbClr val="C9C0B2"/>
            </a:solidFill>
            <a:prstDash val="solid"/>
          </a:ln>
        </p:spPr>
      </p:sp>
      <p:sp>
        <p:nvSpPr>
          <p:cNvPr id="18" name="s8-18"/>
          <p:cNvSpPr/>
          <p:nvPr/>
        </p:nvSpPr>
        <p:spPr>
          <a:xfrm>
            <a:off x="736600" y="43434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Short-form video or reel from supplied assets</a:t>
            </a:r>
            <a:endParaRPr lang="en-US" sz="1400" dirty="0"/>
          </a:p>
        </p:txBody>
      </p:sp>
      <p:sp>
        <p:nvSpPr>
          <p:cNvPr id="19" name="s8-19"/>
          <p:cNvSpPr/>
          <p:nvPr/>
        </p:nvSpPr>
        <p:spPr>
          <a:xfrm>
            <a:off x="736600" y="4876800"/>
            <a:ext cx="2971800" cy="0"/>
          </a:xfrm>
          <a:prstGeom prst="line">
            <a:avLst/>
          </a:prstGeom>
          <a:noFill/>
          <a:ln w="9525">
            <a:solidFill>
              <a:srgbClr val="C9C0B2"/>
            </a:solidFill>
            <a:prstDash val="solid"/>
          </a:ln>
        </p:spPr>
      </p:sp>
      <p:sp>
        <p:nvSpPr>
          <p:cNvPr id="20" name="s8-20"/>
          <p:cNvSpPr/>
          <p:nvPr/>
        </p:nvSpPr>
        <p:spPr>
          <a:xfrm>
            <a:off x="736600" y="48768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Standalone property email</a:t>
            </a:r>
            <a:endParaRPr lang="en-US" sz="1400" dirty="0"/>
          </a:p>
        </p:txBody>
      </p:sp>
      <p:sp>
        <p:nvSpPr>
          <p:cNvPr id="21" name="s8-21"/>
          <p:cNvSpPr/>
          <p:nvPr/>
        </p:nvSpPr>
        <p:spPr>
          <a:xfrm>
            <a:off x="736600" y="5410200"/>
            <a:ext cx="2971800" cy="0"/>
          </a:xfrm>
          <a:prstGeom prst="line">
            <a:avLst/>
          </a:prstGeom>
          <a:noFill/>
          <a:ln w="9525">
            <a:solidFill>
              <a:srgbClr val="C9C0B2"/>
            </a:solidFill>
            <a:prstDash val="solid"/>
          </a:ln>
        </p:spPr>
      </p:sp>
      <p:sp>
        <p:nvSpPr>
          <p:cNvPr id="22" name="s8-22"/>
          <p:cNvSpPr/>
          <p:nvPr/>
        </p:nvSpPr>
        <p:spPr>
          <a:xfrm>
            <a:off x="4013200" y="27432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Priority homepage positioning</a:t>
            </a:r>
            <a:endParaRPr lang="en-US" sz="1400" dirty="0"/>
          </a:p>
        </p:txBody>
      </p:sp>
      <p:sp>
        <p:nvSpPr>
          <p:cNvPr id="23" name="s8-23"/>
          <p:cNvSpPr/>
          <p:nvPr/>
        </p:nvSpPr>
        <p:spPr>
          <a:xfrm>
            <a:off x="4013200" y="2743200"/>
            <a:ext cx="2971800" cy="0"/>
          </a:xfrm>
          <a:prstGeom prst="line">
            <a:avLst/>
          </a:prstGeom>
          <a:noFill/>
          <a:ln w="9525">
            <a:solidFill>
              <a:srgbClr val="C9C0B2"/>
            </a:solidFill>
            <a:prstDash val="solid"/>
          </a:ln>
        </p:spPr>
      </p:sp>
      <p:sp>
        <p:nvSpPr>
          <p:cNvPr id="24" name="s8-24"/>
          <p:cNvSpPr/>
          <p:nvPr/>
        </p:nvSpPr>
        <p:spPr>
          <a:xfrm>
            <a:off x="4013200" y="32766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A 10 to 14 day campaign window</a:t>
            </a:r>
            <a:endParaRPr lang="en-US" sz="1400" dirty="0"/>
          </a:p>
        </p:txBody>
      </p:sp>
      <p:sp>
        <p:nvSpPr>
          <p:cNvPr id="25" name="s8-25"/>
          <p:cNvSpPr/>
          <p:nvPr/>
        </p:nvSpPr>
        <p:spPr>
          <a:xfrm>
            <a:off x="4013200" y="3276600"/>
            <a:ext cx="2971800" cy="0"/>
          </a:xfrm>
          <a:prstGeom prst="line">
            <a:avLst/>
          </a:prstGeom>
          <a:noFill/>
          <a:ln w="9525">
            <a:solidFill>
              <a:srgbClr val="C9C0B2"/>
            </a:solidFill>
            <a:prstDash val="solid"/>
          </a:ln>
        </p:spPr>
      </p:sp>
      <p:sp>
        <p:nvSpPr>
          <p:cNvPr id="26" name="s8-26"/>
          <p:cNvSpPr/>
          <p:nvPr/>
        </p:nvSpPr>
        <p:spPr>
          <a:xfrm>
            <a:off x="4013200" y="38100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Multiple creative variants where appropriate</a:t>
            </a:r>
            <a:endParaRPr lang="en-US" sz="1400" dirty="0"/>
          </a:p>
        </p:txBody>
      </p:sp>
      <p:sp>
        <p:nvSpPr>
          <p:cNvPr id="27" name="s8-27"/>
          <p:cNvSpPr/>
          <p:nvPr/>
        </p:nvSpPr>
        <p:spPr>
          <a:xfrm>
            <a:off x="4013200" y="3810000"/>
            <a:ext cx="2971800" cy="0"/>
          </a:xfrm>
          <a:prstGeom prst="line">
            <a:avLst/>
          </a:prstGeom>
          <a:noFill/>
          <a:ln w="9525">
            <a:solidFill>
              <a:srgbClr val="C9C0B2"/>
            </a:solidFill>
            <a:prstDash val="solid"/>
          </a:ln>
        </p:spPr>
      </p:sp>
      <p:sp>
        <p:nvSpPr>
          <p:cNvPr id="28" name="s8-28"/>
          <p:cNvSpPr/>
          <p:nvPr/>
        </p:nvSpPr>
        <p:spPr>
          <a:xfrm>
            <a:off x="4013200" y="43434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Programmatic media and retargeting strategy</a:t>
            </a:r>
            <a:endParaRPr lang="en-US" sz="1400" dirty="0"/>
          </a:p>
        </p:txBody>
      </p:sp>
      <p:sp>
        <p:nvSpPr>
          <p:cNvPr id="29" name="s8-29"/>
          <p:cNvSpPr/>
          <p:nvPr/>
        </p:nvSpPr>
        <p:spPr>
          <a:xfrm>
            <a:off x="4013200" y="4343400"/>
            <a:ext cx="2971800" cy="0"/>
          </a:xfrm>
          <a:prstGeom prst="line">
            <a:avLst/>
          </a:prstGeom>
          <a:noFill/>
          <a:ln w="9525">
            <a:solidFill>
              <a:srgbClr val="C9C0B2"/>
            </a:solidFill>
            <a:prstDash val="solid"/>
          </a:ln>
        </p:spPr>
      </p:sp>
      <p:sp>
        <p:nvSpPr>
          <p:cNvPr id="30" name="s8-30"/>
          <p:cNvSpPr/>
          <p:nvPr/>
        </p:nvSpPr>
        <p:spPr>
          <a:xfrm>
            <a:off x="4013200" y="4876800"/>
            <a:ext cx="2971800" cy="533400"/>
          </a:xfrm>
          <a:prstGeom prst="rect">
            <a:avLst/>
          </a:prstGeom>
          <a:noFill/>
          <a:ln/>
        </p:spPr>
        <p:txBody>
          <a:bodyPr wrap="square" lIns="0" tIns="0" rIns="0" bIns="0" rtlCol="0" anchor="ctr"/>
          <a:lstStyle/>
          <a:p>
            <a:pPr marL="0" indent="0">
              <a:buNone/>
            </a:pPr>
            <a:r>
              <a:rPr lang="en-US" sz="1400" dirty="0">
                <a:solidFill>
                  <a:srgbClr val="11110F"/>
                </a:solidFill>
                <a:latin typeface="Jost" pitchFamily="34" charset="0"/>
                <a:ea typeface="Jost" pitchFamily="34" charset="-122"/>
                <a:cs typeface="Jost" pitchFamily="34" charset="-120"/>
              </a:rPr>
              <a:t>Campaign optimization and post-campaign reporting</a:t>
            </a:r>
            <a:endParaRPr lang="en-US" sz="1400" dirty="0"/>
          </a:p>
        </p:txBody>
      </p:sp>
      <p:sp>
        <p:nvSpPr>
          <p:cNvPr id="31" name="s8-31"/>
          <p:cNvSpPr/>
          <p:nvPr/>
        </p:nvSpPr>
        <p:spPr>
          <a:xfrm>
            <a:off x="4013200" y="4876800"/>
            <a:ext cx="2971800" cy="0"/>
          </a:xfrm>
          <a:prstGeom prst="line">
            <a:avLst/>
          </a:prstGeom>
          <a:noFill/>
          <a:ln w="9525">
            <a:solidFill>
              <a:srgbClr val="C9C0B2"/>
            </a:solidFill>
            <a:prstDash val="solid"/>
          </a:ln>
        </p:spPr>
      </p:sp>
      <p:sp>
        <p:nvSpPr>
          <p:cNvPr id="32" name="s8-32">
            <a:hlinkClick r:id="rId4" tooltip="matterofplace.com/submit"/>
          </p:cNvPr>
          <p:cNvSpPr/>
          <p:nvPr/>
        </p:nvSpPr>
        <p:spPr>
          <a:xfrm>
            <a:off x="736600" y="5664200"/>
            <a:ext cx="2743200" cy="279400"/>
          </a:xfrm>
          <a:prstGeom prst="rect">
            <a:avLst/>
          </a:prstGeom>
          <a:noFill/>
          <a:ln/>
        </p:spPr>
        <p:txBody>
          <a:bodyPr wrap="square" lIns="0" tIns="0" rIns="0" bIns="0" rtlCol="0" anchor="ctr"/>
          <a:lstStyle/>
          <a:p>
            <a:pPr marL="0" indent="0">
              <a:buNone/>
            </a:pPr>
            <a:r>
              <a:rPr lang="en-US" sz="1100" u="sng" kern="0" spc="250" dirty="0">
                <a:solidFill>
                  <a:srgbClr val="11110F"/>
                </a:solidFill>
                <a:latin typeface="Jost" pitchFamily="34" charset="0"/>
                <a:ea typeface="Jost" pitchFamily="34" charset="-122"/>
                <a:cs typeface="Jost" pitchFamily="34" charset="-120"/>
                <a:hlinkClick r:id="rId4" tooltip="matterofplace.com/submit">
                  <a:extLst>
                    <a:ext uri="{A12FA001-AC4F-418D-AE19-62706E023703}">
                      <ahyp:hlinkClr xmlns:ahyp="http://schemas.microsoft.com/office/drawing/2018/hyperlinkcolor" val="tx"/>
                    </a:ext>
                  </a:extLst>
                </a:hlinkClick>
              </a:rPr>
              <a:t>Build a Campaign</a:t>
            </a:r>
            <a:endParaRPr lang="en-US" sz="1100" dirty="0"/>
          </a:p>
        </p:txBody>
      </p:sp>
    </p:spTree>
    <p:extLst>
      <p:ext uri="{BB962C8B-B14F-4D97-AF65-F5344CB8AC3E}">
        <p14:creationId xmlns:p14="http://schemas.microsoft.com/office/powerpoint/2010/main" val="85504066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950"/>
                                        <p:tgtEl>
                                          <p:spTgt spid="8"/>
                                        </p:tgtEl>
                                      </p:cBhvr>
                                    </p:animEffect>
                                    <p:anim calcmode="lin" valueType="num">
                                      <p:cBhvr>
                                        <p:cTn id="8" dur="950" decel="100000" fill="hold"/>
                                        <p:tgtEl>
                                          <p:spTgt spid="8"/>
                                        </p:tgtEl>
                                        <p:attrNameLst>
                                          <p:attrName>ppt_x</p:attrName>
                                        </p:attrNameLst>
                                      </p:cBhvr>
                                      <p:tavLst>
                                        <p:tav tm="0">
                                          <p:val>
                                            <p:strVal val="#ppt_x"/>
                                          </p:val>
                                        </p:tav>
                                        <p:tav tm="100000">
                                          <p:val>
                                            <p:strVal val="#ppt_x"/>
                                          </p:val>
                                        </p:tav>
                                      </p:tavLst>
                                    </p:anim>
                                    <p:anim calcmode="lin" valueType="num">
                                      <p:cBhvr>
                                        <p:cTn id="9" dur="950" decel="100000" fill="hold"/>
                                        <p:tgtEl>
                                          <p:spTgt spid="8"/>
                                        </p:tgtEl>
                                        <p:attrNameLst>
                                          <p:attrName>ppt_y</p:attrName>
                                        </p:attrNameLst>
                                      </p:cBhvr>
                                      <p:tavLst>
                                        <p:tav tm="0">
                                          <p:val>
                                            <p:strVal val="#ppt_y+0.022"/>
                                          </p:val>
                                        </p:tav>
                                        <p:tav tm="100000">
                                          <p:val>
                                            <p:strVal val="#ppt_y"/>
                                          </p:val>
                                        </p:tav>
                                      </p:tavLst>
                                    </p:anim>
                                  </p:childTnLst>
                                </p:cTn>
                              </p:par>
                              <p:par>
                                <p:cTn id="10" presetID="10" presetClass="entr" presetSubtype="0" fill="hold" grpId="0" nodeType="withEffect">
                                  <p:stCondLst>
                                    <p:cond delay="26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950"/>
                                        <p:tgtEl>
                                          <p:spTgt spid="9"/>
                                        </p:tgtEl>
                                      </p:cBhvr>
                                    </p:animEffect>
                                    <p:anim calcmode="lin" valueType="num">
                                      <p:cBhvr>
                                        <p:cTn id="13" dur="950" decel="100000" fill="hold"/>
                                        <p:tgtEl>
                                          <p:spTgt spid="9"/>
                                        </p:tgtEl>
                                        <p:attrNameLst>
                                          <p:attrName>ppt_x</p:attrName>
                                        </p:attrNameLst>
                                      </p:cBhvr>
                                      <p:tavLst>
                                        <p:tav tm="0">
                                          <p:val>
                                            <p:strVal val="#ppt_x"/>
                                          </p:val>
                                        </p:tav>
                                        <p:tav tm="100000">
                                          <p:val>
                                            <p:strVal val="#ppt_x"/>
                                          </p:val>
                                        </p:tav>
                                      </p:tavLst>
                                    </p:anim>
                                    <p:anim calcmode="lin" valueType="num">
                                      <p:cBhvr>
                                        <p:cTn id="14" dur="950" decel="100000" fill="hold"/>
                                        <p:tgtEl>
                                          <p:spTgt spid="9"/>
                                        </p:tgtEl>
                                        <p:attrNameLst>
                                          <p:attrName>ppt_y</p:attrName>
                                        </p:attrNameLst>
                                      </p:cBhvr>
                                      <p:tavLst>
                                        <p:tav tm="0">
                                          <p:val>
                                            <p:strVal val="#ppt_y+0.022"/>
                                          </p:val>
                                        </p:tav>
                                        <p:tav tm="100000">
                                          <p:val>
                                            <p:strVal val="#ppt_y"/>
                                          </p:val>
                                        </p:tav>
                                      </p:tavLst>
                                    </p:anim>
                                  </p:childTnLst>
                                </p:cTn>
                              </p:par>
                              <p:par>
                                <p:cTn id="15" presetID="10" presetClass="entr" presetSubtype="0" fill="hold" grpId="0" nodeType="withEffect">
                                  <p:stCondLst>
                                    <p:cond delay="37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950"/>
                                        <p:tgtEl>
                                          <p:spTgt spid="10"/>
                                        </p:tgtEl>
                                      </p:cBhvr>
                                    </p:animEffect>
                                    <p:anim calcmode="lin" valueType="num">
                                      <p:cBhvr>
                                        <p:cTn id="18" dur="950" decel="100000" fill="hold"/>
                                        <p:tgtEl>
                                          <p:spTgt spid="10"/>
                                        </p:tgtEl>
                                        <p:attrNameLst>
                                          <p:attrName>ppt_x</p:attrName>
                                        </p:attrNameLst>
                                      </p:cBhvr>
                                      <p:tavLst>
                                        <p:tav tm="0">
                                          <p:val>
                                            <p:strVal val="#ppt_x"/>
                                          </p:val>
                                        </p:tav>
                                        <p:tav tm="100000">
                                          <p:val>
                                            <p:strVal val="#ppt_x"/>
                                          </p:val>
                                        </p:tav>
                                      </p:tavLst>
                                    </p:anim>
                                    <p:anim calcmode="lin" valueType="num">
                                      <p:cBhvr>
                                        <p:cTn id="19" dur="950" decel="100000" fill="hold"/>
                                        <p:tgtEl>
                                          <p:spTgt spid="10"/>
                                        </p:tgtEl>
                                        <p:attrNameLst>
                                          <p:attrName>ppt_y</p:attrName>
                                        </p:attrNameLst>
                                      </p:cBhvr>
                                      <p:tavLst>
                                        <p:tav tm="0">
                                          <p:val>
                                            <p:strVal val="#ppt_y+0.022"/>
                                          </p:val>
                                        </p:tav>
                                        <p:tav tm="100000">
                                          <p:val>
                                            <p:strVal val="#ppt_y"/>
                                          </p:val>
                                        </p:tav>
                                      </p:tavLst>
                                    </p:anim>
                                  </p:childTnLst>
                                </p:cTn>
                              </p:par>
                              <p:par>
                                <p:cTn id="20" presetID="22" presetClass="entr" presetSubtype="8" fill="hold" nodeType="withEffect">
                                  <p:stCondLst>
                                    <p:cond delay="480"/>
                                  </p:stCondLst>
                                  <p:childTnLst>
                                    <p:set>
                                      <p:cBhvr>
                                        <p:cTn id="21" dur="1" fill="hold">
                                          <p:stCondLst>
                                            <p:cond delay="0"/>
                                          </p:stCondLst>
                                        </p:cTn>
                                        <p:tgtEl>
                                          <p:spTgt spid="11"/>
                                        </p:tgtEl>
                                        <p:attrNameLst>
                                          <p:attrName>style.visibility</p:attrName>
                                        </p:attrNameLst>
                                      </p:cBhvr>
                                      <p:to>
                                        <p:strVal val="visible"/>
                                      </p:to>
                                    </p:set>
                                    <p:animEffect transition="in" filter="wipe(left)">
                                      <p:cBhvr>
                                        <p:cTn id="22" dur="1250" decel="100000"/>
                                        <p:tgtEl>
                                          <p:spTgt spid="11"/>
                                        </p:tgtEl>
                                      </p:cBhvr>
                                    </p:animEffect>
                                  </p:childTnLst>
                                </p:cTn>
                              </p:par>
                              <p:par>
                                <p:cTn id="23" presetID="10" presetClass="entr" presetSubtype="0" fill="hold" grpId="0" nodeType="withEffect">
                                  <p:stCondLst>
                                    <p:cond delay="48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950"/>
                                        <p:tgtEl>
                                          <p:spTgt spid="12"/>
                                        </p:tgtEl>
                                      </p:cBhvr>
                                    </p:animEffect>
                                    <p:anim calcmode="lin" valueType="num">
                                      <p:cBhvr>
                                        <p:cTn id="26" dur="950" decel="100000" fill="hold"/>
                                        <p:tgtEl>
                                          <p:spTgt spid="12"/>
                                        </p:tgtEl>
                                        <p:attrNameLst>
                                          <p:attrName>ppt_x</p:attrName>
                                        </p:attrNameLst>
                                      </p:cBhvr>
                                      <p:tavLst>
                                        <p:tav tm="0">
                                          <p:val>
                                            <p:strVal val="#ppt_x"/>
                                          </p:val>
                                        </p:tav>
                                        <p:tav tm="100000">
                                          <p:val>
                                            <p:strVal val="#ppt_x"/>
                                          </p:val>
                                        </p:tav>
                                      </p:tavLst>
                                    </p:anim>
                                    <p:anim calcmode="lin" valueType="num">
                                      <p:cBhvr>
                                        <p:cTn id="27" dur="950" decel="100000" fill="hold"/>
                                        <p:tgtEl>
                                          <p:spTgt spid="12"/>
                                        </p:tgtEl>
                                        <p:attrNameLst>
                                          <p:attrName>ppt_y</p:attrName>
                                        </p:attrNameLst>
                                      </p:cBhvr>
                                      <p:tavLst>
                                        <p:tav tm="0">
                                          <p:val>
                                            <p:strVal val="#ppt_y+0.022"/>
                                          </p:val>
                                        </p:tav>
                                        <p:tav tm="100000">
                                          <p:val>
                                            <p:strVal val="#ppt_y"/>
                                          </p:val>
                                        </p:tav>
                                      </p:tavLst>
                                    </p:anim>
                                  </p:childTnLst>
                                </p:cTn>
                              </p:par>
                              <p:par>
                                <p:cTn id="28" presetID="10" presetClass="entr" presetSubtype="0" fill="hold" grpId="0" nodeType="withEffect">
                                  <p:stCondLst>
                                    <p:cond delay="480"/>
                                  </p:stCondLst>
                                  <p:childTnLst>
                                    <p:set>
                                      <p:cBhvr>
                                        <p:cTn id="29" dur="1" fill="hold">
                                          <p:stCondLst>
                                            <p:cond delay="0"/>
                                          </p:stCondLst>
                                        </p:cTn>
                                        <p:tgtEl>
                                          <p:spTgt spid="22"/>
                                        </p:tgtEl>
                                        <p:attrNameLst>
                                          <p:attrName>style.visibility</p:attrName>
                                        </p:attrNameLst>
                                      </p:cBhvr>
                                      <p:to>
                                        <p:strVal val="visible"/>
                                      </p:to>
                                    </p:set>
                                    <p:animEffect transition="in" filter="fade">
                                      <p:cBhvr>
                                        <p:cTn id="30" dur="950"/>
                                        <p:tgtEl>
                                          <p:spTgt spid="22"/>
                                        </p:tgtEl>
                                      </p:cBhvr>
                                    </p:animEffect>
                                    <p:anim calcmode="lin" valueType="num">
                                      <p:cBhvr>
                                        <p:cTn id="31" dur="950" decel="100000" fill="hold"/>
                                        <p:tgtEl>
                                          <p:spTgt spid="22"/>
                                        </p:tgtEl>
                                        <p:attrNameLst>
                                          <p:attrName>ppt_x</p:attrName>
                                        </p:attrNameLst>
                                      </p:cBhvr>
                                      <p:tavLst>
                                        <p:tav tm="0">
                                          <p:val>
                                            <p:strVal val="#ppt_x"/>
                                          </p:val>
                                        </p:tav>
                                        <p:tav tm="100000">
                                          <p:val>
                                            <p:strVal val="#ppt_x"/>
                                          </p:val>
                                        </p:tav>
                                      </p:tavLst>
                                    </p:anim>
                                    <p:anim calcmode="lin" valueType="num">
                                      <p:cBhvr>
                                        <p:cTn id="32" dur="950" decel="100000" fill="hold"/>
                                        <p:tgtEl>
                                          <p:spTgt spid="22"/>
                                        </p:tgtEl>
                                        <p:attrNameLst>
                                          <p:attrName>ppt_y</p:attrName>
                                        </p:attrNameLst>
                                      </p:cBhvr>
                                      <p:tavLst>
                                        <p:tav tm="0">
                                          <p:val>
                                            <p:strVal val="#ppt_y+0.022"/>
                                          </p:val>
                                        </p:tav>
                                        <p:tav tm="100000">
                                          <p:val>
                                            <p:strVal val="#ppt_y"/>
                                          </p:val>
                                        </p:tav>
                                      </p:tavLst>
                                    </p:anim>
                                  </p:childTnLst>
                                </p:cTn>
                              </p:par>
                              <p:par>
                                <p:cTn id="33" presetID="22" presetClass="entr" presetSubtype="8" fill="hold" nodeType="withEffect">
                                  <p:stCondLst>
                                    <p:cond delay="480"/>
                                  </p:stCondLst>
                                  <p:childTnLst>
                                    <p:set>
                                      <p:cBhvr>
                                        <p:cTn id="34" dur="1" fill="hold">
                                          <p:stCondLst>
                                            <p:cond delay="0"/>
                                          </p:stCondLst>
                                        </p:cTn>
                                        <p:tgtEl>
                                          <p:spTgt spid="23"/>
                                        </p:tgtEl>
                                        <p:attrNameLst>
                                          <p:attrName>style.visibility</p:attrName>
                                        </p:attrNameLst>
                                      </p:cBhvr>
                                      <p:to>
                                        <p:strVal val="visible"/>
                                      </p:to>
                                    </p:set>
                                    <p:animEffect transition="in" filter="wipe(left)">
                                      <p:cBhvr>
                                        <p:cTn id="35" dur="1250" decel="100000"/>
                                        <p:tgtEl>
                                          <p:spTgt spid="23"/>
                                        </p:tgtEl>
                                      </p:cBhvr>
                                    </p:animEffect>
                                  </p:childTnLst>
                                </p:cTn>
                              </p:par>
                              <p:par>
                                <p:cTn id="36" presetID="22" presetClass="entr" presetSubtype="8" fill="hold" nodeType="withEffect">
                                  <p:stCondLst>
                                    <p:cond delay="590"/>
                                  </p:stCondLst>
                                  <p:childTnLst>
                                    <p:set>
                                      <p:cBhvr>
                                        <p:cTn id="37" dur="1" fill="hold">
                                          <p:stCondLst>
                                            <p:cond delay="0"/>
                                          </p:stCondLst>
                                        </p:cTn>
                                        <p:tgtEl>
                                          <p:spTgt spid="13"/>
                                        </p:tgtEl>
                                        <p:attrNameLst>
                                          <p:attrName>style.visibility</p:attrName>
                                        </p:attrNameLst>
                                      </p:cBhvr>
                                      <p:to>
                                        <p:strVal val="visible"/>
                                      </p:to>
                                    </p:set>
                                    <p:animEffect transition="in" filter="wipe(left)">
                                      <p:cBhvr>
                                        <p:cTn id="38" dur="1250" decel="100000"/>
                                        <p:tgtEl>
                                          <p:spTgt spid="13"/>
                                        </p:tgtEl>
                                      </p:cBhvr>
                                    </p:animEffect>
                                  </p:childTnLst>
                                </p:cTn>
                              </p:par>
                              <p:par>
                                <p:cTn id="39" presetID="10" presetClass="entr" presetSubtype="0" fill="hold" grpId="0" nodeType="withEffect">
                                  <p:stCondLst>
                                    <p:cond delay="5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950"/>
                                        <p:tgtEl>
                                          <p:spTgt spid="14"/>
                                        </p:tgtEl>
                                      </p:cBhvr>
                                    </p:animEffect>
                                    <p:anim calcmode="lin" valueType="num">
                                      <p:cBhvr>
                                        <p:cTn id="42" dur="950" decel="100000" fill="hold"/>
                                        <p:tgtEl>
                                          <p:spTgt spid="14"/>
                                        </p:tgtEl>
                                        <p:attrNameLst>
                                          <p:attrName>ppt_x</p:attrName>
                                        </p:attrNameLst>
                                      </p:cBhvr>
                                      <p:tavLst>
                                        <p:tav tm="0">
                                          <p:val>
                                            <p:strVal val="#ppt_x"/>
                                          </p:val>
                                        </p:tav>
                                        <p:tav tm="100000">
                                          <p:val>
                                            <p:strVal val="#ppt_x"/>
                                          </p:val>
                                        </p:tav>
                                      </p:tavLst>
                                    </p:anim>
                                    <p:anim calcmode="lin" valueType="num">
                                      <p:cBhvr>
                                        <p:cTn id="43" dur="950" decel="100000" fill="hold"/>
                                        <p:tgtEl>
                                          <p:spTgt spid="14"/>
                                        </p:tgtEl>
                                        <p:attrNameLst>
                                          <p:attrName>ppt_y</p:attrName>
                                        </p:attrNameLst>
                                      </p:cBhvr>
                                      <p:tavLst>
                                        <p:tav tm="0">
                                          <p:val>
                                            <p:strVal val="#ppt_y+0.022"/>
                                          </p:val>
                                        </p:tav>
                                        <p:tav tm="100000">
                                          <p:val>
                                            <p:strVal val="#ppt_y"/>
                                          </p:val>
                                        </p:tav>
                                      </p:tavLst>
                                    </p:anim>
                                  </p:childTnLst>
                                </p:cTn>
                              </p:par>
                              <p:par>
                                <p:cTn id="44" presetID="10" presetClass="entr" presetSubtype="0" fill="hold" grpId="0" nodeType="withEffect">
                                  <p:stCondLst>
                                    <p:cond delay="59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950"/>
                                        <p:tgtEl>
                                          <p:spTgt spid="24"/>
                                        </p:tgtEl>
                                      </p:cBhvr>
                                    </p:animEffect>
                                    <p:anim calcmode="lin" valueType="num">
                                      <p:cBhvr>
                                        <p:cTn id="47" dur="950" decel="100000" fill="hold"/>
                                        <p:tgtEl>
                                          <p:spTgt spid="24"/>
                                        </p:tgtEl>
                                        <p:attrNameLst>
                                          <p:attrName>ppt_x</p:attrName>
                                        </p:attrNameLst>
                                      </p:cBhvr>
                                      <p:tavLst>
                                        <p:tav tm="0">
                                          <p:val>
                                            <p:strVal val="#ppt_x"/>
                                          </p:val>
                                        </p:tav>
                                        <p:tav tm="100000">
                                          <p:val>
                                            <p:strVal val="#ppt_x"/>
                                          </p:val>
                                        </p:tav>
                                      </p:tavLst>
                                    </p:anim>
                                    <p:anim calcmode="lin" valueType="num">
                                      <p:cBhvr>
                                        <p:cTn id="48" dur="950" decel="100000" fill="hold"/>
                                        <p:tgtEl>
                                          <p:spTgt spid="24"/>
                                        </p:tgtEl>
                                        <p:attrNameLst>
                                          <p:attrName>ppt_y</p:attrName>
                                        </p:attrNameLst>
                                      </p:cBhvr>
                                      <p:tavLst>
                                        <p:tav tm="0">
                                          <p:val>
                                            <p:strVal val="#ppt_y+0.022"/>
                                          </p:val>
                                        </p:tav>
                                        <p:tav tm="100000">
                                          <p:val>
                                            <p:strVal val="#ppt_y"/>
                                          </p:val>
                                        </p:tav>
                                      </p:tavLst>
                                    </p:anim>
                                  </p:childTnLst>
                                </p:cTn>
                              </p:par>
                              <p:par>
                                <p:cTn id="49" presetID="22" presetClass="entr" presetSubtype="8" fill="hold" nodeType="withEffect">
                                  <p:stCondLst>
                                    <p:cond delay="590"/>
                                  </p:stCondLst>
                                  <p:childTnLst>
                                    <p:set>
                                      <p:cBhvr>
                                        <p:cTn id="50" dur="1" fill="hold">
                                          <p:stCondLst>
                                            <p:cond delay="0"/>
                                          </p:stCondLst>
                                        </p:cTn>
                                        <p:tgtEl>
                                          <p:spTgt spid="25"/>
                                        </p:tgtEl>
                                        <p:attrNameLst>
                                          <p:attrName>style.visibility</p:attrName>
                                        </p:attrNameLst>
                                      </p:cBhvr>
                                      <p:to>
                                        <p:strVal val="visible"/>
                                      </p:to>
                                    </p:set>
                                    <p:animEffect transition="in" filter="wipe(left)">
                                      <p:cBhvr>
                                        <p:cTn id="51" dur="1250" decel="100000"/>
                                        <p:tgtEl>
                                          <p:spTgt spid="25"/>
                                        </p:tgtEl>
                                      </p:cBhvr>
                                    </p:animEffect>
                                  </p:childTnLst>
                                </p:cTn>
                              </p:par>
                              <p:par>
                                <p:cTn id="52" presetID="22" presetClass="entr" presetSubtype="8" fill="hold" nodeType="withEffect">
                                  <p:stCondLst>
                                    <p:cond delay="700"/>
                                  </p:stCondLst>
                                  <p:childTnLst>
                                    <p:set>
                                      <p:cBhvr>
                                        <p:cTn id="53" dur="1" fill="hold">
                                          <p:stCondLst>
                                            <p:cond delay="0"/>
                                          </p:stCondLst>
                                        </p:cTn>
                                        <p:tgtEl>
                                          <p:spTgt spid="15"/>
                                        </p:tgtEl>
                                        <p:attrNameLst>
                                          <p:attrName>style.visibility</p:attrName>
                                        </p:attrNameLst>
                                      </p:cBhvr>
                                      <p:to>
                                        <p:strVal val="visible"/>
                                      </p:to>
                                    </p:set>
                                    <p:animEffect transition="in" filter="wipe(left)">
                                      <p:cBhvr>
                                        <p:cTn id="54" dur="1250" decel="100000"/>
                                        <p:tgtEl>
                                          <p:spTgt spid="15"/>
                                        </p:tgtEl>
                                      </p:cBhvr>
                                    </p:animEffect>
                                  </p:childTnLst>
                                </p:cTn>
                              </p:par>
                              <p:par>
                                <p:cTn id="55" presetID="10" presetClass="entr" presetSubtype="0" fill="hold" grpId="0" nodeType="withEffect">
                                  <p:stCondLst>
                                    <p:cond delay="700"/>
                                  </p:stCondLst>
                                  <p:childTnLst>
                                    <p:set>
                                      <p:cBhvr>
                                        <p:cTn id="56" dur="1" fill="hold">
                                          <p:stCondLst>
                                            <p:cond delay="0"/>
                                          </p:stCondLst>
                                        </p:cTn>
                                        <p:tgtEl>
                                          <p:spTgt spid="16"/>
                                        </p:tgtEl>
                                        <p:attrNameLst>
                                          <p:attrName>style.visibility</p:attrName>
                                        </p:attrNameLst>
                                      </p:cBhvr>
                                      <p:to>
                                        <p:strVal val="visible"/>
                                      </p:to>
                                    </p:set>
                                    <p:animEffect transition="in" filter="fade">
                                      <p:cBhvr>
                                        <p:cTn id="57" dur="950"/>
                                        <p:tgtEl>
                                          <p:spTgt spid="16"/>
                                        </p:tgtEl>
                                      </p:cBhvr>
                                    </p:animEffect>
                                    <p:anim calcmode="lin" valueType="num">
                                      <p:cBhvr>
                                        <p:cTn id="58" dur="950" decel="100000" fill="hold"/>
                                        <p:tgtEl>
                                          <p:spTgt spid="16"/>
                                        </p:tgtEl>
                                        <p:attrNameLst>
                                          <p:attrName>ppt_x</p:attrName>
                                        </p:attrNameLst>
                                      </p:cBhvr>
                                      <p:tavLst>
                                        <p:tav tm="0">
                                          <p:val>
                                            <p:strVal val="#ppt_x"/>
                                          </p:val>
                                        </p:tav>
                                        <p:tav tm="100000">
                                          <p:val>
                                            <p:strVal val="#ppt_x"/>
                                          </p:val>
                                        </p:tav>
                                      </p:tavLst>
                                    </p:anim>
                                    <p:anim calcmode="lin" valueType="num">
                                      <p:cBhvr>
                                        <p:cTn id="59" dur="950" decel="100000" fill="hold"/>
                                        <p:tgtEl>
                                          <p:spTgt spid="16"/>
                                        </p:tgtEl>
                                        <p:attrNameLst>
                                          <p:attrName>ppt_y</p:attrName>
                                        </p:attrNameLst>
                                      </p:cBhvr>
                                      <p:tavLst>
                                        <p:tav tm="0">
                                          <p:val>
                                            <p:strVal val="#ppt_y+0.022"/>
                                          </p:val>
                                        </p:tav>
                                        <p:tav tm="100000">
                                          <p:val>
                                            <p:strVal val="#ppt_y"/>
                                          </p:val>
                                        </p:tav>
                                      </p:tavLst>
                                    </p:anim>
                                  </p:childTnLst>
                                </p:cTn>
                              </p:par>
                              <p:par>
                                <p:cTn id="60" presetID="10" presetClass="entr" presetSubtype="0" fill="hold" grpId="0" nodeType="withEffect">
                                  <p:stCondLst>
                                    <p:cond delay="70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950"/>
                                        <p:tgtEl>
                                          <p:spTgt spid="26"/>
                                        </p:tgtEl>
                                      </p:cBhvr>
                                    </p:animEffect>
                                    <p:anim calcmode="lin" valueType="num">
                                      <p:cBhvr>
                                        <p:cTn id="63" dur="950" decel="100000" fill="hold"/>
                                        <p:tgtEl>
                                          <p:spTgt spid="26"/>
                                        </p:tgtEl>
                                        <p:attrNameLst>
                                          <p:attrName>ppt_x</p:attrName>
                                        </p:attrNameLst>
                                      </p:cBhvr>
                                      <p:tavLst>
                                        <p:tav tm="0">
                                          <p:val>
                                            <p:strVal val="#ppt_x"/>
                                          </p:val>
                                        </p:tav>
                                        <p:tav tm="100000">
                                          <p:val>
                                            <p:strVal val="#ppt_x"/>
                                          </p:val>
                                        </p:tav>
                                      </p:tavLst>
                                    </p:anim>
                                    <p:anim calcmode="lin" valueType="num">
                                      <p:cBhvr>
                                        <p:cTn id="64" dur="950" decel="100000" fill="hold"/>
                                        <p:tgtEl>
                                          <p:spTgt spid="26"/>
                                        </p:tgtEl>
                                        <p:attrNameLst>
                                          <p:attrName>ppt_y</p:attrName>
                                        </p:attrNameLst>
                                      </p:cBhvr>
                                      <p:tavLst>
                                        <p:tav tm="0">
                                          <p:val>
                                            <p:strVal val="#ppt_y+0.022"/>
                                          </p:val>
                                        </p:tav>
                                        <p:tav tm="100000">
                                          <p:val>
                                            <p:strVal val="#ppt_y"/>
                                          </p:val>
                                        </p:tav>
                                      </p:tavLst>
                                    </p:anim>
                                  </p:childTnLst>
                                </p:cTn>
                              </p:par>
                              <p:par>
                                <p:cTn id="65" presetID="22" presetClass="entr" presetSubtype="8" fill="hold" nodeType="withEffect">
                                  <p:stCondLst>
                                    <p:cond delay="700"/>
                                  </p:stCondLst>
                                  <p:childTnLst>
                                    <p:set>
                                      <p:cBhvr>
                                        <p:cTn id="66" dur="1" fill="hold">
                                          <p:stCondLst>
                                            <p:cond delay="0"/>
                                          </p:stCondLst>
                                        </p:cTn>
                                        <p:tgtEl>
                                          <p:spTgt spid="27"/>
                                        </p:tgtEl>
                                        <p:attrNameLst>
                                          <p:attrName>style.visibility</p:attrName>
                                        </p:attrNameLst>
                                      </p:cBhvr>
                                      <p:to>
                                        <p:strVal val="visible"/>
                                      </p:to>
                                    </p:set>
                                    <p:animEffect transition="in" filter="wipe(left)">
                                      <p:cBhvr>
                                        <p:cTn id="67" dur="1250" decel="100000"/>
                                        <p:tgtEl>
                                          <p:spTgt spid="27"/>
                                        </p:tgtEl>
                                      </p:cBhvr>
                                    </p:animEffect>
                                  </p:childTnLst>
                                </p:cTn>
                              </p:par>
                              <p:par>
                                <p:cTn id="68" presetID="22" presetClass="entr" presetSubtype="8" fill="hold" nodeType="withEffect">
                                  <p:stCondLst>
                                    <p:cond delay="810"/>
                                  </p:stCondLst>
                                  <p:childTnLst>
                                    <p:set>
                                      <p:cBhvr>
                                        <p:cTn id="69" dur="1" fill="hold">
                                          <p:stCondLst>
                                            <p:cond delay="0"/>
                                          </p:stCondLst>
                                        </p:cTn>
                                        <p:tgtEl>
                                          <p:spTgt spid="17"/>
                                        </p:tgtEl>
                                        <p:attrNameLst>
                                          <p:attrName>style.visibility</p:attrName>
                                        </p:attrNameLst>
                                      </p:cBhvr>
                                      <p:to>
                                        <p:strVal val="visible"/>
                                      </p:to>
                                    </p:set>
                                    <p:animEffect transition="in" filter="wipe(left)">
                                      <p:cBhvr>
                                        <p:cTn id="70" dur="1250" decel="100000"/>
                                        <p:tgtEl>
                                          <p:spTgt spid="17"/>
                                        </p:tgtEl>
                                      </p:cBhvr>
                                    </p:animEffect>
                                  </p:childTnLst>
                                </p:cTn>
                              </p:par>
                              <p:par>
                                <p:cTn id="71" presetID="10" presetClass="entr" presetSubtype="0" fill="hold" grpId="0" nodeType="withEffect">
                                  <p:stCondLst>
                                    <p:cond delay="810"/>
                                  </p:stCondLst>
                                  <p:childTnLst>
                                    <p:set>
                                      <p:cBhvr>
                                        <p:cTn id="72" dur="1" fill="hold">
                                          <p:stCondLst>
                                            <p:cond delay="0"/>
                                          </p:stCondLst>
                                        </p:cTn>
                                        <p:tgtEl>
                                          <p:spTgt spid="18"/>
                                        </p:tgtEl>
                                        <p:attrNameLst>
                                          <p:attrName>style.visibility</p:attrName>
                                        </p:attrNameLst>
                                      </p:cBhvr>
                                      <p:to>
                                        <p:strVal val="visible"/>
                                      </p:to>
                                    </p:set>
                                    <p:animEffect transition="in" filter="fade">
                                      <p:cBhvr>
                                        <p:cTn id="73" dur="950"/>
                                        <p:tgtEl>
                                          <p:spTgt spid="18"/>
                                        </p:tgtEl>
                                      </p:cBhvr>
                                    </p:animEffect>
                                    <p:anim calcmode="lin" valueType="num">
                                      <p:cBhvr>
                                        <p:cTn id="74" dur="950" decel="100000" fill="hold"/>
                                        <p:tgtEl>
                                          <p:spTgt spid="18"/>
                                        </p:tgtEl>
                                        <p:attrNameLst>
                                          <p:attrName>ppt_x</p:attrName>
                                        </p:attrNameLst>
                                      </p:cBhvr>
                                      <p:tavLst>
                                        <p:tav tm="0">
                                          <p:val>
                                            <p:strVal val="#ppt_x"/>
                                          </p:val>
                                        </p:tav>
                                        <p:tav tm="100000">
                                          <p:val>
                                            <p:strVal val="#ppt_x"/>
                                          </p:val>
                                        </p:tav>
                                      </p:tavLst>
                                    </p:anim>
                                    <p:anim calcmode="lin" valueType="num">
                                      <p:cBhvr>
                                        <p:cTn id="75" dur="950" decel="100000" fill="hold"/>
                                        <p:tgtEl>
                                          <p:spTgt spid="18"/>
                                        </p:tgtEl>
                                        <p:attrNameLst>
                                          <p:attrName>ppt_y</p:attrName>
                                        </p:attrNameLst>
                                      </p:cBhvr>
                                      <p:tavLst>
                                        <p:tav tm="0">
                                          <p:val>
                                            <p:strVal val="#ppt_y+0.022"/>
                                          </p:val>
                                        </p:tav>
                                        <p:tav tm="100000">
                                          <p:val>
                                            <p:strVal val="#ppt_y"/>
                                          </p:val>
                                        </p:tav>
                                      </p:tavLst>
                                    </p:anim>
                                  </p:childTnLst>
                                </p:cTn>
                              </p:par>
                              <p:par>
                                <p:cTn id="76" presetID="10" presetClass="entr" presetSubtype="0" fill="hold" grpId="0" nodeType="withEffect">
                                  <p:stCondLst>
                                    <p:cond delay="810"/>
                                  </p:stCondLst>
                                  <p:childTnLst>
                                    <p:set>
                                      <p:cBhvr>
                                        <p:cTn id="77" dur="1" fill="hold">
                                          <p:stCondLst>
                                            <p:cond delay="0"/>
                                          </p:stCondLst>
                                        </p:cTn>
                                        <p:tgtEl>
                                          <p:spTgt spid="28"/>
                                        </p:tgtEl>
                                        <p:attrNameLst>
                                          <p:attrName>style.visibility</p:attrName>
                                        </p:attrNameLst>
                                      </p:cBhvr>
                                      <p:to>
                                        <p:strVal val="visible"/>
                                      </p:to>
                                    </p:set>
                                    <p:animEffect transition="in" filter="fade">
                                      <p:cBhvr>
                                        <p:cTn id="78" dur="950"/>
                                        <p:tgtEl>
                                          <p:spTgt spid="28"/>
                                        </p:tgtEl>
                                      </p:cBhvr>
                                    </p:animEffect>
                                    <p:anim calcmode="lin" valueType="num">
                                      <p:cBhvr>
                                        <p:cTn id="79" dur="950" decel="100000" fill="hold"/>
                                        <p:tgtEl>
                                          <p:spTgt spid="28"/>
                                        </p:tgtEl>
                                        <p:attrNameLst>
                                          <p:attrName>ppt_x</p:attrName>
                                        </p:attrNameLst>
                                      </p:cBhvr>
                                      <p:tavLst>
                                        <p:tav tm="0">
                                          <p:val>
                                            <p:strVal val="#ppt_x"/>
                                          </p:val>
                                        </p:tav>
                                        <p:tav tm="100000">
                                          <p:val>
                                            <p:strVal val="#ppt_x"/>
                                          </p:val>
                                        </p:tav>
                                      </p:tavLst>
                                    </p:anim>
                                    <p:anim calcmode="lin" valueType="num">
                                      <p:cBhvr>
                                        <p:cTn id="80" dur="950" decel="100000" fill="hold"/>
                                        <p:tgtEl>
                                          <p:spTgt spid="28"/>
                                        </p:tgtEl>
                                        <p:attrNameLst>
                                          <p:attrName>ppt_y</p:attrName>
                                        </p:attrNameLst>
                                      </p:cBhvr>
                                      <p:tavLst>
                                        <p:tav tm="0">
                                          <p:val>
                                            <p:strVal val="#ppt_y+0.022"/>
                                          </p:val>
                                        </p:tav>
                                        <p:tav tm="100000">
                                          <p:val>
                                            <p:strVal val="#ppt_y"/>
                                          </p:val>
                                        </p:tav>
                                      </p:tavLst>
                                    </p:anim>
                                  </p:childTnLst>
                                </p:cTn>
                              </p:par>
                              <p:par>
                                <p:cTn id="81" presetID="22" presetClass="entr" presetSubtype="8" fill="hold" nodeType="withEffect">
                                  <p:stCondLst>
                                    <p:cond delay="810"/>
                                  </p:stCondLst>
                                  <p:childTnLst>
                                    <p:set>
                                      <p:cBhvr>
                                        <p:cTn id="82" dur="1" fill="hold">
                                          <p:stCondLst>
                                            <p:cond delay="0"/>
                                          </p:stCondLst>
                                        </p:cTn>
                                        <p:tgtEl>
                                          <p:spTgt spid="29"/>
                                        </p:tgtEl>
                                        <p:attrNameLst>
                                          <p:attrName>style.visibility</p:attrName>
                                        </p:attrNameLst>
                                      </p:cBhvr>
                                      <p:to>
                                        <p:strVal val="visible"/>
                                      </p:to>
                                    </p:set>
                                    <p:animEffect transition="in" filter="wipe(left)">
                                      <p:cBhvr>
                                        <p:cTn id="83" dur="1250" decel="100000"/>
                                        <p:tgtEl>
                                          <p:spTgt spid="29"/>
                                        </p:tgtEl>
                                      </p:cBhvr>
                                    </p:animEffect>
                                  </p:childTnLst>
                                </p:cTn>
                              </p:par>
                              <p:par>
                                <p:cTn id="84" presetID="22" presetClass="entr" presetSubtype="8" fill="hold" nodeType="withEffect">
                                  <p:stCondLst>
                                    <p:cond delay="920"/>
                                  </p:stCondLst>
                                  <p:childTnLst>
                                    <p:set>
                                      <p:cBhvr>
                                        <p:cTn id="85" dur="1" fill="hold">
                                          <p:stCondLst>
                                            <p:cond delay="0"/>
                                          </p:stCondLst>
                                        </p:cTn>
                                        <p:tgtEl>
                                          <p:spTgt spid="19"/>
                                        </p:tgtEl>
                                        <p:attrNameLst>
                                          <p:attrName>style.visibility</p:attrName>
                                        </p:attrNameLst>
                                      </p:cBhvr>
                                      <p:to>
                                        <p:strVal val="visible"/>
                                      </p:to>
                                    </p:set>
                                    <p:animEffect transition="in" filter="wipe(left)">
                                      <p:cBhvr>
                                        <p:cTn id="86" dur="1250" decel="100000"/>
                                        <p:tgtEl>
                                          <p:spTgt spid="19"/>
                                        </p:tgtEl>
                                      </p:cBhvr>
                                    </p:animEffect>
                                  </p:childTnLst>
                                </p:cTn>
                              </p:par>
                              <p:par>
                                <p:cTn id="87" presetID="10" presetClass="entr" presetSubtype="0" fill="hold" grpId="0" nodeType="withEffect">
                                  <p:stCondLst>
                                    <p:cond delay="920"/>
                                  </p:stCondLst>
                                  <p:childTnLst>
                                    <p:set>
                                      <p:cBhvr>
                                        <p:cTn id="88" dur="1" fill="hold">
                                          <p:stCondLst>
                                            <p:cond delay="0"/>
                                          </p:stCondLst>
                                        </p:cTn>
                                        <p:tgtEl>
                                          <p:spTgt spid="20"/>
                                        </p:tgtEl>
                                        <p:attrNameLst>
                                          <p:attrName>style.visibility</p:attrName>
                                        </p:attrNameLst>
                                      </p:cBhvr>
                                      <p:to>
                                        <p:strVal val="visible"/>
                                      </p:to>
                                    </p:set>
                                    <p:animEffect transition="in" filter="fade">
                                      <p:cBhvr>
                                        <p:cTn id="89" dur="950"/>
                                        <p:tgtEl>
                                          <p:spTgt spid="20"/>
                                        </p:tgtEl>
                                      </p:cBhvr>
                                    </p:animEffect>
                                    <p:anim calcmode="lin" valueType="num">
                                      <p:cBhvr>
                                        <p:cTn id="90" dur="950" decel="100000" fill="hold"/>
                                        <p:tgtEl>
                                          <p:spTgt spid="20"/>
                                        </p:tgtEl>
                                        <p:attrNameLst>
                                          <p:attrName>ppt_x</p:attrName>
                                        </p:attrNameLst>
                                      </p:cBhvr>
                                      <p:tavLst>
                                        <p:tav tm="0">
                                          <p:val>
                                            <p:strVal val="#ppt_x"/>
                                          </p:val>
                                        </p:tav>
                                        <p:tav tm="100000">
                                          <p:val>
                                            <p:strVal val="#ppt_x"/>
                                          </p:val>
                                        </p:tav>
                                      </p:tavLst>
                                    </p:anim>
                                    <p:anim calcmode="lin" valueType="num">
                                      <p:cBhvr>
                                        <p:cTn id="91" dur="950" decel="100000" fill="hold"/>
                                        <p:tgtEl>
                                          <p:spTgt spid="20"/>
                                        </p:tgtEl>
                                        <p:attrNameLst>
                                          <p:attrName>ppt_y</p:attrName>
                                        </p:attrNameLst>
                                      </p:cBhvr>
                                      <p:tavLst>
                                        <p:tav tm="0">
                                          <p:val>
                                            <p:strVal val="#ppt_y+0.022"/>
                                          </p:val>
                                        </p:tav>
                                        <p:tav tm="100000">
                                          <p:val>
                                            <p:strVal val="#ppt_y"/>
                                          </p:val>
                                        </p:tav>
                                      </p:tavLst>
                                    </p:anim>
                                  </p:childTnLst>
                                </p:cTn>
                              </p:par>
                              <p:par>
                                <p:cTn id="92" presetID="10" presetClass="entr" presetSubtype="0" fill="hold" grpId="0" nodeType="withEffect">
                                  <p:stCondLst>
                                    <p:cond delay="920"/>
                                  </p:stCondLst>
                                  <p:childTnLst>
                                    <p:set>
                                      <p:cBhvr>
                                        <p:cTn id="93" dur="1" fill="hold">
                                          <p:stCondLst>
                                            <p:cond delay="0"/>
                                          </p:stCondLst>
                                        </p:cTn>
                                        <p:tgtEl>
                                          <p:spTgt spid="30"/>
                                        </p:tgtEl>
                                        <p:attrNameLst>
                                          <p:attrName>style.visibility</p:attrName>
                                        </p:attrNameLst>
                                      </p:cBhvr>
                                      <p:to>
                                        <p:strVal val="visible"/>
                                      </p:to>
                                    </p:set>
                                    <p:animEffect transition="in" filter="fade">
                                      <p:cBhvr>
                                        <p:cTn id="94" dur="950"/>
                                        <p:tgtEl>
                                          <p:spTgt spid="30"/>
                                        </p:tgtEl>
                                      </p:cBhvr>
                                    </p:animEffect>
                                    <p:anim calcmode="lin" valueType="num">
                                      <p:cBhvr>
                                        <p:cTn id="95" dur="950" decel="100000" fill="hold"/>
                                        <p:tgtEl>
                                          <p:spTgt spid="30"/>
                                        </p:tgtEl>
                                        <p:attrNameLst>
                                          <p:attrName>ppt_x</p:attrName>
                                        </p:attrNameLst>
                                      </p:cBhvr>
                                      <p:tavLst>
                                        <p:tav tm="0">
                                          <p:val>
                                            <p:strVal val="#ppt_x"/>
                                          </p:val>
                                        </p:tav>
                                        <p:tav tm="100000">
                                          <p:val>
                                            <p:strVal val="#ppt_x"/>
                                          </p:val>
                                        </p:tav>
                                      </p:tavLst>
                                    </p:anim>
                                    <p:anim calcmode="lin" valueType="num">
                                      <p:cBhvr>
                                        <p:cTn id="96" dur="950" decel="100000" fill="hold"/>
                                        <p:tgtEl>
                                          <p:spTgt spid="30"/>
                                        </p:tgtEl>
                                        <p:attrNameLst>
                                          <p:attrName>ppt_y</p:attrName>
                                        </p:attrNameLst>
                                      </p:cBhvr>
                                      <p:tavLst>
                                        <p:tav tm="0">
                                          <p:val>
                                            <p:strVal val="#ppt_y+0.022"/>
                                          </p:val>
                                        </p:tav>
                                        <p:tav tm="100000">
                                          <p:val>
                                            <p:strVal val="#ppt_y"/>
                                          </p:val>
                                        </p:tav>
                                      </p:tavLst>
                                    </p:anim>
                                  </p:childTnLst>
                                </p:cTn>
                              </p:par>
                              <p:par>
                                <p:cTn id="97" presetID="22" presetClass="entr" presetSubtype="8" fill="hold" nodeType="withEffect">
                                  <p:stCondLst>
                                    <p:cond delay="920"/>
                                  </p:stCondLst>
                                  <p:childTnLst>
                                    <p:set>
                                      <p:cBhvr>
                                        <p:cTn id="98" dur="1" fill="hold">
                                          <p:stCondLst>
                                            <p:cond delay="0"/>
                                          </p:stCondLst>
                                        </p:cTn>
                                        <p:tgtEl>
                                          <p:spTgt spid="31"/>
                                        </p:tgtEl>
                                        <p:attrNameLst>
                                          <p:attrName>style.visibility</p:attrName>
                                        </p:attrNameLst>
                                      </p:cBhvr>
                                      <p:to>
                                        <p:strVal val="visible"/>
                                      </p:to>
                                    </p:set>
                                    <p:animEffect transition="in" filter="wipe(left)">
                                      <p:cBhvr>
                                        <p:cTn id="99" dur="1250" decel="100000"/>
                                        <p:tgtEl>
                                          <p:spTgt spid="31"/>
                                        </p:tgtEl>
                                      </p:cBhvr>
                                    </p:animEffect>
                                  </p:childTnLst>
                                </p:cTn>
                              </p:par>
                              <p:par>
                                <p:cTn id="100" presetID="22" presetClass="entr" presetSubtype="8" fill="hold" nodeType="withEffect">
                                  <p:stCondLst>
                                    <p:cond delay="1030"/>
                                  </p:stCondLst>
                                  <p:childTnLst>
                                    <p:set>
                                      <p:cBhvr>
                                        <p:cTn id="101" dur="1" fill="hold">
                                          <p:stCondLst>
                                            <p:cond delay="0"/>
                                          </p:stCondLst>
                                        </p:cTn>
                                        <p:tgtEl>
                                          <p:spTgt spid="21"/>
                                        </p:tgtEl>
                                        <p:attrNameLst>
                                          <p:attrName>style.visibility</p:attrName>
                                        </p:attrNameLst>
                                      </p:cBhvr>
                                      <p:to>
                                        <p:strVal val="visible"/>
                                      </p:to>
                                    </p:set>
                                    <p:animEffect transition="in" filter="wipe(left)">
                                      <p:cBhvr>
                                        <p:cTn id="102" dur="1250" decel="100000"/>
                                        <p:tgtEl>
                                          <p:spTgt spid="21"/>
                                        </p:tgtEl>
                                      </p:cBhvr>
                                    </p:animEffect>
                                  </p:childTnLst>
                                </p:cTn>
                              </p:par>
                              <p:par>
                                <p:cTn id="103" presetID="22" presetClass="entr" presetSubtype="8" fill="hold" nodeType="withEffect">
                                  <p:stCondLst>
                                    <p:cond delay="1030"/>
                                  </p:stCondLst>
                                  <p:childTnLst>
                                    <p:set>
                                      <p:cBhvr>
                                        <p:cTn id="104" dur="1" fill="hold">
                                          <p:stCondLst>
                                            <p:cond delay="0"/>
                                          </p:stCondLst>
                                        </p:cTn>
                                        <p:tgtEl>
                                          <p:spTgt spid="33"/>
                                        </p:tgtEl>
                                        <p:attrNameLst>
                                          <p:attrName>style.visibility</p:attrName>
                                        </p:attrNameLst>
                                      </p:cBhvr>
                                      <p:to>
                                        <p:strVal val="visible"/>
                                      </p:to>
                                    </p:set>
                                    <p:animEffect transition="in" filter="wipe(left)">
                                      <p:cBhvr>
                                        <p:cTn id="105" dur="1250" decel="100000"/>
                                        <p:tgtEl>
                                          <p:spTgt spid="33"/>
                                        </p:tgtEl>
                                      </p:cBhvr>
                                    </p:animEffect>
                                  </p:childTnLst>
                                </p:cTn>
                              </p:par>
                              <p:par>
                                <p:cTn id="106" presetID="10" presetClass="entr" presetSubtype="0" fill="hold" grpId="0" nodeType="withEffect">
                                  <p:stCondLst>
                                    <p:cond delay="1140"/>
                                  </p:stCondLst>
                                  <p:childTnLst>
                                    <p:set>
                                      <p:cBhvr>
                                        <p:cTn id="107" dur="1" fill="hold">
                                          <p:stCondLst>
                                            <p:cond delay="0"/>
                                          </p:stCondLst>
                                        </p:cTn>
                                        <p:tgtEl>
                                          <p:spTgt spid="32"/>
                                        </p:tgtEl>
                                        <p:attrNameLst>
                                          <p:attrName>style.visibility</p:attrName>
                                        </p:attrNameLst>
                                      </p:cBhvr>
                                      <p:to>
                                        <p:strVal val="visible"/>
                                      </p:to>
                                    </p:set>
                                    <p:animEffect transition="in" filter="fade">
                                      <p:cBhvr>
                                        <p:cTn id="108" dur="950"/>
                                        <p:tgtEl>
                                          <p:spTgt spid="32"/>
                                        </p:tgtEl>
                                      </p:cBhvr>
                                    </p:animEffect>
                                    <p:anim calcmode="lin" valueType="num">
                                      <p:cBhvr>
                                        <p:cTn id="109" dur="950" decel="100000" fill="hold"/>
                                        <p:tgtEl>
                                          <p:spTgt spid="32"/>
                                        </p:tgtEl>
                                        <p:attrNameLst>
                                          <p:attrName>ppt_x</p:attrName>
                                        </p:attrNameLst>
                                      </p:cBhvr>
                                      <p:tavLst>
                                        <p:tav tm="0">
                                          <p:val>
                                            <p:strVal val="#ppt_x"/>
                                          </p:val>
                                        </p:tav>
                                        <p:tav tm="100000">
                                          <p:val>
                                            <p:strVal val="#ppt_x"/>
                                          </p:val>
                                        </p:tav>
                                      </p:tavLst>
                                    </p:anim>
                                    <p:anim calcmode="lin" valueType="num">
                                      <p:cBhvr>
                                        <p:cTn id="110" dur="950" decel="100000" fill="hold"/>
                                        <p:tgtEl>
                                          <p:spTgt spid="32"/>
                                        </p:tgtEl>
                                        <p:attrNameLst>
                                          <p:attrName>ppt_y</p:attrName>
                                        </p:attrNameLst>
                                      </p:cBhvr>
                                      <p:tavLst>
                                        <p:tav tm="0">
                                          <p:val>
                                            <p:strVal val="#ppt_y+0.02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4" grpId="0" animBg="1"/>
      <p:bldP spid="16" grpId="0" animBg="1"/>
      <p:bldP spid="18" grpId="0" animBg="1"/>
      <p:bldP spid="20" grpId="0" animBg="1"/>
      <p:bldP spid="22" grpId="0" animBg="1"/>
      <p:bldP spid="24" grpId="0" animBg="1"/>
      <p:bldP spid="26" grpId="0" animBg="1"/>
      <p:bldP spid="28" grpId="0" animBg="1"/>
      <p:bldP spid="30" grpId="0" animBg="1"/>
      <p:bldP spid="3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EAE1"/>
        </a:solidFill>
        <a:effectLst/>
      </p:bgPr>
    </p:bg>
    <p:spTree>
      <p:nvGrpSpPr>
        <p:cNvPr id="1" name=""/>
        <p:cNvGrpSpPr/>
        <p:nvPr/>
      </p:nvGrpSpPr>
      <p:grpSpPr>
        <a:xfrm>
          <a:off x="0" y="0"/>
          <a:ext cx="0" cy="0"/>
          <a:chOff x="0" y="0"/>
          <a:chExt cx="0" cy="0"/>
        </a:xfrm>
      </p:grpSpPr>
      <p:pic>
        <p:nvPicPr>
          <p:cNvPr id="2" name="!!Photo" descr="E:/Matter Of Place/Matter Of Place Codebase/src/assets/brooklyn.jpg"/>
          <p:cNvPicPr>
            <a:picLocks noChangeAspect="1"/>
          </p:cNvPicPr>
          <p:nvPr/>
        </p:nvPicPr>
        <p:blipFill>
          <a:blip r:embed="rId3"/>
          <a:srcRect l="26614" r="26614"/>
          <a:stretch/>
        </p:blipFill>
        <p:spPr>
          <a:xfrm>
            <a:off x="0" y="0"/>
            <a:ext cx="4480560" cy="6858000"/>
          </a:xfrm>
          <a:prstGeom prst="rect">
            <a:avLst/>
          </a:prstGeom>
        </p:spPr>
      </p:pic>
      <p:sp>
        <p:nvSpPr>
          <p:cNvPr id="3" name="!!Agenda">
            <a:hlinkClick r:id="" action="ppaction://noaction"/>
          </p:cNvPr>
          <p:cNvSpPr/>
          <p:nvPr/>
        </p:nvSpPr>
        <p:spPr>
          <a:xfrm>
            <a:off x="10362895" y="381000"/>
            <a:ext cx="1097280" cy="228600"/>
          </a:xfrm>
          <a:prstGeom prst="rect">
            <a:avLst/>
          </a:prstGeom>
          <a:noFill/>
          <a:ln/>
        </p:spPr>
        <p:txBody>
          <a:bodyPr wrap="square" lIns="0" tIns="0" rIns="0" bIns="0" rtlCol="0" anchor="ctr"/>
          <a:lstStyle/>
          <a:p>
            <a:pPr marL="0" indent="0" algn="r">
              <a:buNone/>
            </a:pPr>
            <a:r>
              <a:rPr lang="en-US" sz="1000" u="sng" kern="0" spc="250" dirty="0">
                <a:solidFill>
                  <a:srgbClr val="11110F"/>
                </a:solidFill>
                <a:latin typeface="Jost" pitchFamily="34" charset="0"/>
                <a:ea typeface="Jost" pitchFamily="34" charset="-122"/>
                <a:cs typeface="Jost" pitchFamily="34" charset="-120"/>
                <a:hlinkClick r:id="" action="ppaction://noaction">
                  <a:extLst>
                    <a:ext uri="{A12FA001-AC4F-418D-AE19-62706E023703}">
                      <ahyp:hlinkClr xmlns:ahyp="http://schemas.microsoft.com/office/drawing/2018/hyperlinkcolor" val="tx"/>
                    </a:ext>
                  </a:extLst>
                </a:hlinkClick>
              </a:rPr>
              <a:t>Agenda</a:t>
            </a:r>
            <a:endParaRPr lang="en-US" sz="1000" dirty="0"/>
          </a:p>
        </p:txBody>
      </p:sp>
      <p:sp>
        <p:nvSpPr>
          <p:cNvPr id="4" name="!!Footer"/>
          <p:cNvSpPr/>
          <p:nvPr/>
        </p:nvSpPr>
        <p:spPr>
          <a:xfrm>
            <a:off x="5212080" y="6172200"/>
            <a:ext cx="4572000" cy="228600"/>
          </a:xfrm>
          <a:prstGeom prst="rect">
            <a:avLst/>
          </a:prstGeom>
          <a:noFill/>
          <a:ln/>
        </p:spPr>
        <p:txBody>
          <a:bodyPr wrap="square" lIns="0" tIns="0" rIns="0" bIns="0" rtlCol="0" anchor="ctr"/>
          <a:lstStyle/>
          <a:p>
            <a:pPr marL="0" indent="0">
              <a:buNone/>
            </a:pPr>
            <a:r>
              <a:rPr lang="en-US" sz="900" kern="0" spc="250" dirty="0">
                <a:solidFill>
                  <a:srgbClr val="5E5A54"/>
                </a:solidFill>
                <a:latin typeface="Jost" pitchFamily="34" charset="0"/>
                <a:ea typeface="Jost" pitchFamily="34" charset="-122"/>
                <a:cs typeface="Jost" pitchFamily="34" charset="-120"/>
              </a:rPr>
              <a:t>MATTER OF PLACE  ·  FOR PARTNERS</a:t>
            </a:r>
            <a:endParaRPr lang="en-US" sz="900" dirty="0"/>
          </a:p>
        </p:txBody>
      </p:sp>
      <p:sp>
        <p:nvSpPr>
          <p:cNvPr id="5" name="!!Page"/>
          <p:cNvSpPr/>
          <p:nvPr/>
        </p:nvSpPr>
        <p:spPr>
          <a:xfrm>
            <a:off x="10362895" y="6172200"/>
            <a:ext cx="1097280" cy="228600"/>
          </a:xfrm>
          <a:prstGeom prst="rect">
            <a:avLst/>
          </a:prstGeom>
          <a:noFill/>
          <a:ln/>
        </p:spPr>
        <p:txBody>
          <a:bodyPr wrap="square" lIns="0" tIns="0" rIns="0" bIns="0" rtlCol="0" anchor="ctr"/>
          <a:lstStyle/>
          <a:p>
            <a:pPr marL="0" indent="0" algn="r">
              <a:buNone/>
            </a:pPr>
            <a:r>
              <a:rPr lang="en-US" sz="900" kern="0" spc="250" dirty="0">
                <a:solidFill>
                  <a:srgbClr val="5E5A54"/>
                </a:solidFill>
                <a:latin typeface="Jost" pitchFamily="34" charset="0"/>
                <a:ea typeface="Jost" pitchFamily="34" charset="-122"/>
                <a:cs typeface="Jost" pitchFamily="34" charset="-120"/>
              </a:rPr>
              <a:t>09 / 14</a:t>
            </a:r>
            <a:endParaRPr lang="en-US" sz="900" dirty="0"/>
          </a:p>
        </p:txBody>
      </p:sp>
      <p:sp>
        <p:nvSpPr>
          <p:cNvPr id="6" name="!!Eyebrow"/>
          <p:cNvSpPr/>
          <p:nvPr/>
        </p:nvSpPr>
        <p:spPr>
          <a:xfrm>
            <a:off x="5212080" y="868680"/>
            <a:ext cx="5486400" cy="274320"/>
          </a:xfrm>
          <a:prstGeom prst="rect">
            <a:avLst/>
          </a:prstGeom>
          <a:noFill/>
          <a:ln/>
        </p:spPr>
        <p:txBody>
          <a:bodyPr wrap="square" lIns="0" tIns="0" rIns="0" bIns="0" rtlCol="0" anchor="ctr"/>
          <a:lstStyle/>
          <a:p>
            <a:pPr marL="0" indent="0">
              <a:buNone/>
            </a:pPr>
            <a:r>
              <a:rPr lang="en-US" sz="1050" kern="0" spc="300" dirty="0">
                <a:solidFill>
                  <a:srgbClr val="575751"/>
                </a:solidFill>
                <a:latin typeface="Jost" pitchFamily="34" charset="0"/>
                <a:ea typeface="Jost" pitchFamily="34" charset="-122"/>
                <a:cs typeface="Jost" pitchFamily="34" charset="-120"/>
              </a:rPr>
              <a:t>PROPERTY EXPOSURE</a:t>
            </a:r>
            <a:endParaRPr lang="en-US" sz="1050" dirty="0"/>
          </a:p>
        </p:txBody>
      </p:sp>
      <p:sp>
        <p:nvSpPr>
          <p:cNvPr id="7" name="!!Title"/>
          <p:cNvSpPr/>
          <p:nvPr/>
        </p:nvSpPr>
        <p:spPr>
          <a:xfrm>
            <a:off x="5207000" y="1193800"/>
            <a:ext cx="4318000" cy="711200"/>
          </a:xfrm>
          <a:prstGeom prst="rect">
            <a:avLst/>
          </a:prstGeom>
          <a:noFill/>
          <a:ln/>
        </p:spPr>
        <p:txBody>
          <a:bodyPr wrap="square" lIns="0" tIns="0" rIns="0" bIns="0" rtlCol="0" anchor="t"/>
          <a:lstStyle/>
          <a:p>
            <a:pPr marL="0" indent="0">
              <a:buNone/>
            </a:pPr>
            <a:r>
              <a:rPr lang="en-US" sz="3800" dirty="0">
                <a:solidFill>
                  <a:srgbClr val="11110F"/>
                </a:solidFill>
                <a:latin typeface="Cormorant Garamond" pitchFamily="34" charset="0"/>
                <a:ea typeface="Cormorant Garamond" pitchFamily="34" charset="-122"/>
                <a:cs typeface="Cormorant Garamond" pitchFamily="34" charset="-120"/>
              </a:rPr>
              <a:t>Five Features</a:t>
            </a:r>
            <a:endParaRPr lang="en-US" sz="3800" dirty="0"/>
          </a:p>
        </p:txBody>
      </p:sp>
      <p:sp>
        <p:nvSpPr>
          <p:cNvPr id="8" name="s9-8"/>
          <p:cNvSpPr/>
          <p:nvPr/>
        </p:nvSpPr>
        <p:spPr>
          <a:xfrm>
            <a:off x="9550400" y="1193800"/>
            <a:ext cx="1905000" cy="711200"/>
          </a:xfrm>
          <a:prstGeom prst="rect">
            <a:avLst/>
          </a:prstGeom>
          <a:noFill/>
          <a:ln/>
        </p:spPr>
        <p:txBody>
          <a:bodyPr wrap="square" lIns="0" tIns="0" rIns="0" bIns="0" rtlCol="0" anchor="t"/>
          <a:lstStyle/>
          <a:p>
            <a:pPr marL="0" indent="0" algn="r">
              <a:buNone/>
            </a:pPr>
            <a:r>
              <a:rPr lang="en-US" sz="3200" dirty="0">
                <a:solidFill>
                  <a:srgbClr val="11110F"/>
                </a:solidFill>
                <a:latin typeface="Cormorant Garamond" pitchFamily="34" charset="0"/>
                <a:ea typeface="Cormorant Garamond" pitchFamily="34" charset="-122"/>
                <a:cs typeface="Cormorant Garamond" pitchFamily="34" charset="-120"/>
              </a:rPr>
              <a:t>$1,250</a:t>
            </a:r>
            <a:endParaRPr lang="en-US" sz="3200" dirty="0"/>
          </a:p>
        </p:txBody>
      </p:sp>
      <p:sp>
        <p:nvSpPr>
          <p:cNvPr id="9" name="s9-9"/>
          <p:cNvSpPr/>
          <p:nvPr/>
        </p:nvSpPr>
        <p:spPr>
          <a:xfrm>
            <a:off x="5207000" y="1930400"/>
            <a:ext cx="6248400" cy="381000"/>
          </a:xfrm>
          <a:prstGeom prst="rect">
            <a:avLst/>
          </a:prstGeom>
          <a:noFill/>
          <a:ln/>
        </p:spPr>
        <p:txBody>
          <a:bodyPr wrap="square" lIns="0" tIns="0" rIns="0" bIns="0" rtlCol="0" anchor="t"/>
          <a:lstStyle/>
          <a:p>
            <a:pPr marL="0" indent="0">
              <a:buNone/>
            </a:pPr>
            <a:r>
              <a:rPr lang="en-US" sz="1500" i="1" dirty="0">
                <a:solidFill>
                  <a:srgbClr val="575751"/>
                </a:solidFill>
                <a:latin typeface="Cormorant Garamond" pitchFamily="34" charset="0"/>
                <a:ea typeface="Cormorant Garamond" pitchFamily="34" charset="-122"/>
                <a:cs typeface="Cormorant Garamond" pitchFamily="34" charset="-120"/>
              </a:rPr>
              <a:t>For agents, teams and brokerages with several qualifying properties.</a:t>
            </a:r>
            <a:endParaRPr lang="en-US" sz="1500" dirty="0"/>
          </a:p>
        </p:txBody>
      </p:sp>
      <p:sp>
        <p:nvSpPr>
          <p:cNvPr id="10" name="s9-10"/>
          <p:cNvSpPr/>
          <p:nvPr/>
        </p:nvSpPr>
        <p:spPr>
          <a:xfrm>
            <a:off x="5207000" y="2336800"/>
            <a:ext cx="6248400" cy="304800"/>
          </a:xfrm>
          <a:prstGeom prst="rect">
            <a:avLst/>
          </a:prstGeom>
          <a:noFill/>
          <a:ln/>
        </p:spPr>
        <p:txBody>
          <a:bodyPr wrap="square" lIns="0" tIns="0" rIns="0" bIns="0" rtlCol="0" anchor="ctr"/>
          <a:lstStyle/>
          <a:p>
            <a:pPr marL="0" indent="0">
              <a:buNone/>
            </a:pPr>
            <a:r>
              <a:rPr lang="en-US" sz="1400" kern="0" spc="50" dirty="0">
                <a:solidFill>
                  <a:srgbClr val="575751"/>
                </a:solidFill>
                <a:latin typeface="Jost" pitchFamily="34" charset="0"/>
                <a:ea typeface="Jost" pitchFamily="34" charset="-122"/>
                <a:cs typeface="Jost" pitchFamily="34" charset="-120"/>
              </a:rPr>
              <a:t>$250 per property</a:t>
            </a:r>
            <a:endParaRPr lang="en-US" sz="1300" dirty="0"/>
          </a:p>
        </p:txBody>
      </p:sp>
      <p:sp>
        <p:nvSpPr>
          <p:cNvPr id="25" name="s9-25"/>
          <p:cNvSpPr/>
          <p:nvPr/>
        </p:nvSpPr>
        <p:spPr>
          <a:xfrm>
            <a:off x="8483600" y="4902200"/>
            <a:ext cx="2971800" cy="0"/>
          </a:xfrm>
          <a:prstGeom prst="line">
            <a:avLst/>
          </a:prstGeom>
          <a:noFill/>
          <a:ln w="9525">
            <a:solidFill>
              <a:srgbClr val="C9C0B2"/>
            </a:solidFill>
            <a:prstDash val="solid"/>
          </a:ln>
        </p:spPr>
      </p:sp>
      <p:sp>
        <p:nvSpPr>
          <p:cNvPr id="11" name="s9-11"/>
          <p:cNvSpPr/>
          <p:nvPr/>
        </p:nvSpPr>
        <p:spPr>
          <a:xfrm>
            <a:off x="5207000" y="2844800"/>
            <a:ext cx="2971800" cy="0"/>
          </a:xfrm>
          <a:prstGeom prst="line">
            <a:avLst/>
          </a:prstGeom>
          <a:noFill/>
          <a:ln w="9525">
            <a:solidFill>
              <a:srgbClr val="C9C0B2"/>
            </a:solidFill>
            <a:prstDash val="solid"/>
          </a:ln>
        </p:spPr>
      </p:sp>
      <p:sp>
        <p:nvSpPr>
          <p:cNvPr id="12" name="s9-12"/>
          <p:cNvSpPr/>
          <p:nvPr/>
        </p:nvSpPr>
        <p:spPr>
          <a:xfrm>
            <a:off x="5207000" y="2844800"/>
            <a:ext cx="2971800" cy="685800"/>
          </a:xfrm>
          <a:prstGeom prst="rect">
            <a:avLst/>
          </a:prstGeom>
          <a:noFill/>
          <a:ln/>
        </p:spPr>
        <p:txBody>
          <a:bodyPr wrap="square" lIns="0" tIns="0" rIns="0" bIns="0" rtlCol="0" anchor="ctr"/>
          <a:lstStyle/>
          <a:p>
            <a:pPr marL="0" indent="0">
              <a:buNone/>
            </a:pPr>
            <a:r>
              <a:rPr lang="en-US" sz="1500" dirty="0">
                <a:solidFill>
                  <a:srgbClr val="11110F"/>
                </a:solidFill>
                <a:latin typeface="Jost" pitchFamily="34" charset="0"/>
                <a:ea typeface="Jost" pitchFamily="34" charset="-122"/>
                <a:cs typeface="Jost" pitchFamily="34" charset="-120"/>
              </a:rPr>
              <a:t>Five Feature credits</a:t>
            </a:r>
            <a:endParaRPr lang="en-US" sz="1500" dirty="0"/>
          </a:p>
        </p:txBody>
      </p:sp>
      <p:sp>
        <p:nvSpPr>
          <p:cNvPr id="13" name="s9-13"/>
          <p:cNvSpPr/>
          <p:nvPr/>
        </p:nvSpPr>
        <p:spPr>
          <a:xfrm>
            <a:off x="5207000" y="3530600"/>
            <a:ext cx="2971800" cy="0"/>
          </a:xfrm>
          <a:prstGeom prst="line">
            <a:avLst/>
          </a:prstGeom>
          <a:noFill/>
          <a:ln w="9525">
            <a:solidFill>
              <a:srgbClr val="C9C0B2"/>
            </a:solidFill>
            <a:prstDash val="solid"/>
          </a:ln>
        </p:spPr>
      </p:sp>
      <p:sp>
        <p:nvSpPr>
          <p:cNvPr id="14" name="s9-14"/>
          <p:cNvSpPr/>
          <p:nvPr/>
        </p:nvSpPr>
        <p:spPr>
          <a:xfrm>
            <a:off x="5207000" y="3530600"/>
            <a:ext cx="2971800" cy="685800"/>
          </a:xfrm>
          <a:prstGeom prst="rect">
            <a:avLst/>
          </a:prstGeom>
          <a:noFill/>
          <a:ln/>
        </p:spPr>
        <p:txBody>
          <a:bodyPr wrap="square" lIns="0" tIns="0" rIns="0" bIns="0" rtlCol="0" anchor="ctr"/>
          <a:lstStyle/>
          <a:p>
            <a:pPr marL="0" indent="0">
              <a:buNone/>
            </a:pPr>
            <a:r>
              <a:rPr lang="en-US" sz="1500" dirty="0">
                <a:solidFill>
                  <a:srgbClr val="11110F"/>
                </a:solidFill>
                <a:latin typeface="Jost" pitchFamily="34" charset="0"/>
                <a:ea typeface="Jost" pitchFamily="34" charset="-122"/>
                <a:cs typeface="Jost" pitchFamily="34" charset="-120"/>
              </a:rPr>
              <a:t>No expiration during the initial launch period</a:t>
            </a:r>
            <a:endParaRPr lang="en-US" sz="1500" dirty="0"/>
          </a:p>
        </p:txBody>
      </p:sp>
      <p:sp>
        <p:nvSpPr>
          <p:cNvPr id="15" name="s9-15"/>
          <p:cNvSpPr/>
          <p:nvPr/>
        </p:nvSpPr>
        <p:spPr>
          <a:xfrm>
            <a:off x="5207000" y="4216400"/>
            <a:ext cx="2971800" cy="0"/>
          </a:xfrm>
          <a:prstGeom prst="line">
            <a:avLst/>
          </a:prstGeom>
          <a:noFill/>
          <a:ln w="9525">
            <a:solidFill>
              <a:srgbClr val="C9C0B2"/>
            </a:solidFill>
            <a:prstDash val="solid"/>
          </a:ln>
        </p:spPr>
      </p:sp>
      <p:sp>
        <p:nvSpPr>
          <p:cNvPr id="16" name="s9-16"/>
          <p:cNvSpPr/>
          <p:nvPr/>
        </p:nvSpPr>
        <p:spPr>
          <a:xfrm>
            <a:off x="5207000" y="4216400"/>
            <a:ext cx="2971800" cy="685800"/>
          </a:xfrm>
          <a:prstGeom prst="rect">
            <a:avLst/>
          </a:prstGeom>
          <a:noFill/>
          <a:ln/>
        </p:spPr>
        <p:txBody>
          <a:bodyPr wrap="square" lIns="0" tIns="0" rIns="0" bIns="0" rtlCol="0" anchor="ctr"/>
          <a:lstStyle/>
          <a:p>
            <a:pPr marL="0" indent="0">
              <a:buNone/>
            </a:pPr>
            <a:r>
              <a:rPr lang="en-US" sz="1500" dirty="0">
                <a:solidFill>
                  <a:srgbClr val="11110F"/>
                </a:solidFill>
                <a:latin typeface="Jost" pitchFamily="34" charset="0"/>
                <a:ea typeface="Jost" pitchFamily="34" charset="-122"/>
                <a:cs typeface="Jost" pitchFamily="34" charset="-120"/>
              </a:rPr>
              <a:t>Submit properties individually</a:t>
            </a:r>
            <a:endParaRPr lang="en-US" sz="1500" dirty="0"/>
          </a:p>
        </p:txBody>
      </p:sp>
      <p:sp>
        <p:nvSpPr>
          <p:cNvPr id="17" name="s9-17"/>
          <p:cNvSpPr/>
          <p:nvPr/>
        </p:nvSpPr>
        <p:spPr>
          <a:xfrm>
            <a:off x="5207000" y="4902200"/>
            <a:ext cx="2971800" cy="0"/>
          </a:xfrm>
          <a:prstGeom prst="line">
            <a:avLst/>
          </a:prstGeom>
          <a:noFill/>
          <a:ln w="9525">
            <a:solidFill>
              <a:srgbClr val="C9C0B2"/>
            </a:solidFill>
            <a:prstDash val="solid"/>
          </a:ln>
        </p:spPr>
      </p:sp>
      <p:sp>
        <p:nvSpPr>
          <p:cNvPr id="18" name="s9-18"/>
          <p:cNvSpPr/>
          <p:nvPr/>
        </p:nvSpPr>
        <p:spPr>
          <a:xfrm>
            <a:off x="8483600" y="2844800"/>
            <a:ext cx="2971800" cy="685800"/>
          </a:xfrm>
          <a:prstGeom prst="rect">
            <a:avLst/>
          </a:prstGeom>
          <a:noFill/>
          <a:ln/>
        </p:spPr>
        <p:txBody>
          <a:bodyPr wrap="square" lIns="0" tIns="0" rIns="0" bIns="0" rtlCol="0" anchor="ctr"/>
          <a:lstStyle/>
          <a:p>
            <a:pPr marL="0" indent="0">
              <a:buNone/>
            </a:pPr>
            <a:r>
              <a:rPr lang="en-US" sz="1500" dirty="0">
                <a:solidFill>
                  <a:srgbClr val="11110F"/>
                </a:solidFill>
                <a:latin typeface="Jost" pitchFamily="34" charset="0"/>
                <a:ea typeface="Jost" pitchFamily="34" charset="-122"/>
                <a:cs typeface="Jost" pitchFamily="34" charset="-120"/>
              </a:rPr>
              <a:t>Every property remains subject to editorial approval</a:t>
            </a:r>
            <a:endParaRPr lang="en-US" sz="1500" dirty="0"/>
          </a:p>
        </p:txBody>
      </p:sp>
      <p:sp>
        <p:nvSpPr>
          <p:cNvPr id="19" name="s9-19"/>
          <p:cNvSpPr/>
          <p:nvPr/>
        </p:nvSpPr>
        <p:spPr>
          <a:xfrm>
            <a:off x="8483600" y="2844800"/>
            <a:ext cx="2971800" cy="0"/>
          </a:xfrm>
          <a:prstGeom prst="line">
            <a:avLst/>
          </a:prstGeom>
          <a:noFill/>
          <a:ln w="9525">
            <a:solidFill>
              <a:srgbClr val="C9C0B2"/>
            </a:solidFill>
            <a:prstDash val="solid"/>
          </a:ln>
        </p:spPr>
      </p:sp>
      <p:sp>
        <p:nvSpPr>
          <p:cNvPr id="20" name="s9-20"/>
          <p:cNvSpPr/>
          <p:nvPr/>
        </p:nvSpPr>
        <p:spPr>
          <a:xfrm>
            <a:off x="8483600" y="3530600"/>
            <a:ext cx="2971800" cy="685800"/>
          </a:xfrm>
          <a:prstGeom prst="rect">
            <a:avLst/>
          </a:prstGeom>
          <a:noFill/>
          <a:ln/>
        </p:spPr>
        <p:txBody>
          <a:bodyPr wrap="square" lIns="0" tIns="0" rIns="0" bIns="0" rtlCol="0" anchor="ctr"/>
          <a:lstStyle/>
          <a:p>
            <a:pPr marL="0" indent="0">
              <a:buNone/>
            </a:pPr>
            <a:r>
              <a:rPr lang="en-US" sz="1500" dirty="0">
                <a:solidFill>
                  <a:srgbClr val="11110F"/>
                </a:solidFill>
                <a:latin typeface="Jost" pitchFamily="34" charset="0"/>
                <a:ea typeface="Jost" pitchFamily="34" charset="-122"/>
                <a:cs typeface="Jost" pitchFamily="34" charset="-120"/>
              </a:rPr>
              <a:t>Declined properties do not use a credit</a:t>
            </a:r>
            <a:endParaRPr lang="en-US" sz="1500" dirty="0"/>
          </a:p>
        </p:txBody>
      </p:sp>
      <p:sp>
        <p:nvSpPr>
          <p:cNvPr id="21" name="s9-21"/>
          <p:cNvSpPr/>
          <p:nvPr/>
        </p:nvSpPr>
        <p:spPr>
          <a:xfrm>
            <a:off x="8483600" y="3530600"/>
            <a:ext cx="2971800" cy="0"/>
          </a:xfrm>
          <a:prstGeom prst="line">
            <a:avLst/>
          </a:prstGeom>
          <a:noFill/>
          <a:ln w="9525">
            <a:solidFill>
              <a:srgbClr val="C9C0B2"/>
            </a:solidFill>
            <a:prstDash val="solid"/>
          </a:ln>
        </p:spPr>
      </p:sp>
      <p:sp>
        <p:nvSpPr>
          <p:cNvPr id="22" name="s9-22"/>
          <p:cNvSpPr/>
          <p:nvPr/>
        </p:nvSpPr>
        <p:spPr>
          <a:xfrm>
            <a:off x="8483600" y="4216400"/>
            <a:ext cx="2971800" cy="685800"/>
          </a:xfrm>
          <a:prstGeom prst="rect">
            <a:avLst/>
          </a:prstGeom>
          <a:noFill/>
          <a:ln/>
        </p:spPr>
        <p:txBody>
          <a:bodyPr wrap="square" lIns="0" tIns="0" rIns="0" bIns="0" rtlCol="0" anchor="ctr"/>
          <a:lstStyle/>
          <a:p>
            <a:pPr marL="0" indent="0">
              <a:buNone/>
            </a:pPr>
            <a:r>
              <a:rPr lang="en-US" sz="1500" dirty="0">
                <a:solidFill>
                  <a:srgbClr val="11110F"/>
                </a:solidFill>
                <a:latin typeface="Jost" pitchFamily="34" charset="0"/>
                <a:ea typeface="Jost" pitchFamily="34" charset="-122"/>
                <a:cs typeface="Jost" pitchFamily="34" charset="-120"/>
              </a:rPr>
              <a:t>Distribution upgrades available per property</a:t>
            </a:r>
            <a:endParaRPr lang="en-US" sz="1500" dirty="0"/>
          </a:p>
        </p:txBody>
      </p:sp>
      <p:sp>
        <p:nvSpPr>
          <p:cNvPr id="23" name="s9-23"/>
          <p:cNvSpPr/>
          <p:nvPr/>
        </p:nvSpPr>
        <p:spPr>
          <a:xfrm>
            <a:off x="8483600" y="4216400"/>
            <a:ext cx="2971800" cy="0"/>
          </a:xfrm>
          <a:prstGeom prst="line">
            <a:avLst/>
          </a:prstGeom>
          <a:noFill/>
          <a:ln w="9525">
            <a:solidFill>
              <a:srgbClr val="C9C0B2"/>
            </a:solidFill>
            <a:prstDash val="solid"/>
          </a:ln>
        </p:spPr>
      </p:sp>
      <p:sp>
        <p:nvSpPr>
          <p:cNvPr id="24" name="s9-24">
            <a:hlinkClick r:id="rId4" tooltip="matterofplace.com/submit"/>
          </p:cNvPr>
          <p:cNvSpPr/>
          <p:nvPr/>
        </p:nvSpPr>
        <p:spPr>
          <a:xfrm>
            <a:off x="5207000" y="5283200"/>
            <a:ext cx="2743200" cy="279400"/>
          </a:xfrm>
          <a:prstGeom prst="rect">
            <a:avLst/>
          </a:prstGeom>
          <a:noFill/>
          <a:ln/>
        </p:spPr>
        <p:txBody>
          <a:bodyPr wrap="square" lIns="0" tIns="0" rIns="0" bIns="0" rtlCol="0" anchor="ctr"/>
          <a:lstStyle/>
          <a:p>
            <a:pPr marL="0" indent="0">
              <a:buNone/>
            </a:pPr>
            <a:r>
              <a:rPr lang="en-US" sz="1100" u="sng" kern="0" spc="250" dirty="0">
                <a:solidFill>
                  <a:srgbClr val="11110F"/>
                </a:solidFill>
                <a:latin typeface="Jost" pitchFamily="34" charset="0"/>
                <a:ea typeface="Jost" pitchFamily="34" charset="-122"/>
                <a:cs typeface="Jost" pitchFamily="34" charset="-120"/>
                <a:hlinkClick r:id="rId4" tooltip="matterofplace.com/submit">
                  <a:extLst>
                    <a:ext uri="{A12FA001-AC4F-418D-AE19-62706E023703}">
                      <ahyp:hlinkClr xmlns:ahyp="http://schemas.microsoft.com/office/drawing/2018/hyperlinkcolor" val="tx"/>
                    </a:ext>
                  </a:extLst>
                </a:hlinkClick>
              </a:rPr>
              <a:t>Secure Five Features</a:t>
            </a:r>
            <a:endParaRPr lang="en-US" sz="1100" dirty="0"/>
          </a:p>
        </p:txBody>
      </p:sp>
    </p:spTree>
    <p:extLst>
      <p:ext uri="{BB962C8B-B14F-4D97-AF65-F5344CB8AC3E}">
        <p14:creationId xmlns:p14="http://schemas.microsoft.com/office/powerpoint/2010/main" val="122688712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950"/>
                                        <p:tgtEl>
                                          <p:spTgt spid="8"/>
                                        </p:tgtEl>
                                      </p:cBhvr>
                                    </p:animEffect>
                                    <p:anim calcmode="lin" valueType="num">
                                      <p:cBhvr>
                                        <p:cTn id="8" dur="950" decel="100000" fill="hold"/>
                                        <p:tgtEl>
                                          <p:spTgt spid="8"/>
                                        </p:tgtEl>
                                        <p:attrNameLst>
                                          <p:attrName>ppt_x</p:attrName>
                                        </p:attrNameLst>
                                      </p:cBhvr>
                                      <p:tavLst>
                                        <p:tav tm="0">
                                          <p:val>
                                            <p:strVal val="#ppt_x"/>
                                          </p:val>
                                        </p:tav>
                                        <p:tav tm="100000">
                                          <p:val>
                                            <p:strVal val="#ppt_x"/>
                                          </p:val>
                                        </p:tav>
                                      </p:tavLst>
                                    </p:anim>
                                    <p:anim calcmode="lin" valueType="num">
                                      <p:cBhvr>
                                        <p:cTn id="9" dur="950" decel="100000" fill="hold"/>
                                        <p:tgtEl>
                                          <p:spTgt spid="8"/>
                                        </p:tgtEl>
                                        <p:attrNameLst>
                                          <p:attrName>ppt_y</p:attrName>
                                        </p:attrNameLst>
                                      </p:cBhvr>
                                      <p:tavLst>
                                        <p:tav tm="0">
                                          <p:val>
                                            <p:strVal val="#ppt_y+0.022"/>
                                          </p:val>
                                        </p:tav>
                                        <p:tav tm="100000">
                                          <p:val>
                                            <p:strVal val="#ppt_y"/>
                                          </p:val>
                                        </p:tav>
                                      </p:tavLst>
                                    </p:anim>
                                  </p:childTnLst>
                                </p:cTn>
                              </p:par>
                              <p:par>
                                <p:cTn id="10" presetID="10" presetClass="entr" presetSubtype="0" fill="hold" grpId="0" nodeType="withEffect">
                                  <p:stCondLst>
                                    <p:cond delay="26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950"/>
                                        <p:tgtEl>
                                          <p:spTgt spid="9"/>
                                        </p:tgtEl>
                                      </p:cBhvr>
                                    </p:animEffect>
                                    <p:anim calcmode="lin" valueType="num">
                                      <p:cBhvr>
                                        <p:cTn id="13" dur="950" decel="100000" fill="hold"/>
                                        <p:tgtEl>
                                          <p:spTgt spid="9"/>
                                        </p:tgtEl>
                                        <p:attrNameLst>
                                          <p:attrName>ppt_x</p:attrName>
                                        </p:attrNameLst>
                                      </p:cBhvr>
                                      <p:tavLst>
                                        <p:tav tm="0">
                                          <p:val>
                                            <p:strVal val="#ppt_x"/>
                                          </p:val>
                                        </p:tav>
                                        <p:tav tm="100000">
                                          <p:val>
                                            <p:strVal val="#ppt_x"/>
                                          </p:val>
                                        </p:tav>
                                      </p:tavLst>
                                    </p:anim>
                                    <p:anim calcmode="lin" valueType="num">
                                      <p:cBhvr>
                                        <p:cTn id="14" dur="950" decel="100000" fill="hold"/>
                                        <p:tgtEl>
                                          <p:spTgt spid="9"/>
                                        </p:tgtEl>
                                        <p:attrNameLst>
                                          <p:attrName>ppt_y</p:attrName>
                                        </p:attrNameLst>
                                      </p:cBhvr>
                                      <p:tavLst>
                                        <p:tav tm="0">
                                          <p:val>
                                            <p:strVal val="#ppt_y+0.022"/>
                                          </p:val>
                                        </p:tav>
                                        <p:tav tm="100000">
                                          <p:val>
                                            <p:strVal val="#ppt_y"/>
                                          </p:val>
                                        </p:tav>
                                      </p:tavLst>
                                    </p:anim>
                                  </p:childTnLst>
                                </p:cTn>
                              </p:par>
                              <p:par>
                                <p:cTn id="15" presetID="10" presetClass="entr" presetSubtype="0" fill="hold" grpId="0" nodeType="withEffect">
                                  <p:stCondLst>
                                    <p:cond delay="37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950"/>
                                        <p:tgtEl>
                                          <p:spTgt spid="10"/>
                                        </p:tgtEl>
                                      </p:cBhvr>
                                    </p:animEffect>
                                    <p:anim calcmode="lin" valueType="num">
                                      <p:cBhvr>
                                        <p:cTn id="18" dur="950" decel="100000" fill="hold"/>
                                        <p:tgtEl>
                                          <p:spTgt spid="10"/>
                                        </p:tgtEl>
                                        <p:attrNameLst>
                                          <p:attrName>ppt_x</p:attrName>
                                        </p:attrNameLst>
                                      </p:cBhvr>
                                      <p:tavLst>
                                        <p:tav tm="0">
                                          <p:val>
                                            <p:strVal val="#ppt_x"/>
                                          </p:val>
                                        </p:tav>
                                        <p:tav tm="100000">
                                          <p:val>
                                            <p:strVal val="#ppt_x"/>
                                          </p:val>
                                        </p:tav>
                                      </p:tavLst>
                                    </p:anim>
                                    <p:anim calcmode="lin" valueType="num">
                                      <p:cBhvr>
                                        <p:cTn id="19" dur="950" decel="100000" fill="hold"/>
                                        <p:tgtEl>
                                          <p:spTgt spid="10"/>
                                        </p:tgtEl>
                                        <p:attrNameLst>
                                          <p:attrName>ppt_y</p:attrName>
                                        </p:attrNameLst>
                                      </p:cBhvr>
                                      <p:tavLst>
                                        <p:tav tm="0">
                                          <p:val>
                                            <p:strVal val="#ppt_y+0.022"/>
                                          </p:val>
                                        </p:tav>
                                        <p:tav tm="100000">
                                          <p:val>
                                            <p:strVal val="#ppt_y"/>
                                          </p:val>
                                        </p:tav>
                                      </p:tavLst>
                                    </p:anim>
                                  </p:childTnLst>
                                </p:cTn>
                              </p:par>
                              <p:par>
                                <p:cTn id="20" presetID="22" presetClass="entr" presetSubtype="8" fill="hold" nodeType="withEffect">
                                  <p:stCondLst>
                                    <p:cond delay="480"/>
                                  </p:stCondLst>
                                  <p:childTnLst>
                                    <p:set>
                                      <p:cBhvr>
                                        <p:cTn id="21" dur="1" fill="hold">
                                          <p:stCondLst>
                                            <p:cond delay="0"/>
                                          </p:stCondLst>
                                        </p:cTn>
                                        <p:tgtEl>
                                          <p:spTgt spid="11"/>
                                        </p:tgtEl>
                                        <p:attrNameLst>
                                          <p:attrName>style.visibility</p:attrName>
                                        </p:attrNameLst>
                                      </p:cBhvr>
                                      <p:to>
                                        <p:strVal val="visible"/>
                                      </p:to>
                                    </p:set>
                                    <p:animEffect transition="in" filter="wipe(left)">
                                      <p:cBhvr>
                                        <p:cTn id="22" dur="1250" decel="100000"/>
                                        <p:tgtEl>
                                          <p:spTgt spid="11"/>
                                        </p:tgtEl>
                                      </p:cBhvr>
                                    </p:animEffect>
                                  </p:childTnLst>
                                </p:cTn>
                              </p:par>
                              <p:par>
                                <p:cTn id="23" presetID="10" presetClass="entr" presetSubtype="0" fill="hold" grpId="0" nodeType="withEffect">
                                  <p:stCondLst>
                                    <p:cond delay="48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950"/>
                                        <p:tgtEl>
                                          <p:spTgt spid="12"/>
                                        </p:tgtEl>
                                      </p:cBhvr>
                                    </p:animEffect>
                                    <p:anim calcmode="lin" valueType="num">
                                      <p:cBhvr>
                                        <p:cTn id="26" dur="950" decel="100000" fill="hold"/>
                                        <p:tgtEl>
                                          <p:spTgt spid="12"/>
                                        </p:tgtEl>
                                        <p:attrNameLst>
                                          <p:attrName>ppt_x</p:attrName>
                                        </p:attrNameLst>
                                      </p:cBhvr>
                                      <p:tavLst>
                                        <p:tav tm="0">
                                          <p:val>
                                            <p:strVal val="#ppt_x"/>
                                          </p:val>
                                        </p:tav>
                                        <p:tav tm="100000">
                                          <p:val>
                                            <p:strVal val="#ppt_x"/>
                                          </p:val>
                                        </p:tav>
                                      </p:tavLst>
                                    </p:anim>
                                    <p:anim calcmode="lin" valueType="num">
                                      <p:cBhvr>
                                        <p:cTn id="27" dur="950" decel="100000" fill="hold"/>
                                        <p:tgtEl>
                                          <p:spTgt spid="12"/>
                                        </p:tgtEl>
                                        <p:attrNameLst>
                                          <p:attrName>ppt_y</p:attrName>
                                        </p:attrNameLst>
                                      </p:cBhvr>
                                      <p:tavLst>
                                        <p:tav tm="0">
                                          <p:val>
                                            <p:strVal val="#ppt_y+0.022"/>
                                          </p:val>
                                        </p:tav>
                                        <p:tav tm="100000">
                                          <p:val>
                                            <p:strVal val="#ppt_y"/>
                                          </p:val>
                                        </p:tav>
                                      </p:tavLst>
                                    </p:anim>
                                  </p:childTnLst>
                                </p:cTn>
                              </p:par>
                              <p:par>
                                <p:cTn id="28" presetID="10" presetClass="entr" presetSubtype="0" fill="hold" grpId="0" nodeType="withEffect">
                                  <p:stCondLst>
                                    <p:cond delay="48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950"/>
                                        <p:tgtEl>
                                          <p:spTgt spid="18"/>
                                        </p:tgtEl>
                                      </p:cBhvr>
                                    </p:animEffect>
                                    <p:anim calcmode="lin" valueType="num">
                                      <p:cBhvr>
                                        <p:cTn id="31" dur="950" decel="100000" fill="hold"/>
                                        <p:tgtEl>
                                          <p:spTgt spid="18"/>
                                        </p:tgtEl>
                                        <p:attrNameLst>
                                          <p:attrName>ppt_x</p:attrName>
                                        </p:attrNameLst>
                                      </p:cBhvr>
                                      <p:tavLst>
                                        <p:tav tm="0">
                                          <p:val>
                                            <p:strVal val="#ppt_x"/>
                                          </p:val>
                                        </p:tav>
                                        <p:tav tm="100000">
                                          <p:val>
                                            <p:strVal val="#ppt_x"/>
                                          </p:val>
                                        </p:tav>
                                      </p:tavLst>
                                    </p:anim>
                                    <p:anim calcmode="lin" valueType="num">
                                      <p:cBhvr>
                                        <p:cTn id="32" dur="950" decel="100000" fill="hold"/>
                                        <p:tgtEl>
                                          <p:spTgt spid="18"/>
                                        </p:tgtEl>
                                        <p:attrNameLst>
                                          <p:attrName>ppt_y</p:attrName>
                                        </p:attrNameLst>
                                      </p:cBhvr>
                                      <p:tavLst>
                                        <p:tav tm="0">
                                          <p:val>
                                            <p:strVal val="#ppt_y+0.022"/>
                                          </p:val>
                                        </p:tav>
                                        <p:tav tm="100000">
                                          <p:val>
                                            <p:strVal val="#ppt_y"/>
                                          </p:val>
                                        </p:tav>
                                      </p:tavLst>
                                    </p:anim>
                                  </p:childTnLst>
                                </p:cTn>
                              </p:par>
                              <p:par>
                                <p:cTn id="33" presetID="22" presetClass="entr" presetSubtype="8" fill="hold" nodeType="withEffect">
                                  <p:stCondLst>
                                    <p:cond delay="480"/>
                                  </p:stCondLst>
                                  <p:childTnLst>
                                    <p:set>
                                      <p:cBhvr>
                                        <p:cTn id="34" dur="1" fill="hold">
                                          <p:stCondLst>
                                            <p:cond delay="0"/>
                                          </p:stCondLst>
                                        </p:cTn>
                                        <p:tgtEl>
                                          <p:spTgt spid="19"/>
                                        </p:tgtEl>
                                        <p:attrNameLst>
                                          <p:attrName>style.visibility</p:attrName>
                                        </p:attrNameLst>
                                      </p:cBhvr>
                                      <p:to>
                                        <p:strVal val="visible"/>
                                      </p:to>
                                    </p:set>
                                    <p:animEffect transition="in" filter="wipe(left)">
                                      <p:cBhvr>
                                        <p:cTn id="35" dur="1250" decel="100000"/>
                                        <p:tgtEl>
                                          <p:spTgt spid="19"/>
                                        </p:tgtEl>
                                      </p:cBhvr>
                                    </p:animEffect>
                                  </p:childTnLst>
                                </p:cTn>
                              </p:par>
                              <p:par>
                                <p:cTn id="36" presetID="22" presetClass="entr" presetSubtype="8" fill="hold" nodeType="withEffect">
                                  <p:stCondLst>
                                    <p:cond delay="590"/>
                                  </p:stCondLst>
                                  <p:childTnLst>
                                    <p:set>
                                      <p:cBhvr>
                                        <p:cTn id="37" dur="1" fill="hold">
                                          <p:stCondLst>
                                            <p:cond delay="0"/>
                                          </p:stCondLst>
                                        </p:cTn>
                                        <p:tgtEl>
                                          <p:spTgt spid="13"/>
                                        </p:tgtEl>
                                        <p:attrNameLst>
                                          <p:attrName>style.visibility</p:attrName>
                                        </p:attrNameLst>
                                      </p:cBhvr>
                                      <p:to>
                                        <p:strVal val="visible"/>
                                      </p:to>
                                    </p:set>
                                    <p:animEffect transition="in" filter="wipe(left)">
                                      <p:cBhvr>
                                        <p:cTn id="38" dur="1250" decel="100000"/>
                                        <p:tgtEl>
                                          <p:spTgt spid="13"/>
                                        </p:tgtEl>
                                      </p:cBhvr>
                                    </p:animEffect>
                                  </p:childTnLst>
                                </p:cTn>
                              </p:par>
                              <p:par>
                                <p:cTn id="39" presetID="10" presetClass="entr" presetSubtype="0" fill="hold" grpId="0" nodeType="withEffect">
                                  <p:stCondLst>
                                    <p:cond delay="5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950"/>
                                        <p:tgtEl>
                                          <p:spTgt spid="14"/>
                                        </p:tgtEl>
                                      </p:cBhvr>
                                    </p:animEffect>
                                    <p:anim calcmode="lin" valueType="num">
                                      <p:cBhvr>
                                        <p:cTn id="42" dur="950" decel="100000" fill="hold"/>
                                        <p:tgtEl>
                                          <p:spTgt spid="14"/>
                                        </p:tgtEl>
                                        <p:attrNameLst>
                                          <p:attrName>ppt_x</p:attrName>
                                        </p:attrNameLst>
                                      </p:cBhvr>
                                      <p:tavLst>
                                        <p:tav tm="0">
                                          <p:val>
                                            <p:strVal val="#ppt_x"/>
                                          </p:val>
                                        </p:tav>
                                        <p:tav tm="100000">
                                          <p:val>
                                            <p:strVal val="#ppt_x"/>
                                          </p:val>
                                        </p:tav>
                                      </p:tavLst>
                                    </p:anim>
                                    <p:anim calcmode="lin" valueType="num">
                                      <p:cBhvr>
                                        <p:cTn id="43" dur="950" decel="100000" fill="hold"/>
                                        <p:tgtEl>
                                          <p:spTgt spid="14"/>
                                        </p:tgtEl>
                                        <p:attrNameLst>
                                          <p:attrName>ppt_y</p:attrName>
                                        </p:attrNameLst>
                                      </p:cBhvr>
                                      <p:tavLst>
                                        <p:tav tm="0">
                                          <p:val>
                                            <p:strVal val="#ppt_y+0.022"/>
                                          </p:val>
                                        </p:tav>
                                        <p:tav tm="100000">
                                          <p:val>
                                            <p:strVal val="#ppt_y"/>
                                          </p:val>
                                        </p:tav>
                                      </p:tavLst>
                                    </p:anim>
                                  </p:childTnLst>
                                </p:cTn>
                              </p:par>
                              <p:par>
                                <p:cTn id="44" presetID="10" presetClass="entr" presetSubtype="0" fill="hold" grpId="0" nodeType="withEffect">
                                  <p:stCondLst>
                                    <p:cond delay="59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950"/>
                                        <p:tgtEl>
                                          <p:spTgt spid="20"/>
                                        </p:tgtEl>
                                      </p:cBhvr>
                                    </p:animEffect>
                                    <p:anim calcmode="lin" valueType="num">
                                      <p:cBhvr>
                                        <p:cTn id="47" dur="950" decel="100000" fill="hold"/>
                                        <p:tgtEl>
                                          <p:spTgt spid="20"/>
                                        </p:tgtEl>
                                        <p:attrNameLst>
                                          <p:attrName>ppt_x</p:attrName>
                                        </p:attrNameLst>
                                      </p:cBhvr>
                                      <p:tavLst>
                                        <p:tav tm="0">
                                          <p:val>
                                            <p:strVal val="#ppt_x"/>
                                          </p:val>
                                        </p:tav>
                                        <p:tav tm="100000">
                                          <p:val>
                                            <p:strVal val="#ppt_x"/>
                                          </p:val>
                                        </p:tav>
                                      </p:tavLst>
                                    </p:anim>
                                    <p:anim calcmode="lin" valueType="num">
                                      <p:cBhvr>
                                        <p:cTn id="48" dur="950" decel="100000" fill="hold"/>
                                        <p:tgtEl>
                                          <p:spTgt spid="20"/>
                                        </p:tgtEl>
                                        <p:attrNameLst>
                                          <p:attrName>ppt_y</p:attrName>
                                        </p:attrNameLst>
                                      </p:cBhvr>
                                      <p:tavLst>
                                        <p:tav tm="0">
                                          <p:val>
                                            <p:strVal val="#ppt_y+0.022"/>
                                          </p:val>
                                        </p:tav>
                                        <p:tav tm="100000">
                                          <p:val>
                                            <p:strVal val="#ppt_y"/>
                                          </p:val>
                                        </p:tav>
                                      </p:tavLst>
                                    </p:anim>
                                  </p:childTnLst>
                                </p:cTn>
                              </p:par>
                              <p:par>
                                <p:cTn id="49" presetID="22" presetClass="entr" presetSubtype="8" fill="hold" nodeType="withEffect">
                                  <p:stCondLst>
                                    <p:cond delay="590"/>
                                  </p:stCondLst>
                                  <p:childTnLst>
                                    <p:set>
                                      <p:cBhvr>
                                        <p:cTn id="50" dur="1" fill="hold">
                                          <p:stCondLst>
                                            <p:cond delay="0"/>
                                          </p:stCondLst>
                                        </p:cTn>
                                        <p:tgtEl>
                                          <p:spTgt spid="21"/>
                                        </p:tgtEl>
                                        <p:attrNameLst>
                                          <p:attrName>style.visibility</p:attrName>
                                        </p:attrNameLst>
                                      </p:cBhvr>
                                      <p:to>
                                        <p:strVal val="visible"/>
                                      </p:to>
                                    </p:set>
                                    <p:animEffect transition="in" filter="wipe(left)">
                                      <p:cBhvr>
                                        <p:cTn id="51" dur="1250" decel="100000"/>
                                        <p:tgtEl>
                                          <p:spTgt spid="21"/>
                                        </p:tgtEl>
                                      </p:cBhvr>
                                    </p:animEffect>
                                  </p:childTnLst>
                                </p:cTn>
                              </p:par>
                              <p:par>
                                <p:cTn id="52" presetID="22" presetClass="entr" presetSubtype="8" fill="hold" nodeType="withEffect">
                                  <p:stCondLst>
                                    <p:cond delay="700"/>
                                  </p:stCondLst>
                                  <p:childTnLst>
                                    <p:set>
                                      <p:cBhvr>
                                        <p:cTn id="53" dur="1" fill="hold">
                                          <p:stCondLst>
                                            <p:cond delay="0"/>
                                          </p:stCondLst>
                                        </p:cTn>
                                        <p:tgtEl>
                                          <p:spTgt spid="15"/>
                                        </p:tgtEl>
                                        <p:attrNameLst>
                                          <p:attrName>style.visibility</p:attrName>
                                        </p:attrNameLst>
                                      </p:cBhvr>
                                      <p:to>
                                        <p:strVal val="visible"/>
                                      </p:to>
                                    </p:set>
                                    <p:animEffect transition="in" filter="wipe(left)">
                                      <p:cBhvr>
                                        <p:cTn id="54" dur="1250" decel="100000"/>
                                        <p:tgtEl>
                                          <p:spTgt spid="15"/>
                                        </p:tgtEl>
                                      </p:cBhvr>
                                    </p:animEffect>
                                  </p:childTnLst>
                                </p:cTn>
                              </p:par>
                              <p:par>
                                <p:cTn id="55" presetID="10" presetClass="entr" presetSubtype="0" fill="hold" grpId="0" nodeType="withEffect">
                                  <p:stCondLst>
                                    <p:cond delay="700"/>
                                  </p:stCondLst>
                                  <p:childTnLst>
                                    <p:set>
                                      <p:cBhvr>
                                        <p:cTn id="56" dur="1" fill="hold">
                                          <p:stCondLst>
                                            <p:cond delay="0"/>
                                          </p:stCondLst>
                                        </p:cTn>
                                        <p:tgtEl>
                                          <p:spTgt spid="16"/>
                                        </p:tgtEl>
                                        <p:attrNameLst>
                                          <p:attrName>style.visibility</p:attrName>
                                        </p:attrNameLst>
                                      </p:cBhvr>
                                      <p:to>
                                        <p:strVal val="visible"/>
                                      </p:to>
                                    </p:set>
                                    <p:animEffect transition="in" filter="fade">
                                      <p:cBhvr>
                                        <p:cTn id="57" dur="950"/>
                                        <p:tgtEl>
                                          <p:spTgt spid="16"/>
                                        </p:tgtEl>
                                      </p:cBhvr>
                                    </p:animEffect>
                                    <p:anim calcmode="lin" valueType="num">
                                      <p:cBhvr>
                                        <p:cTn id="58" dur="950" decel="100000" fill="hold"/>
                                        <p:tgtEl>
                                          <p:spTgt spid="16"/>
                                        </p:tgtEl>
                                        <p:attrNameLst>
                                          <p:attrName>ppt_x</p:attrName>
                                        </p:attrNameLst>
                                      </p:cBhvr>
                                      <p:tavLst>
                                        <p:tav tm="0">
                                          <p:val>
                                            <p:strVal val="#ppt_x"/>
                                          </p:val>
                                        </p:tav>
                                        <p:tav tm="100000">
                                          <p:val>
                                            <p:strVal val="#ppt_x"/>
                                          </p:val>
                                        </p:tav>
                                      </p:tavLst>
                                    </p:anim>
                                    <p:anim calcmode="lin" valueType="num">
                                      <p:cBhvr>
                                        <p:cTn id="59" dur="950" decel="100000" fill="hold"/>
                                        <p:tgtEl>
                                          <p:spTgt spid="16"/>
                                        </p:tgtEl>
                                        <p:attrNameLst>
                                          <p:attrName>ppt_y</p:attrName>
                                        </p:attrNameLst>
                                      </p:cBhvr>
                                      <p:tavLst>
                                        <p:tav tm="0">
                                          <p:val>
                                            <p:strVal val="#ppt_y+0.022"/>
                                          </p:val>
                                        </p:tav>
                                        <p:tav tm="100000">
                                          <p:val>
                                            <p:strVal val="#ppt_y"/>
                                          </p:val>
                                        </p:tav>
                                      </p:tavLst>
                                    </p:anim>
                                  </p:childTnLst>
                                </p:cTn>
                              </p:par>
                              <p:par>
                                <p:cTn id="60" presetID="10" presetClass="entr" presetSubtype="0" fill="hold" grpId="0" nodeType="withEffect">
                                  <p:stCondLst>
                                    <p:cond delay="70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950"/>
                                        <p:tgtEl>
                                          <p:spTgt spid="22"/>
                                        </p:tgtEl>
                                      </p:cBhvr>
                                    </p:animEffect>
                                    <p:anim calcmode="lin" valueType="num">
                                      <p:cBhvr>
                                        <p:cTn id="63" dur="950" decel="100000" fill="hold"/>
                                        <p:tgtEl>
                                          <p:spTgt spid="22"/>
                                        </p:tgtEl>
                                        <p:attrNameLst>
                                          <p:attrName>ppt_x</p:attrName>
                                        </p:attrNameLst>
                                      </p:cBhvr>
                                      <p:tavLst>
                                        <p:tav tm="0">
                                          <p:val>
                                            <p:strVal val="#ppt_x"/>
                                          </p:val>
                                        </p:tav>
                                        <p:tav tm="100000">
                                          <p:val>
                                            <p:strVal val="#ppt_x"/>
                                          </p:val>
                                        </p:tav>
                                      </p:tavLst>
                                    </p:anim>
                                    <p:anim calcmode="lin" valueType="num">
                                      <p:cBhvr>
                                        <p:cTn id="64" dur="950" decel="100000" fill="hold"/>
                                        <p:tgtEl>
                                          <p:spTgt spid="22"/>
                                        </p:tgtEl>
                                        <p:attrNameLst>
                                          <p:attrName>ppt_y</p:attrName>
                                        </p:attrNameLst>
                                      </p:cBhvr>
                                      <p:tavLst>
                                        <p:tav tm="0">
                                          <p:val>
                                            <p:strVal val="#ppt_y+0.022"/>
                                          </p:val>
                                        </p:tav>
                                        <p:tav tm="100000">
                                          <p:val>
                                            <p:strVal val="#ppt_y"/>
                                          </p:val>
                                        </p:tav>
                                      </p:tavLst>
                                    </p:anim>
                                  </p:childTnLst>
                                </p:cTn>
                              </p:par>
                              <p:par>
                                <p:cTn id="65" presetID="22" presetClass="entr" presetSubtype="8" fill="hold" nodeType="withEffect">
                                  <p:stCondLst>
                                    <p:cond delay="700"/>
                                  </p:stCondLst>
                                  <p:childTnLst>
                                    <p:set>
                                      <p:cBhvr>
                                        <p:cTn id="66" dur="1" fill="hold">
                                          <p:stCondLst>
                                            <p:cond delay="0"/>
                                          </p:stCondLst>
                                        </p:cTn>
                                        <p:tgtEl>
                                          <p:spTgt spid="23"/>
                                        </p:tgtEl>
                                        <p:attrNameLst>
                                          <p:attrName>style.visibility</p:attrName>
                                        </p:attrNameLst>
                                      </p:cBhvr>
                                      <p:to>
                                        <p:strVal val="visible"/>
                                      </p:to>
                                    </p:set>
                                    <p:animEffect transition="in" filter="wipe(left)">
                                      <p:cBhvr>
                                        <p:cTn id="67" dur="1250" decel="100000"/>
                                        <p:tgtEl>
                                          <p:spTgt spid="23"/>
                                        </p:tgtEl>
                                      </p:cBhvr>
                                    </p:animEffect>
                                  </p:childTnLst>
                                </p:cTn>
                              </p:par>
                              <p:par>
                                <p:cTn id="68" presetID="22" presetClass="entr" presetSubtype="8" fill="hold" nodeType="withEffect">
                                  <p:stCondLst>
                                    <p:cond delay="810"/>
                                  </p:stCondLst>
                                  <p:childTnLst>
                                    <p:set>
                                      <p:cBhvr>
                                        <p:cTn id="69" dur="1" fill="hold">
                                          <p:stCondLst>
                                            <p:cond delay="0"/>
                                          </p:stCondLst>
                                        </p:cTn>
                                        <p:tgtEl>
                                          <p:spTgt spid="17"/>
                                        </p:tgtEl>
                                        <p:attrNameLst>
                                          <p:attrName>style.visibility</p:attrName>
                                        </p:attrNameLst>
                                      </p:cBhvr>
                                      <p:to>
                                        <p:strVal val="visible"/>
                                      </p:to>
                                    </p:set>
                                    <p:animEffect transition="in" filter="wipe(left)">
                                      <p:cBhvr>
                                        <p:cTn id="70" dur="1250" decel="100000"/>
                                        <p:tgtEl>
                                          <p:spTgt spid="17"/>
                                        </p:tgtEl>
                                      </p:cBhvr>
                                    </p:animEffect>
                                  </p:childTnLst>
                                </p:cTn>
                              </p:par>
                              <p:par>
                                <p:cTn id="71" presetID="22" presetClass="entr" presetSubtype="8" fill="hold" nodeType="withEffect">
                                  <p:stCondLst>
                                    <p:cond delay="810"/>
                                  </p:stCondLst>
                                  <p:childTnLst>
                                    <p:set>
                                      <p:cBhvr>
                                        <p:cTn id="72" dur="1" fill="hold">
                                          <p:stCondLst>
                                            <p:cond delay="0"/>
                                          </p:stCondLst>
                                        </p:cTn>
                                        <p:tgtEl>
                                          <p:spTgt spid="25"/>
                                        </p:tgtEl>
                                        <p:attrNameLst>
                                          <p:attrName>style.visibility</p:attrName>
                                        </p:attrNameLst>
                                      </p:cBhvr>
                                      <p:to>
                                        <p:strVal val="visible"/>
                                      </p:to>
                                    </p:set>
                                    <p:animEffect transition="in" filter="wipe(left)">
                                      <p:cBhvr>
                                        <p:cTn id="73" dur="1250" decel="100000"/>
                                        <p:tgtEl>
                                          <p:spTgt spid="25"/>
                                        </p:tgtEl>
                                      </p:cBhvr>
                                    </p:animEffect>
                                  </p:childTnLst>
                                </p:cTn>
                              </p:par>
                              <p:par>
                                <p:cTn id="74" presetID="10" presetClass="entr" presetSubtype="0" fill="hold" grpId="0" nodeType="withEffect">
                                  <p:stCondLst>
                                    <p:cond delay="920"/>
                                  </p:stCondLst>
                                  <p:childTnLst>
                                    <p:set>
                                      <p:cBhvr>
                                        <p:cTn id="75" dur="1" fill="hold">
                                          <p:stCondLst>
                                            <p:cond delay="0"/>
                                          </p:stCondLst>
                                        </p:cTn>
                                        <p:tgtEl>
                                          <p:spTgt spid="24"/>
                                        </p:tgtEl>
                                        <p:attrNameLst>
                                          <p:attrName>style.visibility</p:attrName>
                                        </p:attrNameLst>
                                      </p:cBhvr>
                                      <p:to>
                                        <p:strVal val="visible"/>
                                      </p:to>
                                    </p:set>
                                    <p:animEffect transition="in" filter="fade">
                                      <p:cBhvr>
                                        <p:cTn id="76" dur="950"/>
                                        <p:tgtEl>
                                          <p:spTgt spid="24"/>
                                        </p:tgtEl>
                                      </p:cBhvr>
                                    </p:animEffect>
                                    <p:anim calcmode="lin" valueType="num">
                                      <p:cBhvr>
                                        <p:cTn id="77" dur="950" decel="100000" fill="hold"/>
                                        <p:tgtEl>
                                          <p:spTgt spid="24"/>
                                        </p:tgtEl>
                                        <p:attrNameLst>
                                          <p:attrName>ppt_x</p:attrName>
                                        </p:attrNameLst>
                                      </p:cBhvr>
                                      <p:tavLst>
                                        <p:tav tm="0">
                                          <p:val>
                                            <p:strVal val="#ppt_x"/>
                                          </p:val>
                                        </p:tav>
                                        <p:tav tm="100000">
                                          <p:val>
                                            <p:strVal val="#ppt_x"/>
                                          </p:val>
                                        </p:tav>
                                      </p:tavLst>
                                    </p:anim>
                                    <p:anim calcmode="lin" valueType="num">
                                      <p:cBhvr>
                                        <p:cTn id="78" dur="950" decel="100000" fill="hold"/>
                                        <p:tgtEl>
                                          <p:spTgt spid="24"/>
                                        </p:tgtEl>
                                        <p:attrNameLst>
                                          <p:attrName>ppt_y</p:attrName>
                                        </p:attrNameLst>
                                      </p:cBhvr>
                                      <p:tavLst>
                                        <p:tav tm="0">
                                          <p:val>
                                            <p:strVal val="#ppt_y+0.02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4" grpId="0" animBg="1"/>
      <p:bldP spid="16" grpId="0" animBg="1"/>
      <p:bldP spid="18" grpId="0" animBg="1"/>
      <p:bldP spid="20" grpId="0" animBg="1"/>
      <p:bldP spid="22" grpId="0" animBg="1"/>
      <p:bldP spid="2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B"/>
        </a:solidFill>
        <a:effectLst/>
      </p:bgPr>
    </p:bg>
    <p:spTree>
      <p:nvGrpSpPr>
        <p:cNvPr id="1" name=""/>
        <p:cNvGrpSpPr/>
        <p:nvPr/>
      </p:nvGrpSpPr>
      <p:grpSpPr>
        <a:xfrm>
          <a:off x="0" y="0"/>
          <a:ext cx="0" cy="0"/>
          <a:chOff x="0" y="0"/>
          <a:chExt cx="0" cy="0"/>
        </a:xfrm>
      </p:grpSpPr>
      <p:sp>
        <p:nvSpPr>
          <p:cNvPr id="2" name="!!Agenda">
            <a:hlinkClick r:id="" action="ppaction://noaction"/>
          </p:cNvPr>
          <p:cNvSpPr/>
          <p:nvPr/>
        </p:nvSpPr>
        <p:spPr>
          <a:xfrm>
            <a:off x="10375900" y="381000"/>
            <a:ext cx="1092200" cy="228600"/>
          </a:xfrm>
          <a:prstGeom prst="rect">
            <a:avLst/>
          </a:prstGeom>
          <a:noFill/>
          <a:ln/>
        </p:spPr>
        <p:txBody>
          <a:bodyPr wrap="square" lIns="0" tIns="0" rIns="0" bIns="0" rtlCol="0" anchor="ctr"/>
          <a:lstStyle/>
          <a:p>
            <a:pPr marL="0" indent="0" algn="r">
              <a:buNone/>
            </a:pPr>
            <a:r>
              <a:rPr lang="en-US" sz="1000" u="sng" kern="0" spc="250" dirty="0">
                <a:solidFill>
                  <a:srgbClr val="11110F"/>
                </a:solidFill>
                <a:latin typeface="Jost" pitchFamily="34" charset="0"/>
                <a:ea typeface="Jost" pitchFamily="34" charset="-122"/>
                <a:cs typeface="Jost" pitchFamily="34" charset="-120"/>
                <a:hlinkClick r:id="" action="ppaction://noaction">
                  <a:extLst>
                    <a:ext uri="{A12FA001-AC4F-418D-AE19-62706E023703}">
                      <ahyp:hlinkClr xmlns:ahyp="http://schemas.microsoft.com/office/drawing/2018/hyperlinkcolor" val="tx"/>
                    </a:ext>
                  </a:extLst>
                </a:hlinkClick>
              </a:rPr>
              <a:t>Agenda</a:t>
            </a:r>
            <a:endParaRPr lang="en-US" sz="1000" dirty="0"/>
          </a:p>
        </p:txBody>
      </p:sp>
      <p:sp>
        <p:nvSpPr>
          <p:cNvPr id="3" name="!!Footer"/>
          <p:cNvSpPr/>
          <p:nvPr/>
        </p:nvSpPr>
        <p:spPr>
          <a:xfrm>
            <a:off x="736600" y="6172200"/>
            <a:ext cx="4572000" cy="228600"/>
          </a:xfrm>
          <a:prstGeom prst="rect">
            <a:avLst/>
          </a:prstGeom>
          <a:noFill/>
          <a:ln/>
        </p:spPr>
        <p:txBody>
          <a:bodyPr wrap="square" lIns="0" tIns="0" rIns="0" bIns="0" rtlCol="0" anchor="ctr"/>
          <a:lstStyle/>
          <a:p>
            <a:pPr marL="0" indent="0">
              <a:buNone/>
            </a:pPr>
            <a:r>
              <a:rPr lang="en-US" sz="900" kern="0" spc="250" dirty="0">
                <a:solidFill>
                  <a:srgbClr val="8B877F"/>
                </a:solidFill>
                <a:latin typeface="Jost" pitchFamily="34" charset="0"/>
                <a:ea typeface="Jost" pitchFamily="34" charset="-122"/>
                <a:cs typeface="Jost" pitchFamily="34" charset="-120"/>
              </a:rPr>
              <a:t>MATTER OF PLACE  ·  FOR PARTNERS</a:t>
            </a:r>
            <a:endParaRPr lang="en-US" sz="900" dirty="0"/>
          </a:p>
        </p:txBody>
      </p:sp>
      <p:sp>
        <p:nvSpPr>
          <p:cNvPr id="4" name="!!Page"/>
          <p:cNvSpPr/>
          <p:nvPr/>
        </p:nvSpPr>
        <p:spPr>
          <a:xfrm>
            <a:off x="10375900" y="6172200"/>
            <a:ext cx="1092200" cy="228600"/>
          </a:xfrm>
          <a:prstGeom prst="rect">
            <a:avLst/>
          </a:prstGeom>
          <a:noFill/>
          <a:ln/>
        </p:spPr>
        <p:txBody>
          <a:bodyPr wrap="square" lIns="0" tIns="0" rIns="0" bIns="0" rtlCol="0" anchor="ctr"/>
          <a:lstStyle/>
          <a:p>
            <a:pPr marL="0" indent="0" algn="r">
              <a:buNone/>
            </a:pPr>
            <a:r>
              <a:rPr lang="en-US" sz="900" kern="0" spc="250" dirty="0">
                <a:solidFill>
                  <a:srgbClr val="8B877F"/>
                </a:solidFill>
                <a:latin typeface="Jost" pitchFamily="34" charset="0"/>
                <a:ea typeface="Jost" pitchFamily="34" charset="-122"/>
                <a:cs typeface="Jost" pitchFamily="34" charset="-120"/>
              </a:rPr>
              <a:t>10 / 14</a:t>
            </a:r>
            <a:endParaRPr lang="en-US" sz="900" dirty="0"/>
          </a:p>
        </p:txBody>
      </p:sp>
      <p:sp>
        <p:nvSpPr>
          <p:cNvPr id="5" name="!!Eyebrow"/>
          <p:cNvSpPr/>
          <p:nvPr/>
        </p:nvSpPr>
        <p:spPr>
          <a:xfrm>
            <a:off x="731520" y="868680"/>
            <a:ext cx="5486400" cy="274320"/>
          </a:xfrm>
          <a:prstGeom prst="rect">
            <a:avLst/>
          </a:prstGeom>
          <a:noFill/>
          <a:ln/>
        </p:spPr>
        <p:txBody>
          <a:bodyPr wrap="square" lIns="0" tIns="0" rIns="0" bIns="0" rtlCol="0" anchor="ctr"/>
          <a:lstStyle/>
          <a:p>
            <a:pPr marL="0" indent="0">
              <a:buNone/>
            </a:pPr>
            <a:r>
              <a:rPr lang="en-US" sz="1050" kern="0" spc="300" dirty="0">
                <a:solidFill>
                  <a:srgbClr val="575751"/>
                </a:solidFill>
                <a:latin typeface="Jost" pitchFamily="34" charset="0"/>
                <a:ea typeface="Jost" pitchFamily="34" charset="-122"/>
                <a:cs typeface="Jost" pitchFamily="34" charset="-120"/>
              </a:rPr>
              <a:t>PROPERTY EXPOSURE</a:t>
            </a:r>
            <a:endParaRPr lang="en-US" sz="1050" dirty="0"/>
          </a:p>
        </p:txBody>
      </p:sp>
      <p:sp>
        <p:nvSpPr>
          <p:cNvPr id="6" name="!!Title"/>
          <p:cNvSpPr/>
          <p:nvPr/>
        </p:nvSpPr>
        <p:spPr>
          <a:xfrm>
            <a:off x="736600" y="1193800"/>
            <a:ext cx="10731500" cy="711200"/>
          </a:xfrm>
          <a:prstGeom prst="rect">
            <a:avLst/>
          </a:prstGeom>
          <a:noFill/>
          <a:ln/>
        </p:spPr>
        <p:txBody>
          <a:bodyPr wrap="square" lIns="0" tIns="0" rIns="0" bIns="0" rtlCol="0" anchor="t"/>
          <a:lstStyle/>
          <a:p>
            <a:pPr marL="0" indent="0">
              <a:buNone/>
            </a:pPr>
            <a:r>
              <a:rPr lang="en-US" sz="3800" dirty="0">
                <a:solidFill>
                  <a:srgbClr val="11110F"/>
                </a:solidFill>
                <a:latin typeface="Cormorant Garamond" pitchFamily="34" charset="0"/>
                <a:ea typeface="Cormorant Garamond" pitchFamily="34" charset="-122"/>
                <a:cs typeface="Cormorant Garamond" pitchFamily="34" charset="-120"/>
              </a:rPr>
              <a:t>The four products, side by side.</a:t>
            </a:r>
            <a:endParaRPr lang="en-US" sz="3800" dirty="0"/>
          </a:p>
        </p:txBody>
      </p:sp>
      <p:graphicFrame>
        <p:nvGraphicFramePr>
          <p:cNvPr id="11" name="s10-11"/>
          <p:cNvGraphicFramePr>
            <a:graphicFrameLocks noGrp="1"/>
          </p:cNvGraphicFramePr>
          <p:nvPr/>
        </p:nvGraphicFramePr>
        <p:xfrm>
          <a:off x="736600" y="1905000"/>
          <a:ext cx="10731500" cy="3891280"/>
        </p:xfrm>
        <a:graphic>
          <a:graphicData uri="http://schemas.openxmlformats.org/drawingml/2006/table">
            <a:tbl>
              <a:tblPr/>
              <a:tblGrid>
                <a:gridCol w="1346200">
                  <a:extLst>
                    <a:ext uri="{9D8B030D-6E8A-4147-A177-3AD203B41FA5}">
                      <a16:colId xmlns:a16="http://schemas.microsoft.com/office/drawing/2014/main" val="20000"/>
                    </a:ext>
                  </a:extLst>
                </a:gridCol>
                <a:gridCol w="2346325">
                  <a:extLst>
                    <a:ext uri="{9D8B030D-6E8A-4147-A177-3AD203B41FA5}">
                      <a16:colId xmlns:a16="http://schemas.microsoft.com/office/drawing/2014/main" val="20001"/>
                    </a:ext>
                  </a:extLst>
                </a:gridCol>
                <a:gridCol w="2346325">
                  <a:extLst>
                    <a:ext uri="{9D8B030D-6E8A-4147-A177-3AD203B41FA5}">
                      <a16:colId xmlns:a16="http://schemas.microsoft.com/office/drawing/2014/main" val="20002"/>
                    </a:ext>
                  </a:extLst>
                </a:gridCol>
                <a:gridCol w="2346325">
                  <a:extLst>
                    <a:ext uri="{9D8B030D-6E8A-4147-A177-3AD203B41FA5}">
                      <a16:colId xmlns:a16="http://schemas.microsoft.com/office/drawing/2014/main" val="20003"/>
                    </a:ext>
                  </a:extLst>
                </a:gridCol>
                <a:gridCol w="2346325">
                  <a:extLst>
                    <a:ext uri="{9D8B030D-6E8A-4147-A177-3AD203B41FA5}">
                      <a16:colId xmlns:a16="http://schemas.microsoft.com/office/drawing/2014/main" val="20004"/>
                    </a:ext>
                  </a:extLst>
                </a:gridCol>
              </a:tblGrid>
              <a:tr h="381000">
                <a:tc>
                  <a:txBody>
                    <a:bodyPr/>
                    <a:lstStyle/>
                    <a:p>
                      <a:pPr marL="0" indent="0">
                        <a:buNone/>
                      </a:pPr>
                      <a:endParaRPr lang="en-US" sz="1000" spc="150" dirty="0">
                        <a:latin typeface="Jost" charset="0"/>
                        <a:ea typeface="Jost" charset="0"/>
                        <a:cs typeface="Jost" charset="0"/>
                      </a:endParaRPr>
                    </a:p>
                  </a:txBody>
                  <a:tcPr marL="0" marB="50800" anchor="b">
                    <a:lnL w="0" cap="flat" cmpd="sng" algn="ctr">
                      <a:noFill/>
                    </a:lnL>
                    <a:lnR w="0" cap="flat" cmpd="sng" algn="ctr">
                      <a:noFill/>
                    </a:lnR>
                    <a:lnT w="0" cap="flat" cmpd="sng" algn="ctr">
                      <a:noFill/>
                    </a:lnT>
                    <a:lnB w="12700" cap="flat" cmpd="sng" algn="ctr">
                      <a:solidFill>
                        <a:srgbClr val="11110F"/>
                      </a:solidFill>
                      <a:prstDash val="solid"/>
                      <a:round/>
                      <a:headEnd type="none" w="med" len="med"/>
                      <a:tailEnd type="none" w="med" len="med"/>
                    </a:lnB>
                    <a:noFill/>
                  </a:tcPr>
                </a:tc>
                <a:tc>
                  <a:txBody>
                    <a:bodyPr/>
                    <a:lstStyle/>
                    <a:p>
                      <a:pPr marL="0" indent="0" algn="l">
                        <a:buNone/>
                      </a:pPr>
                      <a:r>
                        <a:rPr lang="en-US" sz="1800" dirty="0">
                          <a:solidFill>
                            <a:srgbClr val="11110F"/>
                          </a:solidFill>
                          <a:latin typeface="Cormorant Garamond" pitchFamily="34" charset="0"/>
                          <a:ea typeface="Cormorant Garamond" pitchFamily="34" charset="-122"/>
                          <a:cs typeface="Cormorant Garamond" pitchFamily="34" charset="-120"/>
                        </a:rPr>
                        <a:t>The Feature</a:t>
                      </a:r>
                      <a:endParaRPr lang="en-US" sz="1800" dirty="0">
                        <a:latin typeface="Cormorant Garamond" charset="0"/>
                        <a:ea typeface="Cormorant Garamond" charset="0"/>
                        <a:cs typeface="Cormorant Garamond" charset="0"/>
                      </a:endParaRPr>
                    </a:p>
                  </a:txBody>
                  <a:tcPr marL="118872" marB="50800" anchor="b">
                    <a:lnL w="0" cap="flat" cmpd="sng" algn="ctr">
                      <a:noFill/>
                    </a:lnL>
                    <a:lnR w="0" cap="flat" cmpd="sng" algn="ctr">
                      <a:noFill/>
                    </a:lnR>
                    <a:lnT w="0" cap="flat" cmpd="sng" algn="ctr">
                      <a:noFill/>
                    </a:lnT>
                    <a:lnB w="12700" cap="flat" cmpd="sng" algn="ctr">
                      <a:solidFill>
                        <a:srgbClr val="11110F"/>
                      </a:solidFill>
                      <a:prstDash val="solid"/>
                      <a:round/>
                      <a:headEnd type="none" w="med" len="med"/>
                      <a:tailEnd type="none" w="med" len="med"/>
                    </a:lnB>
                    <a:noFill/>
                  </a:tcPr>
                </a:tc>
                <a:tc>
                  <a:txBody>
                    <a:bodyPr/>
                    <a:lstStyle/>
                    <a:p>
                      <a:pPr marL="0" indent="0" algn="l">
                        <a:buNone/>
                      </a:pPr>
                      <a:r>
                        <a:rPr lang="en-US" sz="900" cap="all" spc="200" dirty="0">
                          <a:solidFill>
                            <a:srgbClr val="11110F"/>
                          </a:solidFill>
                          <a:latin typeface="Cormorant Garamond" pitchFamily="34" charset="0"/>
                          <a:ea typeface="Cormorant Garamond" pitchFamily="34" charset="-122"/>
                          <a:cs typeface="Cormorant Garamond" pitchFamily="34" charset="-120"/>
                        </a:rPr>
                        <a:t>Recommended</a:t>
                      </a:r>
                      <a:endParaRPr lang="en-US" sz="850" dirty="0">
                        <a:latin typeface="Cormorant Garamond" charset="0"/>
                        <a:ea typeface="Cormorant Garamond" charset="0"/>
                        <a:cs typeface="Cormorant Garamond" charset="0"/>
                      </a:endParaRPr>
                    </a:p>
                    <a:p>
                      <a:pPr marL="0" indent="0" algn="l">
                        <a:buNone/>
                      </a:pPr>
                      <a:r>
                        <a:rPr lang="en-US" sz="1800" dirty="0">
                          <a:solidFill>
                            <a:srgbClr val="11110F"/>
                          </a:solidFill>
                          <a:latin typeface="Cormorant Garamond" pitchFamily="34" charset="0"/>
                          <a:ea typeface="Cormorant Garamond" pitchFamily="34" charset="-122"/>
                          <a:cs typeface="Cormorant Garamond" pitchFamily="34" charset="-120"/>
                        </a:rPr>
                        <a:t>The Reach</a:t>
                      </a:r>
                      <a:endParaRPr lang="en-US" sz="1800" dirty="0">
                        <a:latin typeface="Cormorant Garamond" charset="0"/>
                        <a:ea typeface="Cormorant Garamond" charset="0"/>
                        <a:cs typeface="Cormorant Garamond" charset="0"/>
                      </a:endParaRPr>
                    </a:p>
                  </a:txBody>
                  <a:tcPr marL="118872" marB="50800" anchor="b">
                    <a:lnL w="0" cap="flat" cmpd="sng" algn="ctr">
                      <a:noFill/>
                    </a:lnL>
                    <a:lnR w="0" cap="flat" cmpd="sng" algn="ctr">
                      <a:noFill/>
                    </a:lnR>
                    <a:lnT w="0" cap="flat" cmpd="sng" algn="ctr">
                      <a:noFill/>
                    </a:lnT>
                    <a:lnB w="12700" cap="flat" cmpd="sng" algn="ctr">
                      <a:solidFill>
                        <a:srgbClr val="11110F"/>
                      </a:solidFill>
                      <a:prstDash val="solid"/>
                      <a:round/>
                      <a:headEnd type="none" w="med" len="med"/>
                      <a:tailEnd type="none" w="med" len="med"/>
                    </a:lnB>
                    <a:noFill/>
                  </a:tcPr>
                </a:tc>
                <a:tc>
                  <a:txBody>
                    <a:bodyPr/>
                    <a:lstStyle/>
                    <a:p>
                      <a:pPr marL="0" indent="0" algn="l">
                        <a:buNone/>
                      </a:pPr>
                      <a:r>
                        <a:rPr lang="en-US" sz="1800" dirty="0">
                          <a:solidFill>
                            <a:srgbClr val="11110F"/>
                          </a:solidFill>
                          <a:latin typeface="Cormorant Garamond" pitchFamily="34" charset="0"/>
                          <a:ea typeface="Cormorant Garamond" pitchFamily="34" charset="-122"/>
                          <a:cs typeface="Cormorant Garamond" pitchFamily="34" charset="-120"/>
                        </a:rPr>
                        <a:t>The Campaign</a:t>
                      </a:r>
                      <a:endParaRPr lang="en-US" sz="1800" dirty="0">
                        <a:latin typeface="Cormorant Garamond" charset="0"/>
                        <a:ea typeface="Cormorant Garamond" charset="0"/>
                        <a:cs typeface="Cormorant Garamond" charset="0"/>
                      </a:endParaRPr>
                    </a:p>
                  </a:txBody>
                  <a:tcPr marL="118872" marB="50800" anchor="b">
                    <a:lnL w="0" cap="flat" cmpd="sng" algn="ctr">
                      <a:noFill/>
                    </a:lnL>
                    <a:lnR w="0" cap="flat" cmpd="sng" algn="ctr">
                      <a:noFill/>
                    </a:lnR>
                    <a:lnT w="0" cap="flat" cmpd="sng" algn="ctr">
                      <a:noFill/>
                    </a:lnT>
                    <a:lnB w="12700" cap="flat" cmpd="sng" algn="ctr">
                      <a:solidFill>
                        <a:srgbClr val="11110F"/>
                      </a:solidFill>
                      <a:prstDash val="solid"/>
                      <a:round/>
                      <a:headEnd type="none" w="med" len="med"/>
                      <a:tailEnd type="none" w="med" len="med"/>
                    </a:lnB>
                    <a:noFill/>
                  </a:tcPr>
                </a:tc>
                <a:tc>
                  <a:txBody>
                    <a:bodyPr/>
                    <a:lstStyle/>
                    <a:p>
                      <a:pPr marL="0" indent="0" algn="l">
                        <a:buNone/>
                      </a:pPr>
                      <a:r>
                        <a:rPr lang="en-US" sz="1800" dirty="0">
                          <a:solidFill>
                            <a:srgbClr val="11110F"/>
                          </a:solidFill>
                          <a:latin typeface="Cormorant Garamond" pitchFamily="34" charset="0"/>
                          <a:ea typeface="Cormorant Garamond" pitchFamily="34" charset="-122"/>
                          <a:cs typeface="Cormorant Garamond" pitchFamily="34" charset="-120"/>
                        </a:rPr>
                        <a:t>Five Features</a:t>
                      </a:r>
                      <a:endParaRPr lang="en-US" sz="1800" dirty="0">
                        <a:latin typeface="Cormorant Garamond" charset="0"/>
                        <a:ea typeface="Cormorant Garamond" charset="0"/>
                        <a:cs typeface="Cormorant Garamond" charset="0"/>
                      </a:endParaRPr>
                    </a:p>
                  </a:txBody>
                  <a:tcPr marL="118872" marB="50800" anchor="b">
                    <a:lnL w="0" cap="flat" cmpd="sng" algn="ctr">
                      <a:noFill/>
                    </a:lnL>
                    <a:lnR w="0" cap="flat" cmpd="sng" algn="ctr">
                      <a:noFill/>
                    </a:lnR>
                    <a:lnT w="0" cap="flat" cmpd="sng" algn="ctr">
                      <a:noFill/>
                    </a:lnT>
                    <a:lnB w="12700" cap="flat" cmpd="sng" algn="ctr">
                      <a:solidFill>
                        <a:srgbClr val="11110F"/>
                      </a:solidFill>
                      <a:prstDash val="solid"/>
                      <a:round/>
                      <a:headEnd type="none" w="med" len="med"/>
                      <a:tailEnd type="none" w="med" len="med"/>
                    </a:lnB>
                    <a:noFill/>
                  </a:tcPr>
                </a:tc>
                <a:extLst>
                  <a:ext uri="{0D108BD9-81ED-4DB2-BD59-A6C34878D82A}">
                    <a16:rowId xmlns:a16="http://schemas.microsoft.com/office/drawing/2014/main" val="10000"/>
                  </a:ext>
                </a:extLst>
              </a:tr>
              <a:tr h="355600">
                <a:tc>
                  <a:txBody>
                    <a:bodyPr/>
                    <a:lstStyle/>
                    <a:p>
                      <a:pPr marL="0" indent="0">
                        <a:buNone/>
                      </a:pPr>
                      <a:r>
                        <a:rPr lang="en-US" sz="1000" kern="0" spc="150" dirty="0">
                          <a:solidFill>
                            <a:srgbClr val="11110F"/>
                          </a:solidFill>
                          <a:latin typeface="Jost" pitchFamily="34" charset="0"/>
                          <a:ea typeface="Jost" pitchFamily="34" charset="-122"/>
                          <a:cs typeface="Jost" pitchFamily="34" charset="-120"/>
                        </a:rPr>
                        <a:t>PRICE</a:t>
                      </a:r>
                      <a:endParaRPr lang="en-US" sz="1000" spc="150" dirty="0">
                        <a:latin typeface="Jost" charset="0"/>
                        <a:ea typeface="Jost" charset="0"/>
                        <a:cs typeface="Jost" charset="0"/>
                      </a:endParaRPr>
                    </a:p>
                  </a:txBody>
                  <a:tcPr marL="0" marB="50800">
                    <a:lnL w="0" cap="flat" cmpd="sng" algn="ctr">
                      <a:noFill/>
                    </a:lnL>
                    <a:lnR w="0" cap="flat" cmpd="sng" algn="ctr">
                      <a:noFill/>
                    </a:lnR>
                    <a:lnT w="12700" cap="flat" cmpd="sng" algn="ctr">
                      <a:solidFill>
                        <a:srgbClr val="11110F"/>
                      </a:solidFill>
                    </a:lnT>
                    <a:lnB w="9525" cap="flat" cmpd="sng" algn="ctr">
                      <a:solidFill>
                        <a:srgbClr val="C9C0B2"/>
                      </a:solidFill>
                    </a:lnB>
                    <a:noFill/>
                  </a:tcPr>
                </a:tc>
                <a:tc>
                  <a:txBody>
                    <a:bodyPr/>
                    <a:lstStyle/>
                    <a:p>
                      <a:pPr marL="0" indent="0" algn="l">
                        <a:buNone/>
                      </a:pPr>
                      <a:r>
                        <a:rPr lang="en-US" sz="2000" dirty="0">
                          <a:solidFill>
                            <a:srgbClr val="11110F"/>
                          </a:solidFill>
                          <a:latin typeface="Cormorant Garamond" pitchFamily="34" charset="0"/>
                          <a:ea typeface="Cormorant Garamond" pitchFamily="34" charset="-122"/>
                          <a:cs typeface="Cormorant Garamond" pitchFamily="34" charset="-120"/>
                        </a:rPr>
                        <a:t>$295</a:t>
                      </a:r>
                      <a:endParaRPr lang="en-US" sz="2000" dirty="0">
                        <a:latin typeface="Cormorant Garamond" charset="0"/>
                        <a:ea typeface="Cormorant Garamond" charset="0"/>
                        <a:cs typeface="Cormorant Garamond" charset="0"/>
                      </a:endParaRPr>
                    </a:p>
                  </a:txBody>
                  <a:tcPr marL="118872" marB="50800">
                    <a:lnL w="0" cap="flat" cmpd="sng" algn="ctr">
                      <a:noFill/>
                    </a:lnL>
                    <a:lnR w="0" cap="flat" cmpd="sng" algn="ctr">
                      <a:noFill/>
                    </a:lnR>
                    <a:lnT w="12700" cap="flat" cmpd="sng" algn="ctr">
                      <a:solidFill>
                        <a:srgbClr val="11110F"/>
                      </a:solidFill>
                    </a:lnT>
                    <a:lnB w="9525" cap="flat" cmpd="sng" algn="ctr">
                      <a:solidFill>
                        <a:srgbClr val="C9C0B2"/>
                      </a:solidFill>
                    </a:lnB>
                    <a:noFill/>
                  </a:tcPr>
                </a:tc>
                <a:tc>
                  <a:txBody>
                    <a:bodyPr/>
                    <a:lstStyle/>
                    <a:p>
                      <a:pPr marL="0" indent="0" algn="l">
                        <a:buNone/>
                      </a:pPr>
                      <a:r>
                        <a:rPr lang="en-US" sz="2000" dirty="0">
                          <a:solidFill>
                            <a:srgbClr val="11110F"/>
                          </a:solidFill>
                          <a:latin typeface="Cormorant Garamond" pitchFamily="34" charset="0"/>
                          <a:ea typeface="Cormorant Garamond" pitchFamily="34" charset="-122"/>
                          <a:cs typeface="Cormorant Garamond" pitchFamily="34" charset="-120"/>
                        </a:rPr>
                        <a:t>$695</a:t>
                      </a:r>
                      <a:endParaRPr lang="en-US" sz="2000" dirty="0">
                        <a:latin typeface="Cormorant Garamond" charset="0"/>
                        <a:ea typeface="Cormorant Garamond" charset="0"/>
                        <a:cs typeface="Cormorant Garamond" charset="0"/>
                      </a:endParaRPr>
                    </a:p>
                  </a:txBody>
                  <a:tcPr marL="118872" marB="50800">
                    <a:lnL w="0" cap="flat" cmpd="sng" algn="ctr">
                      <a:noFill/>
                    </a:lnL>
                    <a:lnR w="0" cap="flat" cmpd="sng" algn="ctr">
                      <a:noFill/>
                    </a:lnR>
                    <a:lnT w="12700" cap="flat" cmpd="sng" algn="ctr">
                      <a:solidFill>
                        <a:srgbClr val="11110F"/>
                      </a:solidFill>
                    </a:lnT>
                    <a:lnB w="9525" cap="flat" cmpd="sng" algn="ctr">
                      <a:solidFill>
                        <a:srgbClr val="C9C0B2"/>
                      </a:solidFill>
                    </a:lnB>
                    <a:noFill/>
                  </a:tcPr>
                </a:tc>
                <a:tc>
                  <a:txBody>
                    <a:bodyPr/>
                    <a:lstStyle/>
                    <a:p>
                      <a:pPr marL="0" indent="0" algn="l">
                        <a:buNone/>
                      </a:pPr>
                      <a:r>
                        <a:rPr lang="en-US" sz="2000" dirty="0">
                          <a:solidFill>
                            <a:srgbClr val="11110F"/>
                          </a:solidFill>
                          <a:latin typeface="Cormorant Garamond" pitchFamily="34" charset="0"/>
                          <a:ea typeface="Cormorant Garamond" pitchFamily="34" charset="-122"/>
                          <a:cs typeface="Cormorant Garamond" pitchFamily="34" charset="-120"/>
                        </a:rPr>
                        <a:t>$1,495</a:t>
                      </a:r>
                      <a:endParaRPr lang="en-US" sz="2000" dirty="0">
                        <a:latin typeface="Cormorant Garamond" charset="0"/>
                        <a:ea typeface="Cormorant Garamond" charset="0"/>
                        <a:cs typeface="Cormorant Garamond" charset="0"/>
                      </a:endParaRPr>
                    </a:p>
                  </a:txBody>
                  <a:tcPr marL="118872" marB="50800">
                    <a:lnL w="0" cap="flat" cmpd="sng" algn="ctr">
                      <a:noFill/>
                    </a:lnL>
                    <a:lnR w="0" cap="flat" cmpd="sng" algn="ctr">
                      <a:noFill/>
                    </a:lnR>
                    <a:lnT w="12700" cap="flat" cmpd="sng" algn="ctr">
                      <a:solidFill>
                        <a:srgbClr val="11110F"/>
                      </a:solidFill>
                    </a:lnT>
                    <a:lnB w="9525" cap="flat" cmpd="sng" algn="ctr">
                      <a:solidFill>
                        <a:srgbClr val="C9C0B2"/>
                      </a:solidFill>
                    </a:lnB>
                    <a:noFill/>
                  </a:tcPr>
                </a:tc>
                <a:tc>
                  <a:txBody>
                    <a:bodyPr/>
                    <a:lstStyle/>
                    <a:p>
                      <a:pPr marL="0" indent="0" algn="l">
                        <a:buNone/>
                      </a:pPr>
                      <a:r>
                        <a:rPr lang="en-US" sz="2000" dirty="0">
                          <a:solidFill>
                            <a:srgbClr val="11110F"/>
                          </a:solidFill>
                          <a:latin typeface="Cormorant Garamond" pitchFamily="34" charset="0"/>
                          <a:ea typeface="Cormorant Garamond" pitchFamily="34" charset="-122"/>
                          <a:cs typeface="Cormorant Garamond" pitchFamily="34" charset="-120"/>
                        </a:rPr>
                        <a:t>$1,250</a:t>
                      </a:r>
                      <a:endParaRPr lang="en-US" sz="2000" dirty="0">
                        <a:latin typeface="Cormorant Garamond" charset="0"/>
                        <a:ea typeface="Cormorant Garamond" charset="0"/>
                        <a:cs typeface="Cormorant Garamond" charset="0"/>
                      </a:endParaRPr>
                    </a:p>
                  </a:txBody>
                  <a:tcPr marL="118872" marB="50800">
                    <a:lnL w="0" cap="flat" cmpd="sng" algn="ctr">
                      <a:noFill/>
                    </a:lnL>
                    <a:lnR w="0" cap="flat" cmpd="sng" algn="ctr">
                      <a:noFill/>
                    </a:lnR>
                    <a:lnT w="12700" cap="flat" cmpd="sng" algn="ctr">
                      <a:solidFill>
                        <a:srgbClr val="11110F"/>
                      </a:solidFill>
                    </a:lnT>
                    <a:lnB w="9525" cap="flat" cmpd="sng" algn="ctr">
                      <a:solidFill>
                        <a:srgbClr val="C9C0B2"/>
                      </a:solidFill>
                    </a:lnB>
                    <a:noFill/>
                  </a:tcPr>
                </a:tc>
                <a:extLst>
                  <a:ext uri="{0D108BD9-81ED-4DB2-BD59-A6C34878D82A}">
                    <a16:rowId xmlns:a16="http://schemas.microsoft.com/office/drawing/2014/main" val="10001"/>
                  </a:ext>
                </a:extLst>
              </a:tr>
              <a:tr h="355600">
                <a:tc>
                  <a:txBody>
                    <a:bodyPr/>
                    <a:lstStyle/>
                    <a:p>
                      <a:pPr marL="0" indent="0">
                        <a:buNone/>
                      </a:pPr>
                      <a:r>
                        <a:rPr lang="en-US" sz="1000" kern="0" spc="150" dirty="0">
                          <a:solidFill>
                            <a:srgbClr val="11110F"/>
                          </a:solidFill>
                          <a:latin typeface="Jost" pitchFamily="34" charset="0"/>
                          <a:ea typeface="Jost" pitchFamily="34" charset="-122"/>
                          <a:cs typeface="Jost" pitchFamily="34" charset="-120"/>
                        </a:rPr>
                        <a:t>PURPOSE</a:t>
                      </a:r>
                      <a:endParaRPr lang="en-US" sz="1000" spc="150" dirty="0">
                        <a:latin typeface="Jost" charset="0"/>
                        <a:ea typeface="Jost" charset="0"/>
                        <a:cs typeface="Jost" charset="0"/>
                      </a:endParaRPr>
                    </a:p>
                  </a:txBody>
                  <a:tcPr marL="0"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tc>
                  <a:txBody>
                    <a:bodyPr/>
                    <a:lstStyle/>
                    <a:p>
                      <a:pPr marL="0" indent="0" algn="l">
                        <a:buNone/>
                      </a:pPr>
                      <a:r>
                        <a:rPr lang="en-US" sz="1300" dirty="0">
                          <a:solidFill>
                            <a:srgbClr val="2E2C29"/>
                          </a:solidFill>
                          <a:latin typeface="Jost" pitchFamily="34" charset="0"/>
                          <a:ea typeface="Jost" pitchFamily="34" charset="-122"/>
                          <a:cs typeface="Jost" pitchFamily="34" charset="-120"/>
                        </a:rPr>
                        <a:t>Editorial presence.</a:t>
                      </a:r>
                      <a:endParaRPr lang="en-US" sz="1300" dirty="0">
                        <a:latin typeface="Jost" charset="0"/>
                        <a:ea typeface="Jost" charset="0"/>
                        <a:cs typeface="Jost" charset="0"/>
                      </a:endParaRPr>
                    </a:p>
                  </a:txBody>
                  <a:tcPr marL="118872"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tc>
                  <a:txBody>
                    <a:bodyPr/>
                    <a:lstStyle/>
                    <a:p>
                      <a:pPr marL="0" indent="0" algn="l">
                        <a:buNone/>
                      </a:pPr>
                      <a:r>
                        <a:rPr lang="en-US" sz="1300" dirty="0">
                          <a:solidFill>
                            <a:srgbClr val="2E2C29"/>
                          </a:solidFill>
                          <a:latin typeface="Jost" pitchFamily="34" charset="0"/>
                          <a:ea typeface="Jost" pitchFamily="34" charset="-122"/>
                          <a:cs typeface="Jost" pitchFamily="34" charset="-120"/>
                        </a:rPr>
                        <a:t>Editorial presence, expanded through precision distribution.</a:t>
                      </a:r>
                      <a:endParaRPr lang="en-US" sz="1300" dirty="0">
                        <a:latin typeface="Jost" charset="0"/>
                        <a:ea typeface="Jost" charset="0"/>
                        <a:cs typeface="Jost" charset="0"/>
                      </a:endParaRPr>
                    </a:p>
                  </a:txBody>
                  <a:tcPr marL="118872"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tc>
                  <a:txBody>
                    <a:bodyPr/>
                    <a:lstStyle/>
                    <a:p>
                      <a:pPr marL="0" indent="0" algn="l">
                        <a:buNone/>
                      </a:pPr>
                      <a:r>
                        <a:rPr lang="en-US" sz="1300" dirty="0">
                          <a:solidFill>
                            <a:srgbClr val="2E2C29"/>
                          </a:solidFill>
                          <a:latin typeface="Jost" pitchFamily="34" charset="0"/>
                          <a:ea typeface="Jost" pitchFamily="34" charset="-122"/>
                          <a:cs typeface="Jost" pitchFamily="34" charset="-120"/>
                        </a:rPr>
                        <a:t>A deeper, multi-channel property campaign.</a:t>
                      </a:r>
                      <a:endParaRPr lang="en-US" sz="1300" dirty="0">
                        <a:latin typeface="Jost" charset="0"/>
                        <a:ea typeface="Jost" charset="0"/>
                        <a:cs typeface="Jost" charset="0"/>
                      </a:endParaRPr>
                    </a:p>
                  </a:txBody>
                  <a:tcPr marL="118872"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tc>
                  <a:txBody>
                    <a:bodyPr/>
                    <a:lstStyle/>
                    <a:p>
                      <a:pPr marL="0" indent="0" algn="l">
                        <a:buNone/>
                      </a:pPr>
                      <a:r>
                        <a:rPr lang="en-US" sz="1300" dirty="0">
                          <a:solidFill>
                            <a:srgbClr val="2E2C29"/>
                          </a:solidFill>
                          <a:latin typeface="Jost" pitchFamily="34" charset="0"/>
                          <a:ea typeface="Jost" pitchFamily="34" charset="-122"/>
                          <a:cs typeface="Jost" pitchFamily="34" charset="-120"/>
                        </a:rPr>
                        <a:t>For agents, teams and brokerages with several qualifying properties.</a:t>
                      </a:r>
                      <a:endParaRPr lang="en-US" sz="1300" dirty="0">
                        <a:latin typeface="Jost" charset="0"/>
                        <a:ea typeface="Jost" charset="0"/>
                        <a:cs typeface="Jost" charset="0"/>
                      </a:endParaRPr>
                    </a:p>
                  </a:txBody>
                  <a:tcPr marL="118872"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extLst>
                  <a:ext uri="{0D108BD9-81ED-4DB2-BD59-A6C34878D82A}">
                    <a16:rowId xmlns:a16="http://schemas.microsoft.com/office/drawing/2014/main" val="10002"/>
                  </a:ext>
                </a:extLst>
              </a:tr>
              <a:tr h="355600">
                <a:tc>
                  <a:txBody>
                    <a:bodyPr/>
                    <a:lstStyle/>
                    <a:p>
                      <a:pPr marL="0" indent="0">
                        <a:buNone/>
                      </a:pPr>
                      <a:r>
                        <a:rPr lang="en-US" sz="1000" kern="0" spc="150" dirty="0">
                          <a:solidFill>
                            <a:srgbClr val="11110F"/>
                          </a:solidFill>
                          <a:latin typeface="Jost" pitchFamily="34" charset="0"/>
                          <a:ea typeface="Jost" pitchFamily="34" charset="-122"/>
                          <a:cs typeface="Jost" pitchFamily="34" charset="-120"/>
                        </a:rPr>
                        <a:t>BUILDS ON</a:t>
                      </a:r>
                      <a:endParaRPr lang="en-US" sz="1000" spc="150" dirty="0">
                        <a:latin typeface="Jost" charset="0"/>
                        <a:ea typeface="Jost" charset="0"/>
                        <a:cs typeface="Jost" charset="0"/>
                      </a:endParaRPr>
                    </a:p>
                  </a:txBody>
                  <a:tcPr marL="0"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tc>
                  <a:txBody>
                    <a:bodyPr/>
                    <a:lstStyle/>
                    <a:p>
                      <a:pPr marL="0" indent="0" algn="l">
                        <a:buNone/>
                      </a:pPr>
                      <a:r>
                        <a:rPr lang="en-US" sz="1300" dirty="0">
                          <a:solidFill>
                            <a:srgbClr val="2E2C29"/>
                          </a:solidFill>
                          <a:latin typeface="Jost" pitchFamily="34" charset="0"/>
                          <a:ea typeface="Jost" pitchFamily="34" charset="-122"/>
                          <a:cs typeface="Jost" pitchFamily="34" charset="-120"/>
                        </a:rPr>
                        <a:t>A permanent editorial page</a:t>
                      </a:r>
                      <a:endParaRPr lang="en-US" sz="1300" dirty="0">
                        <a:latin typeface="Jost" charset="0"/>
                        <a:ea typeface="Jost" charset="0"/>
                        <a:cs typeface="Jost" charset="0"/>
                      </a:endParaRPr>
                    </a:p>
                  </a:txBody>
                  <a:tcPr marL="118872"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tc>
                  <a:txBody>
                    <a:bodyPr/>
                    <a:lstStyle/>
                    <a:p>
                      <a:pPr marL="0" indent="0" algn="l">
                        <a:buNone/>
                      </a:pPr>
                      <a:r>
                        <a:rPr lang="en-US" sz="1300" dirty="0">
                          <a:solidFill>
                            <a:srgbClr val="2E2C29"/>
                          </a:solidFill>
                          <a:latin typeface="Jost" pitchFamily="34" charset="0"/>
                          <a:ea typeface="Jost" pitchFamily="34" charset="-122"/>
                          <a:cs typeface="Jost" pitchFamily="34" charset="-120"/>
                        </a:rPr>
                        <a:t>Everything in The Feature</a:t>
                      </a:r>
                      <a:endParaRPr lang="en-US" sz="1300" dirty="0">
                        <a:latin typeface="Jost" charset="0"/>
                        <a:ea typeface="Jost" charset="0"/>
                        <a:cs typeface="Jost" charset="0"/>
                      </a:endParaRPr>
                    </a:p>
                  </a:txBody>
                  <a:tcPr marL="118872"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tc>
                  <a:txBody>
                    <a:bodyPr/>
                    <a:lstStyle/>
                    <a:p>
                      <a:pPr marL="0" indent="0" algn="l">
                        <a:buNone/>
                      </a:pPr>
                      <a:r>
                        <a:rPr lang="en-US" sz="1300" dirty="0">
                          <a:solidFill>
                            <a:srgbClr val="2E2C29"/>
                          </a:solidFill>
                          <a:latin typeface="Jost" pitchFamily="34" charset="0"/>
                          <a:ea typeface="Jost" pitchFamily="34" charset="-122"/>
                          <a:cs typeface="Jost" pitchFamily="34" charset="-120"/>
                        </a:rPr>
                        <a:t>Everything in The Reach</a:t>
                      </a:r>
                      <a:endParaRPr lang="en-US" sz="1300" dirty="0">
                        <a:latin typeface="Jost" charset="0"/>
                        <a:ea typeface="Jost" charset="0"/>
                        <a:cs typeface="Jost" charset="0"/>
                      </a:endParaRPr>
                    </a:p>
                  </a:txBody>
                  <a:tcPr marL="118872"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tc>
                  <a:txBody>
                    <a:bodyPr/>
                    <a:lstStyle/>
                    <a:p>
                      <a:pPr marL="0" indent="0" algn="l">
                        <a:buNone/>
                      </a:pPr>
                      <a:r>
                        <a:rPr lang="en-US" sz="1300" dirty="0">
                          <a:solidFill>
                            <a:srgbClr val="2E2C29"/>
                          </a:solidFill>
                          <a:latin typeface="Jost" pitchFamily="34" charset="0"/>
                          <a:ea typeface="Jost" pitchFamily="34" charset="-122"/>
                          <a:cs typeface="Jost" pitchFamily="34" charset="-120"/>
                        </a:rPr>
                        <a:t>Five Feature credits</a:t>
                      </a:r>
                      <a:endParaRPr lang="en-US" sz="1300" dirty="0">
                        <a:latin typeface="Jost" charset="0"/>
                        <a:ea typeface="Jost" charset="0"/>
                        <a:cs typeface="Jost" charset="0"/>
                      </a:endParaRPr>
                    </a:p>
                  </a:txBody>
                  <a:tcPr marL="118872"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extLst>
                  <a:ext uri="{0D108BD9-81ED-4DB2-BD59-A6C34878D82A}">
                    <a16:rowId xmlns:a16="http://schemas.microsoft.com/office/drawing/2014/main" val="10003"/>
                  </a:ext>
                </a:extLst>
              </a:tr>
              <a:tr h="355600">
                <a:tc>
                  <a:txBody>
                    <a:bodyPr/>
                    <a:lstStyle/>
                    <a:p>
                      <a:pPr marL="0" indent="0">
                        <a:buNone/>
                      </a:pPr>
                      <a:r>
                        <a:rPr lang="en-US" sz="1000" kern="0" spc="150" dirty="0">
                          <a:solidFill>
                            <a:srgbClr val="11110F"/>
                          </a:solidFill>
                          <a:latin typeface="Jost" pitchFamily="34" charset="0"/>
                          <a:ea typeface="Jost" pitchFamily="34" charset="-122"/>
                          <a:cs typeface="Jost" pitchFamily="34" charset="-120"/>
                        </a:rPr>
                        <a:t>ADDS</a:t>
                      </a:r>
                      <a:endParaRPr lang="en-US" sz="1000" spc="150" dirty="0">
                        <a:latin typeface="Jost" charset="0"/>
                        <a:ea typeface="Jost" charset="0"/>
                        <a:cs typeface="Jost" charset="0"/>
                      </a:endParaRPr>
                    </a:p>
                  </a:txBody>
                  <a:tcPr marL="0"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tc>
                  <a:txBody>
                    <a:bodyPr/>
                    <a:lstStyle/>
                    <a:p>
                      <a:pPr marL="0" indent="0" algn="l">
                        <a:buNone/>
                      </a:pPr>
                      <a:r>
                        <a:rPr lang="en-US" sz="1300" dirty="0">
                          <a:solidFill>
                            <a:srgbClr val="2E2C29"/>
                          </a:solidFill>
                          <a:latin typeface="Jost" pitchFamily="34" charset="0"/>
                          <a:ea typeface="Jost" pitchFamily="34" charset="-122"/>
                          <a:cs typeface="Jost" pitchFamily="34" charset="-120"/>
                        </a:rPr>
                        <a:t>Narrative, image sequencing, social carousel, attribution, inquiry routing</a:t>
                      </a:r>
                      <a:endParaRPr lang="en-US" sz="1300" dirty="0">
                        <a:latin typeface="Jost" charset="0"/>
                        <a:ea typeface="Jost" charset="0"/>
                        <a:cs typeface="Jost" charset="0"/>
                      </a:endParaRPr>
                    </a:p>
                  </a:txBody>
                  <a:tcPr marL="118872"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tc>
                  <a:txBody>
                    <a:bodyPr/>
                    <a:lstStyle/>
                    <a:p>
                      <a:pPr marL="0" indent="0" algn="l">
                        <a:buNone/>
                      </a:pPr>
                      <a:r>
                        <a:rPr lang="en-US" sz="1300" dirty="0">
                          <a:solidFill>
                            <a:srgbClr val="2E2C29"/>
                          </a:solidFill>
                          <a:latin typeface="Jost" pitchFamily="34" charset="0"/>
                          <a:ea typeface="Jost" pitchFamily="34" charset="-122"/>
                          <a:cs typeface="Jost" pitchFamily="34" charset="-120"/>
                        </a:rPr>
                        <a:t>Stories, newsletter, priority scheduling, campaign planning</a:t>
                      </a:r>
                      <a:endParaRPr lang="en-US" sz="1300" dirty="0">
                        <a:latin typeface="Jost" charset="0"/>
                        <a:ea typeface="Jost" charset="0"/>
                        <a:cs typeface="Jost" charset="0"/>
                      </a:endParaRPr>
                    </a:p>
                  </a:txBody>
                  <a:tcPr marL="118872"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tc>
                  <a:txBody>
                    <a:bodyPr/>
                    <a:lstStyle/>
                    <a:p>
                      <a:pPr marL="0" indent="0" algn="l">
                        <a:buNone/>
                      </a:pPr>
                      <a:r>
                        <a:rPr lang="en-US" sz="1300" dirty="0">
                          <a:solidFill>
                            <a:srgbClr val="2E2C29"/>
                          </a:solidFill>
                          <a:latin typeface="Jost" pitchFamily="34" charset="0"/>
                          <a:ea typeface="Jost" pitchFamily="34" charset="-122"/>
                          <a:cs typeface="Jost" pitchFamily="34" charset="-120"/>
                        </a:rPr>
                        <a:t>Expanded story, short-form video, standalone email, 10 to 14 day window</a:t>
                      </a:r>
                      <a:endParaRPr lang="en-US" sz="1300" dirty="0">
                        <a:latin typeface="Jost" charset="0"/>
                        <a:ea typeface="Jost" charset="0"/>
                        <a:cs typeface="Jost" charset="0"/>
                      </a:endParaRPr>
                    </a:p>
                  </a:txBody>
                  <a:tcPr marL="118872"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tc>
                  <a:txBody>
                    <a:bodyPr/>
                    <a:lstStyle/>
                    <a:p>
                      <a:pPr marL="0" indent="0" algn="l">
                        <a:buNone/>
                      </a:pPr>
                      <a:r>
                        <a:rPr lang="en-US" sz="1300" dirty="0">
                          <a:solidFill>
                            <a:srgbClr val="2E2C29"/>
                          </a:solidFill>
                          <a:latin typeface="Jost" pitchFamily="34" charset="0"/>
                          <a:ea typeface="Jost" pitchFamily="34" charset="-122"/>
                          <a:cs typeface="Jost" pitchFamily="34" charset="-120"/>
                        </a:rPr>
                        <a:t>Submit properties individually; distribution upgrades per property</a:t>
                      </a:r>
                      <a:endParaRPr lang="en-US" sz="1300" dirty="0">
                        <a:latin typeface="Jost" charset="0"/>
                        <a:ea typeface="Jost" charset="0"/>
                        <a:cs typeface="Jost" charset="0"/>
                      </a:endParaRPr>
                    </a:p>
                  </a:txBody>
                  <a:tcPr marL="118872"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extLst>
                  <a:ext uri="{0D108BD9-81ED-4DB2-BD59-A6C34878D82A}">
                    <a16:rowId xmlns:a16="http://schemas.microsoft.com/office/drawing/2014/main" val="10004"/>
                  </a:ext>
                </a:extLst>
              </a:tr>
              <a:tr h="355600">
                <a:tc>
                  <a:txBody>
                    <a:bodyPr/>
                    <a:lstStyle/>
                    <a:p>
                      <a:pPr marL="0" indent="0">
                        <a:buNone/>
                      </a:pPr>
                      <a:r>
                        <a:rPr lang="en-US" sz="1000" kern="0" spc="150" dirty="0">
                          <a:solidFill>
                            <a:srgbClr val="11110F"/>
                          </a:solidFill>
                          <a:latin typeface="Jost" pitchFamily="34" charset="0"/>
                          <a:ea typeface="Jost" pitchFamily="34" charset="-122"/>
                          <a:cs typeface="Jost" pitchFamily="34" charset="-120"/>
                        </a:rPr>
                        <a:t>PAID MEDIA</a:t>
                      </a:r>
                      <a:endParaRPr lang="en-US" sz="1000" spc="150" dirty="0">
                        <a:latin typeface="Jost" charset="0"/>
                        <a:ea typeface="Jost" charset="0"/>
                        <a:cs typeface="Jost" charset="0"/>
                      </a:endParaRPr>
                    </a:p>
                  </a:txBody>
                  <a:tcPr marL="0"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tc>
                  <a:txBody>
                    <a:bodyPr/>
                    <a:lstStyle/>
                    <a:p>
                      <a:pPr marL="0" indent="0" algn="l">
                        <a:buNone/>
                      </a:pPr>
                      <a:r>
                        <a:rPr lang="en-US" sz="1300" dirty="0">
                          <a:solidFill>
                            <a:srgbClr val="2E2C29"/>
                          </a:solidFill>
                          <a:latin typeface="Jost" pitchFamily="34" charset="0"/>
                          <a:ea typeface="Jost" pitchFamily="34" charset="-122"/>
                          <a:cs typeface="Jost" pitchFamily="34" charset="-120"/>
                        </a:rPr>
                        <a:t>Not part of The Feature</a:t>
                      </a:r>
                      <a:endParaRPr lang="en-US" sz="1300" dirty="0">
                        <a:latin typeface="Jost" charset="0"/>
                        <a:ea typeface="Jost" charset="0"/>
                        <a:cs typeface="Jost" charset="0"/>
                      </a:endParaRPr>
                    </a:p>
                  </a:txBody>
                  <a:tcPr marL="118872"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tc>
                  <a:txBody>
                    <a:bodyPr/>
                    <a:lstStyle/>
                    <a:p>
                      <a:pPr marL="0" indent="0" algn="l">
                        <a:buNone/>
                      </a:pPr>
                      <a:r>
                        <a:rPr lang="en-US" sz="1300" dirty="0">
                          <a:solidFill>
                            <a:srgbClr val="2E2C29"/>
                          </a:solidFill>
                          <a:latin typeface="Jost" pitchFamily="34" charset="0"/>
                          <a:ea typeface="Jost" pitchFamily="34" charset="-122"/>
                          <a:cs typeface="Jost" pitchFamily="34" charset="-120"/>
                        </a:rPr>
                        <a:t>Optional, billed separately</a:t>
                      </a:r>
                      <a:endParaRPr lang="en-US" sz="1300" dirty="0">
                        <a:latin typeface="Jost" charset="0"/>
                        <a:ea typeface="Jost" charset="0"/>
                        <a:cs typeface="Jost" charset="0"/>
                      </a:endParaRPr>
                    </a:p>
                  </a:txBody>
                  <a:tcPr marL="118872"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tc>
                  <a:txBody>
                    <a:bodyPr/>
                    <a:lstStyle/>
                    <a:p>
                      <a:pPr marL="0" indent="0" algn="l">
                        <a:buNone/>
                      </a:pPr>
                      <a:r>
                        <a:rPr lang="en-US" sz="1300" dirty="0">
                          <a:solidFill>
                            <a:srgbClr val="2E2C29"/>
                          </a:solidFill>
                          <a:latin typeface="Jost" pitchFamily="34" charset="0"/>
                          <a:ea typeface="Jost" pitchFamily="34" charset="-122"/>
                          <a:cs typeface="Jost" pitchFamily="34" charset="-120"/>
                        </a:rPr>
                        <a:t>Recommended media investment: $500 to $2,500+, billed separately</a:t>
                      </a:r>
                      <a:endParaRPr lang="en-US" sz="1300" dirty="0">
                        <a:latin typeface="Jost" charset="0"/>
                        <a:ea typeface="Jost" charset="0"/>
                        <a:cs typeface="Jost" charset="0"/>
                      </a:endParaRPr>
                    </a:p>
                  </a:txBody>
                  <a:tcPr marL="118872"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tc>
                  <a:txBody>
                    <a:bodyPr/>
                    <a:lstStyle/>
                    <a:p>
                      <a:pPr marL="0" indent="0" algn="l">
                        <a:buNone/>
                      </a:pPr>
                      <a:r>
                        <a:rPr lang="en-US" sz="1300" dirty="0">
                          <a:solidFill>
                            <a:srgbClr val="2E2C29"/>
                          </a:solidFill>
                          <a:latin typeface="Jost" pitchFamily="34" charset="0"/>
                          <a:ea typeface="Jost" pitchFamily="34" charset="-122"/>
                          <a:cs typeface="Jost" pitchFamily="34" charset="-120"/>
                        </a:rPr>
                        <a:t>Per property, billed separately</a:t>
                      </a:r>
                      <a:endParaRPr lang="en-US" sz="1300" dirty="0">
                        <a:latin typeface="Jost" charset="0"/>
                        <a:ea typeface="Jost" charset="0"/>
                        <a:cs typeface="Jost" charset="0"/>
                      </a:endParaRPr>
                    </a:p>
                  </a:txBody>
                  <a:tcPr marL="118872"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extLst>
                  <a:ext uri="{0D108BD9-81ED-4DB2-BD59-A6C34878D82A}">
                    <a16:rowId xmlns:a16="http://schemas.microsoft.com/office/drawing/2014/main" val="10005"/>
                  </a:ext>
                </a:extLst>
              </a:tr>
              <a:tr h="355600">
                <a:tc>
                  <a:txBody>
                    <a:bodyPr/>
                    <a:lstStyle/>
                    <a:p>
                      <a:pPr marL="0" indent="0">
                        <a:buNone/>
                      </a:pPr>
                      <a:r>
                        <a:rPr lang="en-US" sz="1000" kern="0" spc="150" dirty="0">
                          <a:solidFill>
                            <a:srgbClr val="11110F"/>
                          </a:solidFill>
                          <a:latin typeface="Jost" pitchFamily="34" charset="0"/>
                          <a:ea typeface="Jost" pitchFamily="34" charset="-122"/>
                          <a:cs typeface="Jost" pitchFamily="34" charset="-120"/>
                        </a:rPr>
                        <a:t>PER PROPERTY</a:t>
                      </a:r>
                      <a:endParaRPr lang="en-US" sz="1000" spc="150" dirty="0">
                        <a:latin typeface="Jost" charset="0"/>
                        <a:ea typeface="Jost" charset="0"/>
                        <a:cs typeface="Jost" charset="0"/>
                      </a:endParaRPr>
                    </a:p>
                  </a:txBody>
                  <a:tcPr marL="0"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tc>
                  <a:txBody>
                    <a:bodyPr/>
                    <a:lstStyle/>
                    <a:p>
                      <a:pPr marL="0" indent="0" algn="l">
                        <a:buNone/>
                      </a:pPr>
                      <a:r>
                        <a:rPr lang="en-US" sz="1300" dirty="0">
                          <a:solidFill>
                            <a:srgbClr val="2E2C29"/>
                          </a:solidFill>
                          <a:latin typeface="Jost" pitchFamily="34" charset="0"/>
                          <a:ea typeface="Jost" pitchFamily="34" charset="-122"/>
                          <a:cs typeface="Jost" pitchFamily="34" charset="-120"/>
                        </a:rPr>
                        <a:t>$295</a:t>
                      </a:r>
                      <a:endParaRPr lang="en-US" sz="1300" dirty="0">
                        <a:latin typeface="Jost" charset="0"/>
                        <a:ea typeface="Jost" charset="0"/>
                        <a:cs typeface="Jost" charset="0"/>
                      </a:endParaRPr>
                    </a:p>
                  </a:txBody>
                  <a:tcPr marL="118872"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tc>
                  <a:txBody>
                    <a:bodyPr/>
                    <a:lstStyle/>
                    <a:p>
                      <a:pPr marL="0" indent="0" algn="l">
                        <a:buNone/>
                      </a:pPr>
                      <a:r>
                        <a:rPr lang="en-US" sz="1300" dirty="0">
                          <a:solidFill>
                            <a:srgbClr val="2E2C29"/>
                          </a:solidFill>
                          <a:latin typeface="Jost" pitchFamily="34" charset="0"/>
                          <a:ea typeface="Jost" pitchFamily="34" charset="-122"/>
                          <a:cs typeface="Jost" pitchFamily="34" charset="-120"/>
                        </a:rPr>
                        <a:t>$695</a:t>
                      </a:r>
                      <a:endParaRPr lang="en-US" sz="1300" dirty="0">
                        <a:latin typeface="Jost" charset="0"/>
                        <a:ea typeface="Jost" charset="0"/>
                        <a:cs typeface="Jost" charset="0"/>
                      </a:endParaRPr>
                    </a:p>
                  </a:txBody>
                  <a:tcPr marL="118872"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tc>
                  <a:txBody>
                    <a:bodyPr/>
                    <a:lstStyle/>
                    <a:p>
                      <a:pPr marL="0" indent="0" algn="l">
                        <a:buNone/>
                      </a:pPr>
                      <a:r>
                        <a:rPr lang="en-US" sz="1300" dirty="0">
                          <a:solidFill>
                            <a:srgbClr val="2E2C29"/>
                          </a:solidFill>
                          <a:latin typeface="Jost" pitchFamily="34" charset="0"/>
                          <a:ea typeface="Jost" pitchFamily="34" charset="-122"/>
                          <a:cs typeface="Jost" pitchFamily="34" charset="-120"/>
                        </a:rPr>
                        <a:t>$1,495</a:t>
                      </a:r>
                      <a:endParaRPr lang="en-US" sz="1300" dirty="0">
                        <a:latin typeface="Jost" charset="0"/>
                        <a:ea typeface="Jost" charset="0"/>
                        <a:cs typeface="Jost" charset="0"/>
                      </a:endParaRPr>
                    </a:p>
                  </a:txBody>
                  <a:tcPr marL="118872"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tc>
                  <a:txBody>
                    <a:bodyPr/>
                    <a:lstStyle/>
                    <a:p>
                      <a:pPr marL="0" indent="0" algn="l">
                        <a:buNone/>
                      </a:pPr>
                      <a:r>
                        <a:rPr lang="en-US" sz="1300" dirty="0">
                          <a:solidFill>
                            <a:srgbClr val="2E2C29"/>
                          </a:solidFill>
                          <a:latin typeface="Jost" pitchFamily="34" charset="0"/>
                          <a:ea typeface="Jost" pitchFamily="34" charset="-122"/>
                          <a:cs typeface="Jost" pitchFamily="34" charset="-120"/>
                        </a:rPr>
                        <a:t>$250 per property</a:t>
                      </a:r>
                      <a:endParaRPr lang="en-US" sz="1300" dirty="0">
                        <a:latin typeface="Jost" charset="0"/>
                        <a:ea typeface="Jost" charset="0"/>
                        <a:cs typeface="Jost" charset="0"/>
                      </a:endParaRPr>
                    </a:p>
                  </a:txBody>
                  <a:tcPr marL="118872" marB="50800">
                    <a:lnL w="0" cap="flat" cmpd="sng" algn="ctr">
                      <a:noFill/>
                    </a:lnL>
                    <a:lnR w="0" cap="flat" cmpd="sng" algn="ctr">
                      <a:noFill/>
                    </a:lnR>
                    <a:lnT w="9525" cap="flat" cmpd="sng" algn="ctr">
                      <a:solidFill>
                        <a:srgbClr val="C9C0B2"/>
                      </a:solidFill>
                    </a:lnT>
                    <a:lnB w="9525" cap="flat" cmpd="sng" algn="ctr">
                      <a:solidFill>
                        <a:srgbClr val="C9C0B2"/>
                      </a:solidFill>
                    </a:lnB>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93159927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15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950"/>
                                        <p:tgtEl>
                                          <p:spTgt spid="11"/>
                                        </p:tgtEl>
                                      </p:cBhvr>
                                    </p:animEffect>
                                    <p:anim calcmode="lin" valueType="num">
                                      <p:cBhvr>
                                        <p:cTn id="8" dur="950" decel="100000" fill="hold"/>
                                        <p:tgtEl>
                                          <p:spTgt spid="11"/>
                                        </p:tgtEl>
                                        <p:attrNameLst>
                                          <p:attrName>ppt_x</p:attrName>
                                        </p:attrNameLst>
                                      </p:cBhvr>
                                      <p:tavLst>
                                        <p:tav tm="0">
                                          <p:val>
                                            <p:strVal val="#ppt_x"/>
                                          </p:val>
                                        </p:tav>
                                        <p:tav tm="100000">
                                          <p:val>
                                            <p:strVal val="#ppt_x"/>
                                          </p:val>
                                        </p:tav>
                                      </p:tavLst>
                                    </p:anim>
                                    <p:anim calcmode="lin" valueType="num">
                                      <p:cBhvr>
                                        <p:cTn id="9" dur="950" decel="100000" fill="hold"/>
                                        <p:tgtEl>
                                          <p:spTgt spid="11"/>
                                        </p:tgtEl>
                                        <p:attrNameLst>
                                          <p:attrName>ppt_y</p:attrName>
                                        </p:attrNameLst>
                                      </p:cBhvr>
                                      <p:tavLst>
                                        <p:tav tm="0">
                                          <p:val>
                                            <p:strVal val="#ppt_y+0.02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1" grpId="0">
        <p:bldAsOne/>
      </p:bldGraphic>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EAE1"/>
        </a:solidFill>
        <a:effectLst/>
      </p:bgPr>
    </p:bg>
    <p:spTree>
      <p:nvGrpSpPr>
        <p:cNvPr id="1" name=""/>
        <p:cNvGrpSpPr/>
        <p:nvPr/>
      </p:nvGrpSpPr>
      <p:grpSpPr>
        <a:xfrm>
          <a:off x="0" y="0"/>
          <a:ext cx="0" cy="0"/>
          <a:chOff x="0" y="0"/>
          <a:chExt cx="0" cy="0"/>
        </a:xfrm>
      </p:grpSpPr>
      <p:pic>
        <p:nvPicPr>
          <p:cNvPr id="2" name="!!Photo" descr="E:/Matter Of Place/Matter Of Place Codebase/src/assets/naples.jpg"/>
          <p:cNvPicPr>
            <a:picLocks noChangeAspect="1"/>
          </p:cNvPicPr>
          <p:nvPr/>
        </p:nvPicPr>
        <p:blipFill>
          <a:blip r:embed="rId3"/>
          <a:srcRect l="26614" r="26614"/>
          <a:stretch/>
        </p:blipFill>
        <p:spPr>
          <a:xfrm>
            <a:off x="0" y="0"/>
            <a:ext cx="4480560" cy="6858000"/>
          </a:xfrm>
          <a:prstGeom prst="rect">
            <a:avLst/>
          </a:prstGeom>
        </p:spPr>
      </p:pic>
      <p:sp>
        <p:nvSpPr>
          <p:cNvPr id="3" name="!!Agenda">
            <a:hlinkClick r:id="" action="ppaction://noaction"/>
          </p:cNvPr>
          <p:cNvSpPr/>
          <p:nvPr/>
        </p:nvSpPr>
        <p:spPr>
          <a:xfrm>
            <a:off x="10362895" y="381000"/>
            <a:ext cx="1097280" cy="228600"/>
          </a:xfrm>
          <a:prstGeom prst="rect">
            <a:avLst/>
          </a:prstGeom>
          <a:noFill/>
          <a:ln/>
        </p:spPr>
        <p:txBody>
          <a:bodyPr wrap="square" lIns="0" tIns="0" rIns="0" bIns="0" rtlCol="0" anchor="ctr"/>
          <a:lstStyle/>
          <a:p>
            <a:pPr marL="0" indent="0" algn="r">
              <a:buNone/>
            </a:pPr>
            <a:r>
              <a:rPr lang="en-US" sz="1000" u="sng" kern="0" spc="250" dirty="0">
                <a:solidFill>
                  <a:srgbClr val="11110F"/>
                </a:solidFill>
                <a:latin typeface="Jost" pitchFamily="34" charset="0"/>
                <a:ea typeface="Jost" pitchFamily="34" charset="-122"/>
                <a:cs typeface="Jost" pitchFamily="34" charset="-120"/>
                <a:hlinkClick r:id="" action="ppaction://noaction">
                  <a:extLst>
                    <a:ext uri="{A12FA001-AC4F-418D-AE19-62706E023703}">
                      <ahyp:hlinkClr xmlns:ahyp="http://schemas.microsoft.com/office/drawing/2018/hyperlinkcolor" val="tx"/>
                    </a:ext>
                  </a:extLst>
                </a:hlinkClick>
              </a:rPr>
              <a:t>Agenda</a:t>
            </a:r>
            <a:endParaRPr lang="en-US" sz="1000" dirty="0"/>
          </a:p>
        </p:txBody>
      </p:sp>
      <p:sp>
        <p:nvSpPr>
          <p:cNvPr id="4" name="!!Footer"/>
          <p:cNvSpPr/>
          <p:nvPr/>
        </p:nvSpPr>
        <p:spPr>
          <a:xfrm>
            <a:off x="5212080" y="6172200"/>
            <a:ext cx="4572000" cy="228600"/>
          </a:xfrm>
          <a:prstGeom prst="rect">
            <a:avLst/>
          </a:prstGeom>
          <a:noFill/>
          <a:ln/>
        </p:spPr>
        <p:txBody>
          <a:bodyPr wrap="square" lIns="0" tIns="0" rIns="0" bIns="0" rtlCol="0" anchor="ctr"/>
          <a:lstStyle/>
          <a:p>
            <a:pPr marL="0" indent="0">
              <a:buNone/>
            </a:pPr>
            <a:r>
              <a:rPr lang="en-US" sz="900" kern="0" spc="250" dirty="0">
                <a:solidFill>
                  <a:srgbClr val="5E5A54"/>
                </a:solidFill>
                <a:latin typeface="Jost" pitchFamily="34" charset="0"/>
                <a:ea typeface="Jost" pitchFamily="34" charset="-122"/>
                <a:cs typeface="Jost" pitchFamily="34" charset="-120"/>
              </a:rPr>
              <a:t>MATTER OF PLACE  ·  FOR PARTNERS</a:t>
            </a:r>
            <a:endParaRPr lang="en-US" sz="900" dirty="0"/>
          </a:p>
        </p:txBody>
      </p:sp>
      <p:sp>
        <p:nvSpPr>
          <p:cNvPr id="5" name="!!Page"/>
          <p:cNvSpPr/>
          <p:nvPr/>
        </p:nvSpPr>
        <p:spPr>
          <a:xfrm>
            <a:off x="10362895" y="6172200"/>
            <a:ext cx="1097280" cy="228600"/>
          </a:xfrm>
          <a:prstGeom prst="rect">
            <a:avLst/>
          </a:prstGeom>
          <a:noFill/>
          <a:ln/>
        </p:spPr>
        <p:txBody>
          <a:bodyPr wrap="square" lIns="0" tIns="0" rIns="0" bIns="0" rtlCol="0" anchor="ctr"/>
          <a:lstStyle/>
          <a:p>
            <a:pPr marL="0" indent="0" algn="r">
              <a:buNone/>
            </a:pPr>
            <a:r>
              <a:rPr lang="en-US" sz="900" kern="0" spc="250" dirty="0">
                <a:solidFill>
                  <a:srgbClr val="5E5A54"/>
                </a:solidFill>
                <a:latin typeface="Jost" pitchFamily="34" charset="0"/>
                <a:ea typeface="Jost" pitchFamily="34" charset="-122"/>
                <a:cs typeface="Jost" pitchFamily="34" charset="-120"/>
              </a:rPr>
              <a:t>11 / 14</a:t>
            </a:r>
            <a:endParaRPr lang="en-US" sz="900" dirty="0"/>
          </a:p>
        </p:txBody>
      </p:sp>
      <p:sp>
        <p:nvSpPr>
          <p:cNvPr id="6" name="!!Eyebrow"/>
          <p:cNvSpPr/>
          <p:nvPr/>
        </p:nvSpPr>
        <p:spPr>
          <a:xfrm>
            <a:off x="5212080" y="868680"/>
            <a:ext cx="5486400" cy="274320"/>
          </a:xfrm>
          <a:prstGeom prst="rect">
            <a:avLst/>
          </a:prstGeom>
          <a:noFill/>
          <a:ln/>
        </p:spPr>
        <p:txBody>
          <a:bodyPr wrap="square" lIns="0" tIns="0" rIns="0" bIns="0" rtlCol="0" anchor="ctr"/>
          <a:lstStyle/>
          <a:p>
            <a:pPr marL="0" indent="0">
              <a:buNone/>
            </a:pPr>
            <a:r>
              <a:rPr lang="en-US" sz="1050" kern="0" spc="300" dirty="0">
                <a:solidFill>
                  <a:srgbClr val="575751"/>
                </a:solidFill>
                <a:latin typeface="Jost" pitchFamily="34" charset="0"/>
                <a:ea typeface="Jost" pitchFamily="34" charset="-122"/>
                <a:cs typeface="Jost" pitchFamily="34" charset="-120"/>
              </a:rPr>
              <a:t>PRECISION DISTRIBUTION</a:t>
            </a:r>
            <a:endParaRPr lang="en-US" sz="1050" dirty="0"/>
          </a:p>
        </p:txBody>
      </p:sp>
      <p:sp>
        <p:nvSpPr>
          <p:cNvPr id="7" name="!!Title"/>
          <p:cNvSpPr/>
          <p:nvPr/>
        </p:nvSpPr>
        <p:spPr>
          <a:xfrm>
            <a:off x="5212080" y="1188720"/>
            <a:ext cx="6248095" cy="711200"/>
          </a:xfrm>
          <a:prstGeom prst="rect">
            <a:avLst/>
          </a:prstGeom>
          <a:noFill/>
          <a:ln/>
        </p:spPr>
        <p:txBody>
          <a:bodyPr wrap="square" lIns="0" tIns="0" rIns="0" bIns="0" rtlCol="0" anchor="t"/>
          <a:lstStyle/>
          <a:p>
            <a:pPr marL="0" indent="0">
              <a:buNone/>
            </a:pPr>
            <a:r>
              <a:rPr lang="en-US" sz="3800" dirty="0">
                <a:solidFill>
                  <a:srgbClr val="11110F"/>
                </a:solidFill>
                <a:latin typeface="Cormorant Garamond" pitchFamily="34" charset="0"/>
                <a:ea typeface="Cormorant Garamond" pitchFamily="34" charset="-122"/>
                <a:cs typeface="Cormorant Garamond" pitchFamily="34" charset="-120"/>
              </a:rPr>
              <a:t>Beyond the post.</a:t>
            </a:r>
            <a:endParaRPr lang="en-US" sz="3800" dirty="0"/>
          </a:p>
        </p:txBody>
      </p:sp>
      <p:sp>
        <p:nvSpPr>
          <p:cNvPr id="8" name="s11-8"/>
          <p:cNvSpPr/>
          <p:nvPr/>
        </p:nvSpPr>
        <p:spPr>
          <a:xfrm>
            <a:off x="5207000" y="1981200"/>
            <a:ext cx="6248400" cy="609600"/>
          </a:xfrm>
          <a:prstGeom prst="rect">
            <a:avLst/>
          </a:prstGeom>
          <a:noFill/>
          <a:ln/>
        </p:spPr>
        <p:txBody>
          <a:bodyPr wrap="square" lIns="0" tIns="0" rIns="0" bIns="0" rtlCol="0" anchor="t"/>
          <a:lstStyle/>
          <a:p>
            <a:pPr marL="0" indent="0">
              <a:lnSpc>
                <a:spcPct val="125000"/>
              </a:lnSpc>
              <a:buNone/>
            </a:pPr>
            <a:r>
              <a:rPr lang="en-US" sz="1500" dirty="0">
                <a:solidFill>
                  <a:srgbClr val="575751"/>
                </a:solidFill>
                <a:latin typeface="Jost" pitchFamily="34" charset="0"/>
                <a:ea typeface="Jost" pitchFamily="34" charset="-122"/>
                <a:cs typeface="Jost" pitchFamily="34" charset="-120"/>
              </a:rPr>
              <a:t>Selected campaigns can extend beyond our owned audience through targeted programmatic media across premium inventory.</a:t>
            </a:r>
            <a:endParaRPr lang="en-US" sz="1500" dirty="0"/>
          </a:p>
        </p:txBody>
      </p:sp>
      <p:sp>
        <p:nvSpPr>
          <p:cNvPr id="9" name="s11-9"/>
          <p:cNvSpPr/>
          <p:nvPr/>
        </p:nvSpPr>
        <p:spPr>
          <a:xfrm>
            <a:off x="5207000" y="2794000"/>
            <a:ext cx="6248400" cy="0"/>
          </a:xfrm>
          <a:prstGeom prst="line">
            <a:avLst/>
          </a:prstGeom>
          <a:noFill/>
          <a:ln w="9525">
            <a:solidFill>
              <a:srgbClr val="C9C0B2"/>
            </a:solidFill>
            <a:prstDash val="solid"/>
          </a:ln>
        </p:spPr>
      </p:sp>
      <p:sp>
        <p:nvSpPr>
          <p:cNvPr id="10" name="s11-10"/>
          <p:cNvSpPr/>
          <p:nvPr/>
        </p:nvSpPr>
        <p:spPr>
          <a:xfrm>
            <a:off x="5207000" y="2794000"/>
            <a:ext cx="3048000" cy="584200"/>
          </a:xfrm>
          <a:prstGeom prst="rect">
            <a:avLst/>
          </a:prstGeom>
          <a:noFill/>
          <a:ln/>
        </p:spPr>
        <p:txBody>
          <a:bodyPr wrap="square" lIns="0" tIns="0" rIns="0" bIns="0" rtlCol="0" anchor="ctr"/>
          <a:lstStyle/>
          <a:p>
            <a:pPr marL="0" indent="0">
              <a:buNone/>
            </a:pPr>
            <a:r>
              <a:rPr lang="en-US" sz="1050" kern="0" spc="200" dirty="0">
                <a:solidFill>
                  <a:srgbClr val="575751"/>
                </a:solidFill>
                <a:latin typeface="Jost" pitchFamily="34" charset="0"/>
                <a:ea typeface="Jost" pitchFamily="34" charset="-122"/>
                <a:cs typeface="Jost" pitchFamily="34" charset="-120"/>
              </a:rPr>
              <a:t>MEDIA FROM</a:t>
            </a:r>
            <a:endParaRPr lang="en-US" sz="1050" dirty="0"/>
          </a:p>
        </p:txBody>
      </p:sp>
      <p:sp>
        <p:nvSpPr>
          <p:cNvPr id="11" name="s11-11"/>
          <p:cNvSpPr/>
          <p:nvPr/>
        </p:nvSpPr>
        <p:spPr>
          <a:xfrm>
            <a:off x="8255000" y="2794000"/>
            <a:ext cx="3200400" cy="584200"/>
          </a:xfrm>
          <a:prstGeom prst="rect">
            <a:avLst/>
          </a:prstGeom>
          <a:noFill/>
          <a:ln/>
        </p:spPr>
        <p:txBody>
          <a:bodyPr wrap="square" lIns="0" tIns="0" rIns="0" bIns="0" rtlCol="0" anchor="ctr"/>
          <a:lstStyle/>
          <a:p>
            <a:pPr marL="0" indent="0" algn="r">
              <a:buNone/>
            </a:pPr>
            <a:r>
              <a:rPr lang="en-US" sz="1800" dirty="0">
                <a:solidFill>
                  <a:srgbClr val="11110F"/>
                </a:solidFill>
                <a:latin typeface="Cormorant Garamond" pitchFamily="34" charset="0"/>
                <a:ea typeface="Cormorant Garamond" pitchFamily="34" charset="-122"/>
                <a:cs typeface="Cormorant Garamond" pitchFamily="34" charset="-120"/>
              </a:rPr>
              <a:t>$250</a:t>
            </a:r>
            <a:endParaRPr lang="en-US" sz="1800" dirty="0"/>
          </a:p>
        </p:txBody>
      </p:sp>
      <p:sp>
        <p:nvSpPr>
          <p:cNvPr id="12" name="s11-12"/>
          <p:cNvSpPr/>
          <p:nvPr/>
        </p:nvSpPr>
        <p:spPr>
          <a:xfrm>
            <a:off x="5207000" y="3378200"/>
            <a:ext cx="6248400" cy="0"/>
          </a:xfrm>
          <a:prstGeom prst="line">
            <a:avLst/>
          </a:prstGeom>
          <a:noFill/>
          <a:ln w="9525">
            <a:solidFill>
              <a:srgbClr val="C9C0B2"/>
            </a:solidFill>
            <a:prstDash val="solid"/>
          </a:ln>
        </p:spPr>
      </p:sp>
      <p:sp>
        <p:nvSpPr>
          <p:cNvPr id="13" name="s11-13"/>
          <p:cNvSpPr/>
          <p:nvPr/>
        </p:nvSpPr>
        <p:spPr>
          <a:xfrm>
            <a:off x="5207000" y="3378200"/>
            <a:ext cx="3048000" cy="584200"/>
          </a:xfrm>
          <a:prstGeom prst="rect">
            <a:avLst/>
          </a:prstGeom>
          <a:noFill/>
          <a:ln/>
        </p:spPr>
        <p:txBody>
          <a:bodyPr wrap="square" lIns="0" tIns="0" rIns="0" bIns="0" rtlCol="0" anchor="ctr"/>
          <a:lstStyle/>
          <a:p>
            <a:pPr marL="0" indent="0">
              <a:buNone/>
            </a:pPr>
            <a:r>
              <a:rPr lang="en-US" sz="1050" kern="0" spc="200" dirty="0">
                <a:solidFill>
                  <a:srgbClr val="575751"/>
                </a:solidFill>
                <a:latin typeface="Jost" pitchFamily="34" charset="0"/>
                <a:ea typeface="Jost" pitchFamily="34" charset="-122"/>
                <a:cs typeface="Jost" pitchFamily="34" charset="-120"/>
              </a:rPr>
              <a:t>MANAGEMENT</a:t>
            </a:r>
            <a:endParaRPr lang="en-US" sz="1050" dirty="0"/>
          </a:p>
        </p:txBody>
      </p:sp>
      <p:sp>
        <p:nvSpPr>
          <p:cNvPr id="14" name="s11-14"/>
          <p:cNvSpPr/>
          <p:nvPr/>
        </p:nvSpPr>
        <p:spPr>
          <a:xfrm>
            <a:off x="8255000" y="3378200"/>
            <a:ext cx="3200400" cy="584200"/>
          </a:xfrm>
          <a:prstGeom prst="rect">
            <a:avLst/>
          </a:prstGeom>
          <a:noFill/>
          <a:ln/>
        </p:spPr>
        <p:txBody>
          <a:bodyPr wrap="square" lIns="0" tIns="0" rIns="0" bIns="0" rtlCol="0" anchor="ctr"/>
          <a:lstStyle/>
          <a:p>
            <a:pPr marL="0" indent="0" algn="r">
              <a:buNone/>
            </a:pPr>
            <a:r>
              <a:rPr lang="en-US" sz="1800" dirty="0">
                <a:solidFill>
                  <a:srgbClr val="11110F"/>
                </a:solidFill>
                <a:latin typeface="Cormorant Garamond" pitchFamily="34" charset="0"/>
                <a:ea typeface="Cormorant Garamond" pitchFamily="34" charset="-122"/>
                <a:cs typeface="Cormorant Garamond" pitchFamily="34" charset="-120"/>
              </a:rPr>
              <a:t>15% of media spend</a:t>
            </a:r>
            <a:endParaRPr lang="en-US" sz="1800" dirty="0"/>
          </a:p>
        </p:txBody>
      </p:sp>
      <p:sp>
        <p:nvSpPr>
          <p:cNvPr id="15" name="s11-15"/>
          <p:cNvSpPr/>
          <p:nvPr/>
        </p:nvSpPr>
        <p:spPr>
          <a:xfrm>
            <a:off x="5207000" y="3962400"/>
            <a:ext cx="6248400" cy="0"/>
          </a:xfrm>
          <a:prstGeom prst="line">
            <a:avLst/>
          </a:prstGeom>
          <a:noFill/>
          <a:ln w="9525">
            <a:solidFill>
              <a:srgbClr val="C9C0B2"/>
            </a:solidFill>
            <a:prstDash val="solid"/>
          </a:ln>
        </p:spPr>
      </p:sp>
      <p:sp>
        <p:nvSpPr>
          <p:cNvPr id="16" name="s11-16"/>
          <p:cNvSpPr/>
          <p:nvPr/>
        </p:nvSpPr>
        <p:spPr>
          <a:xfrm>
            <a:off x="5207000" y="3962400"/>
            <a:ext cx="3048000" cy="584200"/>
          </a:xfrm>
          <a:prstGeom prst="rect">
            <a:avLst/>
          </a:prstGeom>
          <a:noFill/>
          <a:ln/>
        </p:spPr>
        <p:txBody>
          <a:bodyPr wrap="square" lIns="0" tIns="0" rIns="0" bIns="0" rtlCol="0" anchor="ctr"/>
          <a:lstStyle/>
          <a:p>
            <a:pPr marL="0" indent="0">
              <a:buNone/>
            </a:pPr>
            <a:r>
              <a:rPr lang="en-US" sz="1050" kern="0" spc="200" dirty="0">
                <a:solidFill>
                  <a:srgbClr val="575751"/>
                </a:solidFill>
                <a:latin typeface="Jost" pitchFamily="34" charset="0"/>
                <a:ea typeface="Jost" pitchFamily="34" charset="-122"/>
                <a:cs typeface="Jost" pitchFamily="34" charset="-120"/>
              </a:rPr>
              <a:t>MINIMUM MANAGEMENT FEE</a:t>
            </a:r>
            <a:endParaRPr lang="en-US" sz="1050" dirty="0"/>
          </a:p>
        </p:txBody>
      </p:sp>
      <p:sp>
        <p:nvSpPr>
          <p:cNvPr id="17" name="s11-17"/>
          <p:cNvSpPr/>
          <p:nvPr/>
        </p:nvSpPr>
        <p:spPr>
          <a:xfrm>
            <a:off x="8255000" y="3962400"/>
            <a:ext cx="3200400" cy="584200"/>
          </a:xfrm>
          <a:prstGeom prst="rect">
            <a:avLst/>
          </a:prstGeom>
          <a:noFill/>
          <a:ln/>
        </p:spPr>
        <p:txBody>
          <a:bodyPr wrap="square" lIns="0" tIns="0" rIns="0" bIns="0" rtlCol="0" anchor="ctr"/>
          <a:lstStyle/>
          <a:p>
            <a:pPr marL="0" indent="0" algn="r">
              <a:buNone/>
            </a:pPr>
            <a:r>
              <a:rPr lang="en-US" sz="1800" dirty="0">
                <a:solidFill>
                  <a:srgbClr val="11110F"/>
                </a:solidFill>
                <a:latin typeface="Cormorant Garamond" pitchFamily="34" charset="0"/>
                <a:ea typeface="Cormorant Garamond" pitchFamily="34" charset="-122"/>
                <a:cs typeface="Cormorant Garamond" pitchFamily="34" charset="-120"/>
              </a:rPr>
              <a:t>$100</a:t>
            </a:r>
            <a:endParaRPr lang="en-US" sz="1800" dirty="0"/>
          </a:p>
        </p:txBody>
      </p:sp>
      <p:sp>
        <p:nvSpPr>
          <p:cNvPr id="18" name="s11-18"/>
          <p:cNvSpPr/>
          <p:nvPr/>
        </p:nvSpPr>
        <p:spPr>
          <a:xfrm>
            <a:off x="5207000" y="4546600"/>
            <a:ext cx="6248400" cy="0"/>
          </a:xfrm>
          <a:prstGeom prst="line">
            <a:avLst/>
          </a:prstGeom>
          <a:noFill/>
          <a:ln w="9525">
            <a:solidFill>
              <a:srgbClr val="C9C0B2"/>
            </a:solidFill>
            <a:prstDash val="solid"/>
          </a:ln>
        </p:spPr>
      </p:sp>
      <p:sp>
        <p:nvSpPr>
          <p:cNvPr id="19" name="s11-19"/>
          <p:cNvSpPr/>
          <p:nvPr/>
        </p:nvSpPr>
        <p:spPr>
          <a:xfrm>
            <a:off x="5207000" y="4851400"/>
            <a:ext cx="5486400" cy="254000"/>
          </a:xfrm>
          <a:prstGeom prst="rect">
            <a:avLst/>
          </a:prstGeom>
          <a:noFill/>
          <a:ln/>
        </p:spPr>
        <p:txBody>
          <a:bodyPr wrap="square" lIns="0" tIns="0" rIns="0" bIns="0" rtlCol="0" anchor="ctr"/>
          <a:lstStyle/>
          <a:p>
            <a:pPr marL="0" indent="0">
              <a:buNone/>
            </a:pPr>
            <a:r>
              <a:rPr lang="en-US" sz="1050" kern="0" spc="300" dirty="0">
                <a:solidFill>
                  <a:srgbClr val="575751"/>
                </a:solidFill>
                <a:latin typeface="Jost" pitchFamily="34" charset="0"/>
                <a:ea typeface="Jost" pitchFamily="34" charset="-122"/>
                <a:cs typeface="Jost" pitchFamily="34" charset="-120"/>
              </a:rPr>
              <a:t>FORMATS</a:t>
            </a:r>
            <a:endParaRPr lang="en-US" sz="1050" dirty="0"/>
          </a:p>
        </p:txBody>
      </p:sp>
      <p:sp>
        <p:nvSpPr>
          <p:cNvPr id="20" name="s11-20"/>
          <p:cNvSpPr/>
          <p:nvPr/>
        </p:nvSpPr>
        <p:spPr>
          <a:xfrm>
            <a:off x="5207000" y="5105400"/>
            <a:ext cx="6248400" cy="330200"/>
          </a:xfrm>
          <a:prstGeom prst="rect">
            <a:avLst/>
          </a:prstGeom>
          <a:noFill/>
          <a:ln/>
        </p:spPr>
        <p:txBody>
          <a:bodyPr wrap="square" lIns="0" tIns="0" rIns="0" bIns="0" rtlCol="0" anchor="t"/>
          <a:lstStyle/>
          <a:p>
            <a:pPr marL="0" indent="0">
              <a:lnSpc>
                <a:spcPct val="125000"/>
              </a:lnSpc>
              <a:buNone/>
            </a:pPr>
            <a:r>
              <a:rPr lang="en-US" sz="1500" dirty="0">
                <a:solidFill>
                  <a:srgbClr val="11110F"/>
                </a:solidFill>
                <a:latin typeface="Jost" pitchFamily="34" charset="0"/>
                <a:ea typeface="Jost" pitchFamily="34" charset="-122"/>
                <a:cs typeface="Jost" pitchFamily="34" charset="-120"/>
              </a:rPr>
              <a:t>Premium display  ·  Native  ·  Online video  ·  Retargeting  ·  CTV  ·  Select DOOH</a:t>
            </a:r>
            <a:endParaRPr lang="en-US" sz="1500" dirty="0"/>
          </a:p>
        </p:txBody>
      </p:sp>
      <p:sp>
        <p:nvSpPr>
          <p:cNvPr id="21" name="s11-21"/>
          <p:cNvSpPr/>
          <p:nvPr/>
        </p:nvSpPr>
        <p:spPr>
          <a:xfrm>
            <a:off x="5207000" y="5562600"/>
            <a:ext cx="6248400" cy="254000"/>
          </a:xfrm>
          <a:prstGeom prst="rect">
            <a:avLst/>
          </a:prstGeom>
          <a:noFill/>
          <a:ln/>
        </p:spPr>
        <p:txBody>
          <a:bodyPr wrap="square" lIns="0" tIns="0" rIns="0" bIns="0" rtlCol="0" anchor="t"/>
          <a:lstStyle/>
          <a:p>
            <a:pPr marL="0" indent="0">
              <a:lnSpc>
                <a:spcPct val="125000"/>
              </a:lnSpc>
              <a:buNone/>
            </a:pPr>
            <a:r>
              <a:rPr lang="en-US" sz="1100" dirty="0">
                <a:solidFill>
                  <a:srgbClr val="575751"/>
                </a:solidFill>
                <a:latin typeface="Jost" pitchFamily="34" charset="0"/>
                <a:ea typeface="Jost" pitchFamily="34" charset="-122"/>
                <a:cs typeface="Jost" pitchFamily="34" charset="-120"/>
              </a:rPr>
              <a:t>Channel selection varies by campaign. Media budgets are separate from editorial product fees.</a:t>
            </a:r>
            <a:endParaRPr lang="en-US" sz="1100" dirty="0"/>
          </a:p>
        </p:txBody>
      </p:sp>
    </p:spTree>
    <p:extLst>
      <p:ext uri="{BB962C8B-B14F-4D97-AF65-F5344CB8AC3E}">
        <p14:creationId xmlns:p14="http://schemas.microsoft.com/office/powerpoint/2010/main" val="27966911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950"/>
                                        <p:tgtEl>
                                          <p:spTgt spid="8"/>
                                        </p:tgtEl>
                                      </p:cBhvr>
                                    </p:animEffect>
                                    <p:anim calcmode="lin" valueType="num">
                                      <p:cBhvr>
                                        <p:cTn id="8" dur="950" decel="100000" fill="hold"/>
                                        <p:tgtEl>
                                          <p:spTgt spid="8"/>
                                        </p:tgtEl>
                                        <p:attrNameLst>
                                          <p:attrName>ppt_x</p:attrName>
                                        </p:attrNameLst>
                                      </p:cBhvr>
                                      <p:tavLst>
                                        <p:tav tm="0">
                                          <p:val>
                                            <p:strVal val="#ppt_x"/>
                                          </p:val>
                                        </p:tav>
                                        <p:tav tm="100000">
                                          <p:val>
                                            <p:strVal val="#ppt_x"/>
                                          </p:val>
                                        </p:tav>
                                      </p:tavLst>
                                    </p:anim>
                                    <p:anim calcmode="lin" valueType="num">
                                      <p:cBhvr>
                                        <p:cTn id="9" dur="950" decel="100000" fill="hold"/>
                                        <p:tgtEl>
                                          <p:spTgt spid="8"/>
                                        </p:tgtEl>
                                        <p:attrNameLst>
                                          <p:attrName>ppt_y</p:attrName>
                                        </p:attrNameLst>
                                      </p:cBhvr>
                                      <p:tavLst>
                                        <p:tav tm="0">
                                          <p:val>
                                            <p:strVal val="#ppt_y+0.022"/>
                                          </p:val>
                                        </p:tav>
                                        <p:tav tm="100000">
                                          <p:val>
                                            <p:strVal val="#ppt_y"/>
                                          </p:val>
                                        </p:tav>
                                      </p:tavLst>
                                    </p:anim>
                                  </p:childTnLst>
                                </p:cTn>
                              </p:par>
                              <p:par>
                                <p:cTn id="10" presetID="22" presetClass="entr" presetSubtype="8" fill="hold" nodeType="withEffect">
                                  <p:stCondLst>
                                    <p:cond delay="26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250" decel="100000"/>
                                        <p:tgtEl>
                                          <p:spTgt spid="9"/>
                                        </p:tgtEl>
                                      </p:cBhvr>
                                    </p:animEffect>
                                  </p:childTnLst>
                                </p:cTn>
                              </p:par>
                              <p:par>
                                <p:cTn id="13" presetID="10" presetClass="entr" presetSubtype="0" fill="hold" grpId="0" nodeType="withEffect">
                                  <p:stCondLst>
                                    <p:cond delay="26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950"/>
                                        <p:tgtEl>
                                          <p:spTgt spid="10"/>
                                        </p:tgtEl>
                                      </p:cBhvr>
                                    </p:animEffect>
                                    <p:anim calcmode="lin" valueType="num">
                                      <p:cBhvr>
                                        <p:cTn id="16" dur="950" decel="100000" fill="hold"/>
                                        <p:tgtEl>
                                          <p:spTgt spid="10"/>
                                        </p:tgtEl>
                                        <p:attrNameLst>
                                          <p:attrName>ppt_x</p:attrName>
                                        </p:attrNameLst>
                                      </p:cBhvr>
                                      <p:tavLst>
                                        <p:tav tm="0">
                                          <p:val>
                                            <p:strVal val="#ppt_x"/>
                                          </p:val>
                                        </p:tav>
                                        <p:tav tm="100000">
                                          <p:val>
                                            <p:strVal val="#ppt_x"/>
                                          </p:val>
                                        </p:tav>
                                      </p:tavLst>
                                    </p:anim>
                                    <p:anim calcmode="lin" valueType="num">
                                      <p:cBhvr>
                                        <p:cTn id="17" dur="950" decel="100000" fill="hold"/>
                                        <p:tgtEl>
                                          <p:spTgt spid="10"/>
                                        </p:tgtEl>
                                        <p:attrNameLst>
                                          <p:attrName>ppt_y</p:attrName>
                                        </p:attrNameLst>
                                      </p:cBhvr>
                                      <p:tavLst>
                                        <p:tav tm="0">
                                          <p:val>
                                            <p:strVal val="#ppt_y+0.022"/>
                                          </p:val>
                                        </p:tav>
                                        <p:tav tm="100000">
                                          <p:val>
                                            <p:strVal val="#ppt_y"/>
                                          </p:val>
                                        </p:tav>
                                      </p:tavLst>
                                    </p:anim>
                                  </p:childTnLst>
                                </p:cTn>
                              </p:par>
                              <p:par>
                                <p:cTn id="18" presetID="10" presetClass="entr" presetSubtype="0" fill="hold" grpId="0" nodeType="withEffect">
                                  <p:stCondLst>
                                    <p:cond delay="26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950"/>
                                        <p:tgtEl>
                                          <p:spTgt spid="11"/>
                                        </p:tgtEl>
                                      </p:cBhvr>
                                    </p:animEffect>
                                    <p:anim calcmode="lin" valueType="num">
                                      <p:cBhvr>
                                        <p:cTn id="21" dur="950" decel="100000" fill="hold"/>
                                        <p:tgtEl>
                                          <p:spTgt spid="11"/>
                                        </p:tgtEl>
                                        <p:attrNameLst>
                                          <p:attrName>ppt_x</p:attrName>
                                        </p:attrNameLst>
                                      </p:cBhvr>
                                      <p:tavLst>
                                        <p:tav tm="0">
                                          <p:val>
                                            <p:strVal val="#ppt_x"/>
                                          </p:val>
                                        </p:tav>
                                        <p:tav tm="100000">
                                          <p:val>
                                            <p:strVal val="#ppt_x"/>
                                          </p:val>
                                        </p:tav>
                                      </p:tavLst>
                                    </p:anim>
                                    <p:anim calcmode="lin" valueType="num">
                                      <p:cBhvr>
                                        <p:cTn id="22" dur="950" decel="100000" fill="hold"/>
                                        <p:tgtEl>
                                          <p:spTgt spid="11"/>
                                        </p:tgtEl>
                                        <p:attrNameLst>
                                          <p:attrName>ppt_y</p:attrName>
                                        </p:attrNameLst>
                                      </p:cBhvr>
                                      <p:tavLst>
                                        <p:tav tm="0">
                                          <p:val>
                                            <p:strVal val="#ppt_y+0.022"/>
                                          </p:val>
                                        </p:tav>
                                        <p:tav tm="100000">
                                          <p:val>
                                            <p:strVal val="#ppt_y"/>
                                          </p:val>
                                        </p:tav>
                                      </p:tavLst>
                                    </p:anim>
                                  </p:childTnLst>
                                </p:cTn>
                              </p:par>
                              <p:par>
                                <p:cTn id="23" presetID="22" presetClass="entr" presetSubtype="8" fill="hold" nodeType="withEffect">
                                  <p:stCondLst>
                                    <p:cond delay="370"/>
                                  </p:stCondLst>
                                  <p:childTnLst>
                                    <p:set>
                                      <p:cBhvr>
                                        <p:cTn id="24" dur="1" fill="hold">
                                          <p:stCondLst>
                                            <p:cond delay="0"/>
                                          </p:stCondLst>
                                        </p:cTn>
                                        <p:tgtEl>
                                          <p:spTgt spid="12"/>
                                        </p:tgtEl>
                                        <p:attrNameLst>
                                          <p:attrName>style.visibility</p:attrName>
                                        </p:attrNameLst>
                                      </p:cBhvr>
                                      <p:to>
                                        <p:strVal val="visible"/>
                                      </p:to>
                                    </p:set>
                                    <p:animEffect transition="in" filter="wipe(left)">
                                      <p:cBhvr>
                                        <p:cTn id="25" dur="1250" decel="100000"/>
                                        <p:tgtEl>
                                          <p:spTgt spid="12"/>
                                        </p:tgtEl>
                                      </p:cBhvr>
                                    </p:animEffect>
                                  </p:childTnLst>
                                </p:cTn>
                              </p:par>
                              <p:par>
                                <p:cTn id="26" presetID="10" presetClass="entr" presetSubtype="0" fill="hold" grpId="0" nodeType="withEffect">
                                  <p:stCondLst>
                                    <p:cond delay="37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950"/>
                                        <p:tgtEl>
                                          <p:spTgt spid="13"/>
                                        </p:tgtEl>
                                      </p:cBhvr>
                                    </p:animEffect>
                                    <p:anim calcmode="lin" valueType="num">
                                      <p:cBhvr>
                                        <p:cTn id="29" dur="950" decel="100000" fill="hold"/>
                                        <p:tgtEl>
                                          <p:spTgt spid="13"/>
                                        </p:tgtEl>
                                        <p:attrNameLst>
                                          <p:attrName>ppt_x</p:attrName>
                                        </p:attrNameLst>
                                      </p:cBhvr>
                                      <p:tavLst>
                                        <p:tav tm="0">
                                          <p:val>
                                            <p:strVal val="#ppt_x"/>
                                          </p:val>
                                        </p:tav>
                                        <p:tav tm="100000">
                                          <p:val>
                                            <p:strVal val="#ppt_x"/>
                                          </p:val>
                                        </p:tav>
                                      </p:tavLst>
                                    </p:anim>
                                    <p:anim calcmode="lin" valueType="num">
                                      <p:cBhvr>
                                        <p:cTn id="30" dur="950" decel="100000" fill="hold"/>
                                        <p:tgtEl>
                                          <p:spTgt spid="13"/>
                                        </p:tgtEl>
                                        <p:attrNameLst>
                                          <p:attrName>ppt_y</p:attrName>
                                        </p:attrNameLst>
                                      </p:cBhvr>
                                      <p:tavLst>
                                        <p:tav tm="0">
                                          <p:val>
                                            <p:strVal val="#ppt_y+0.022"/>
                                          </p:val>
                                        </p:tav>
                                        <p:tav tm="100000">
                                          <p:val>
                                            <p:strVal val="#ppt_y"/>
                                          </p:val>
                                        </p:tav>
                                      </p:tavLst>
                                    </p:anim>
                                  </p:childTnLst>
                                </p:cTn>
                              </p:par>
                              <p:par>
                                <p:cTn id="31" presetID="10" presetClass="entr" presetSubtype="0" fill="hold" grpId="0" nodeType="withEffect">
                                  <p:stCondLst>
                                    <p:cond delay="37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950"/>
                                        <p:tgtEl>
                                          <p:spTgt spid="14"/>
                                        </p:tgtEl>
                                      </p:cBhvr>
                                    </p:animEffect>
                                    <p:anim calcmode="lin" valueType="num">
                                      <p:cBhvr>
                                        <p:cTn id="34" dur="950" decel="100000" fill="hold"/>
                                        <p:tgtEl>
                                          <p:spTgt spid="14"/>
                                        </p:tgtEl>
                                        <p:attrNameLst>
                                          <p:attrName>ppt_x</p:attrName>
                                        </p:attrNameLst>
                                      </p:cBhvr>
                                      <p:tavLst>
                                        <p:tav tm="0">
                                          <p:val>
                                            <p:strVal val="#ppt_x"/>
                                          </p:val>
                                        </p:tav>
                                        <p:tav tm="100000">
                                          <p:val>
                                            <p:strVal val="#ppt_x"/>
                                          </p:val>
                                        </p:tav>
                                      </p:tavLst>
                                    </p:anim>
                                    <p:anim calcmode="lin" valueType="num">
                                      <p:cBhvr>
                                        <p:cTn id="35" dur="950" decel="100000" fill="hold"/>
                                        <p:tgtEl>
                                          <p:spTgt spid="14"/>
                                        </p:tgtEl>
                                        <p:attrNameLst>
                                          <p:attrName>ppt_y</p:attrName>
                                        </p:attrNameLst>
                                      </p:cBhvr>
                                      <p:tavLst>
                                        <p:tav tm="0">
                                          <p:val>
                                            <p:strVal val="#ppt_y+0.022"/>
                                          </p:val>
                                        </p:tav>
                                        <p:tav tm="100000">
                                          <p:val>
                                            <p:strVal val="#ppt_y"/>
                                          </p:val>
                                        </p:tav>
                                      </p:tavLst>
                                    </p:anim>
                                  </p:childTnLst>
                                </p:cTn>
                              </p:par>
                              <p:par>
                                <p:cTn id="36" presetID="22" presetClass="entr" presetSubtype="8" fill="hold" nodeType="withEffect">
                                  <p:stCondLst>
                                    <p:cond delay="480"/>
                                  </p:stCondLst>
                                  <p:childTnLst>
                                    <p:set>
                                      <p:cBhvr>
                                        <p:cTn id="37" dur="1" fill="hold">
                                          <p:stCondLst>
                                            <p:cond delay="0"/>
                                          </p:stCondLst>
                                        </p:cTn>
                                        <p:tgtEl>
                                          <p:spTgt spid="15"/>
                                        </p:tgtEl>
                                        <p:attrNameLst>
                                          <p:attrName>style.visibility</p:attrName>
                                        </p:attrNameLst>
                                      </p:cBhvr>
                                      <p:to>
                                        <p:strVal val="visible"/>
                                      </p:to>
                                    </p:set>
                                    <p:animEffect transition="in" filter="wipe(left)">
                                      <p:cBhvr>
                                        <p:cTn id="38" dur="1250" decel="100000"/>
                                        <p:tgtEl>
                                          <p:spTgt spid="15"/>
                                        </p:tgtEl>
                                      </p:cBhvr>
                                    </p:animEffect>
                                  </p:childTnLst>
                                </p:cTn>
                              </p:par>
                              <p:par>
                                <p:cTn id="39" presetID="10" presetClass="entr" presetSubtype="0" fill="hold" grpId="0" nodeType="withEffect">
                                  <p:stCondLst>
                                    <p:cond delay="48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950"/>
                                        <p:tgtEl>
                                          <p:spTgt spid="16"/>
                                        </p:tgtEl>
                                      </p:cBhvr>
                                    </p:animEffect>
                                    <p:anim calcmode="lin" valueType="num">
                                      <p:cBhvr>
                                        <p:cTn id="42" dur="950" decel="100000" fill="hold"/>
                                        <p:tgtEl>
                                          <p:spTgt spid="16"/>
                                        </p:tgtEl>
                                        <p:attrNameLst>
                                          <p:attrName>ppt_x</p:attrName>
                                        </p:attrNameLst>
                                      </p:cBhvr>
                                      <p:tavLst>
                                        <p:tav tm="0">
                                          <p:val>
                                            <p:strVal val="#ppt_x"/>
                                          </p:val>
                                        </p:tav>
                                        <p:tav tm="100000">
                                          <p:val>
                                            <p:strVal val="#ppt_x"/>
                                          </p:val>
                                        </p:tav>
                                      </p:tavLst>
                                    </p:anim>
                                    <p:anim calcmode="lin" valueType="num">
                                      <p:cBhvr>
                                        <p:cTn id="43" dur="950" decel="100000" fill="hold"/>
                                        <p:tgtEl>
                                          <p:spTgt spid="16"/>
                                        </p:tgtEl>
                                        <p:attrNameLst>
                                          <p:attrName>ppt_y</p:attrName>
                                        </p:attrNameLst>
                                      </p:cBhvr>
                                      <p:tavLst>
                                        <p:tav tm="0">
                                          <p:val>
                                            <p:strVal val="#ppt_y+0.022"/>
                                          </p:val>
                                        </p:tav>
                                        <p:tav tm="100000">
                                          <p:val>
                                            <p:strVal val="#ppt_y"/>
                                          </p:val>
                                        </p:tav>
                                      </p:tavLst>
                                    </p:anim>
                                  </p:childTnLst>
                                </p:cTn>
                              </p:par>
                              <p:par>
                                <p:cTn id="44" presetID="10" presetClass="entr" presetSubtype="0" fill="hold" grpId="0" nodeType="withEffect">
                                  <p:stCondLst>
                                    <p:cond delay="48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950"/>
                                        <p:tgtEl>
                                          <p:spTgt spid="17"/>
                                        </p:tgtEl>
                                      </p:cBhvr>
                                    </p:animEffect>
                                    <p:anim calcmode="lin" valueType="num">
                                      <p:cBhvr>
                                        <p:cTn id="47" dur="950" decel="100000" fill="hold"/>
                                        <p:tgtEl>
                                          <p:spTgt spid="17"/>
                                        </p:tgtEl>
                                        <p:attrNameLst>
                                          <p:attrName>ppt_x</p:attrName>
                                        </p:attrNameLst>
                                      </p:cBhvr>
                                      <p:tavLst>
                                        <p:tav tm="0">
                                          <p:val>
                                            <p:strVal val="#ppt_x"/>
                                          </p:val>
                                        </p:tav>
                                        <p:tav tm="100000">
                                          <p:val>
                                            <p:strVal val="#ppt_x"/>
                                          </p:val>
                                        </p:tav>
                                      </p:tavLst>
                                    </p:anim>
                                    <p:anim calcmode="lin" valueType="num">
                                      <p:cBhvr>
                                        <p:cTn id="48" dur="950" decel="100000" fill="hold"/>
                                        <p:tgtEl>
                                          <p:spTgt spid="17"/>
                                        </p:tgtEl>
                                        <p:attrNameLst>
                                          <p:attrName>ppt_y</p:attrName>
                                        </p:attrNameLst>
                                      </p:cBhvr>
                                      <p:tavLst>
                                        <p:tav tm="0">
                                          <p:val>
                                            <p:strVal val="#ppt_y+0.022"/>
                                          </p:val>
                                        </p:tav>
                                        <p:tav tm="100000">
                                          <p:val>
                                            <p:strVal val="#ppt_y"/>
                                          </p:val>
                                        </p:tav>
                                      </p:tavLst>
                                    </p:anim>
                                  </p:childTnLst>
                                </p:cTn>
                              </p:par>
                              <p:par>
                                <p:cTn id="49" presetID="22" presetClass="entr" presetSubtype="8" fill="hold" nodeType="withEffect">
                                  <p:stCondLst>
                                    <p:cond delay="590"/>
                                  </p:stCondLst>
                                  <p:childTnLst>
                                    <p:set>
                                      <p:cBhvr>
                                        <p:cTn id="50" dur="1" fill="hold">
                                          <p:stCondLst>
                                            <p:cond delay="0"/>
                                          </p:stCondLst>
                                        </p:cTn>
                                        <p:tgtEl>
                                          <p:spTgt spid="18"/>
                                        </p:tgtEl>
                                        <p:attrNameLst>
                                          <p:attrName>style.visibility</p:attrName>
                                        </p:attrNameLst>
                                      </p:cBhvr>
                                      <p:to>
                                        <p:strVal val="visible"/>
                                      </p:to>
                                    </p:set>
                                    <p:animEffect transition="in" filter="wipe(left)">
                                      <p:cBhvr>
                                        <p:cTn id="51" dur="1250" decel="100000"/>
                                        <p:tgtEl>
                                          <p:spTgt spid="18"/>
                                        </p:tgtEl>
                                      </p:cBhvr>
                                    </p:animEffect>
                                  </p:childTnLst>
                                </p:cTn>
                              </p:par>
                              <p:par>
                                <p:cTn id="52" presetID="10" presetClass="entr" presetSubtype="0" fill="hold" grpId="0" nodeType="withEffect">
                                  <p:stCondLst>
                                    <p:cond delay="70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950"/>
                                        <p:tgtEl>
                                          <p:spTgt spid="19"/>
                                        </p:tgtEl>
                                      </p:cBhvr>
                                    </p:animEffect>
                                    <p:anim calcmode="lin" valueType="num">
                                      <p:cBhvr>
                                        <p:cTn id="55" dur="950" decel="100000" fill="hold"/>
                                        <p:tgtEl>
                                          <p:spTgt spid="19"/>
                                        </p:tgtEl>
                                        <p:attrNameLst>
                                          <p:attrName>ppt_x</p:attrName>
                                        </p:attrNameLst>
                                      </p:cBhvr>
                                      <p:tavLst>
                                        <p:tav tm="0">
                                          <p:val>
                                            <p:strVal val="#ppt_x"/>
                                          </p:val>
                                        </p:tav>
                                        <p:tav tm="100000">
                                          <p:val>
                                            <p:strVal val="#ppt_x"/>
                                          </p:val>
                                        </p:tav>
                                      </p:tavLst>
                                    </p:anim>
                                    <p:anim calcmode="lin" valueType="num">
                                      <p:cBhvr>
                                        <p:cTn id="56" dur="950" decel="100000" fill="hold"/>
                                        <p:tgtEl>
                                          <p:spTgt spid="19"/>
                                        </p:tgtEl>
                                        <p:attrNameLst>
                                          <p:attrName>ppt_y</p:attrName>
                                        </p:attrNameLst>
                                      </p:cBhvr>
                                      <p:tavLst>
                                        <p:tav tm="0">
                                          <p:val>
                                            <p:strVal val="#ppt_y+0.022"/>
                                          </p:val>
                                        </p:tav>
                                        <p:tav tm="100000">
                                          <p:val>
                                            <p:strVal val="#ppt_y"/>
                                          </p:val>
                                        </p:tav>
                                      </p:tavLst>
                                    </p:anim>
                                  </p:childTnLst>
                                </p:cTn>
                              </p:par>
                              <p:par>
                                <p:cTn id="57" presetID="10" presetClass="entr" presetSubtype="0" fill="hold" grpId="0" nodeType="withEffect">
                                  <p:stCondLst>
                                    <p:cond delay="81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950"/>
                                        <p:tgtEl>
                                          <p:spTgt spid="20"/>
                                        </p:tgtEl>
                                      </p:cBhvr>
                                    </p:animEffect>
                                    <p:anim calcmode="lin" valueType="num">
                                      <p:cBhvr>
                                        <p:cTn id="60" dur="950" decel="100000" fill="hold"/>
                                        <p:tgtEl>
                                          <p:spTgt spid="20"/>
                                        </p:tgtEl>
                                        <p:attrNameLst>
                                          <p:attrName>ppt_x</p:attrName>
                                        </p:attrNameLst>
                                      </p:cBhvr>
                                      <p:tavLst>
                                        <p:tav tm="0">
                                          <p:val>
                                            <p:strVal val="#ppt_x"/>
                                          </p:val>
                                        </p:tav>
                                        <p:tav tm="100000">
                                          <p:val>
                                            <p:strVal val="#ppt_x"/>
                                          </p:val>
                                        </p:tav>
                                      </p:tavLst>
                                    </p:anim>
                                    <p:anim calcmode="lin" valueType="num">
                                      <p:cBhvr>
                                        <p:cTn id="61" dur="950" decel="100000" fill="hold"/>
                                        <p:tgtEl>
                                          <p:spTgt spid="20"/>
                                        </p:tgtEl>
                                        <p:attrNameLst>
                                          <p:attrName>ppt_y</p:attrName>
                                        </p:attrNameLst>
                                      </p:cBhvr>
                                      <p:tavLst>
                                        <p:tav tm="0">
                                          <p:val>
                                            <p:strVal val="#ppt_y+0.022"/>
                                          </p:val>
                                        </p:tav>
                                        <p:tav tm="100000">
                                          <p:val>
                                            <p:strVal val="#ppt_y"/>
                                          </p:val>
                                        </p:tav>
                                      </p:tavLst>
                                    </p:anim>
                                  </p:childTnLst>
                                </p:cTn>
                              </p:par>
                              <p:par>
                                <p:cTn id="62" presetID="10" presetClass="entr" presetSubtype="0" fill="hold" grpId="0" nodeType="withEffect">
                                  <p:stCondLst>
                                    <p:cond delay="92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950"/>
                                        <p:tgtEl>
                                          <p:spTgt spid="21"/>
                                        </p:tgtEl>
                                      </p:cBhvr>
                                    </p:animEffect>
                                    <p:anim calcmode="lin" valueType="num">
                                      <p:cBhvr>
                                        <p:cTn id="65" dur="950" decel="100000" fill="hold"/>
                                        <p:tgtEl>
                                          <p:spTgt spid="21"/>
                                        </p:tgtEl>
                                        <p:attrNameLst>
                                          <p:attrName>ppt_x</p:attrName>
                                        </p:attrNameLst>
                                      </p:cBhvr>
                                      <p:tavLst>
                                        <p:tav tm="0">
                                          <p:val>
                                            <p:strVal val="#ppt_x"/>
                                          </p:val>
                                        </p:tav>
                                        <p:tav tm="100000">
                                          <p:val>
                                            <p:strVal val="#ppt_x"/>
                                          </p:val>
                                        </p:tav>
                                      </p:tavLst>
                                    </p:anim>
                                    <p:anim calcmode="lin" valueType="num">
                                      <p:cBhvr>
                                        <p:cTn id="66" dur="950" decel="100000" fill="hold"/>
                                        <p:tgtEl>
                                          <p:spTgt spid="21"/>
                                        </p:tgtEl>
                                        <p:attrNameLst>
                                          <p:attrName>ppt_y</p:attrName>
                                        </p:attrNameLst>
                                      </p:cBhvr>
                                      <p:tavLst>
                                        <p:tav tm="0">
                                          <p:val>
                                            <p:strVal val="#ppt_y+0.02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3" grpId="0" animBg="1"/>
      <p:bldP spid="14" grpId="0" animBg="1"/>
      <p:bldP spid="16" grpId="0" animBg="1"/>
      <p:bldP spid="17" grpId="0" animBg="1"/>
      <p:bldP spid="19" grpId="0" animBg="1"/>
      <p:bldP spid="20" grpId="0" animBg="1"/>
      <p:bldP spid="2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B"/>
        </a:solidFill>
        <a:effectLst/>
      </p:bgPr>
    </p:bg>
    <p:spTree>
      <p:nvGrpSpPr>
        <p:cNvPr id="1" name=""/>
        <p:cNvGrpSpPr/>
        <p:nvPr/>
      </p:nvGrpSpPr>
      <p:grpSpPr>
        <a:xfrm>
          <a:off x="0" y="0"/>
          <a:ext cx="0" cy="0"/>
          <a:chOff x="0" y="0"/>
          <a:chExt cx="0" cy="0"/>
        </a:xfrm>
      </p:grpSpPr>
      <p:pic>
        <p:nvPicPr>
          <p:cNvPr id="2" name="!!Photo" descr="E:/Matter Of Place/Matter Of Place Codebase/src/assets/gallery/desert-colonnade.jpg"/>
          <p:cNvPicPr>
            <a:picLocks noChangeAspect="1"/>
          </p:cNvPicPr>
          <p:nvPr/>
        </p:nvPicPr>
        <p:blipFill>
          <a:blip r:embed="rId3"/>
          <a:srcRect l="8146" r="8146"/>
          <a:stretch/>
        </p:blipFill>
        <p:spPr>
          <a:xfrm>
            <a:off x="7711135" y="0"/>
            <a:ext cx="4480560" cy="6858000"/>
          </a:xfrm>
          <a:prstGeom prst="rect">
            <a:avLst/>
          </a:prstGeom>
        </p:spPr>
      </p:pic>
      <p:sp>
        <p:nvSpPr>
          <p:cNvPr id="3" name="!!Agenda">
            <a:hlinkClick r:id="" action="ppaction://noaction"/>
          </p:cNvPr>
          <p:cNvSpPr/>
          <p:nvPr/>
        </p:nvSpPr>
        <p:spPr>
          <a:xfrm>
            <a:off x="5882335" y="381000"/>
            <a:ext cx="1097280" cy="228600"/>
          </a:xfrm>
          <a:prstGeom prst="rect">
            <a:avLst/>
          </a:prstGeom>
          <a:noFill/>
          <a:ln/>
        </p:spPr>
        <p:txBody>
          <a:bodyPr wrap="square" lIns="0" tIns="0" rIns="0" bIns="0" rtlCol="0" anchor="ctr"/>
          <a:lstStyle/>
          <a:p>
            <a:pPr marL="0" indent="0" algn="r">
              <a:buNone/>
            </a:pPr>
            <a:r>
              <a:rPr lang="en-US" sz="1000" u="sng" kern="0" spc="250" dirty="0">
                <a:solidFill>
                  <a:srgbClr val="11110F"/>
                </a:solidFill>
                <a:latin typeface="Jost" pitchFamily="34" charset="0"/>
                <a:ea typeface="Jost" pitchFamily="34" charset="-122"/>
                <a:cs typeface="Jost" pitchFamily="34" charset="-120"/>
                <a:hlinkClick r:id="" action="ppaction://noaction">
                  <a:extLst>
                    <a:ext uri="{A12FA001-AC4F-418D-AE19-62706E023703}">
                      <ahyp:hlinkClr xmlns:ahyp="http://schemas.microsoft.com/office/drawing/2018/hyperlinkcolor" val="tx"/>
                    </a:ext>
                  </a:extLst>
                </a:hlinkClick>
              </a:rPr>
              <a:t>Agenda</a:t>
            </a:r>
            <a:endParaRPr lang="en-US" sz="1000" dirty="0"/>
          </a:p>
        </p:txBody>
      </p:sp>
      <p:sp>
        <p:nvSpPr>
          <p:cNvPr id="4" name="!!Footer"/>
          <p:cNvSpPr/>
          <p:nvPr/>
        </p:nvSpPr>
        <p:spPr>
          <a:xfrm>
            <a:off x="731520" y="6172200"/>
            <a:ext cx="4572000" cy="228600"/>
          </a:xfrm>
          <a:prstGeom prst="rect">
            <a:avLst/>
          </a:prstGeom>
          <a:noFill/>
          <a:ln/>
        </p:spPr>
        <p:txBody>
          <a:bodyPr wrap="square" lIns="0" tIns="0" rIns="0" bIns="0" rtlCol="0" anchor="ctr"/>
          <a:lstStyle/>
          <a:p>
            <a:pPr marL="0" indent="0">
              <a:buNone/>
            </a:pPr>
            <a:r>
              <a:rPr lang="en-US" sz="900" kern="0" spc="250" dirty="0">
                <a:solidFill>
                  <a:srgbClr val="5E5A54"/>
                </a:solidFill>
                <a:latin typeface="Jost" pitchFamily="34" charset="0"/>
                <a:ea typeface="Jost" pitchFamily="34" charset="-122"/>
                <a:cs typeface="Jost" pitchFamily="34" charset="-120"/>
              </a:rPr>
              <a:t>MATTER OF PLACE  ·  FOR PARTNERS</a:t>
            </a:r>
            <a:endParaRPr lang="en-US" sz="900" dirty="0"/>
          </a:p>
        </p:txBody>
      </p:sp>
      <p:sp>
        <p:nvSpPr>
          <p:cNvPr id="5" name="!!Page"/>
          <p:cNvSpPr/>
          <p:nvPr/>
        </p:nvSpPr>
        <p:spPr>
          <a:xfrm>
            <a:off x="5882335" y="6172200"/>
            <a:ext cx="1097280" cy="228600"/>
          </a:xfrm>
          <a:prstGeom prst="rect">
            <a:avLst/>
          </a:prstGeom>
          <a:noFill/>
          <a:ln/>
        </p:spPr>
        <p:txBody>
          <a:bodyPr wrap="square" lIns="0" tIns="0" rIns="0" bIns="0" rtlCol="0" anchor="ctr"/>
          <a:lstStyle/>
          <a:p>
            <a:pPr marL="0" indent="0" algn="r">
              <a:buNone/>
            </a:pPr>
            <a:r>
              <a:rPr lang="en-US" sz="900" kern="0" spc="250" dirty="0">
                <a:solidFill>
                  <a:srgbClr val="5E5A54"/>
                </a:solidFill>
                <a:latin typeface="Jost" pitchFamily="34" charset="0"/>
                <a:ea typeface="Jost" pitchFamily="34" charset="-122"/>
                <a:cs typeface="Jost" pitchFamily="34" charset="-120"/>
              </a:rPr>
              <a:t>12 / 14</a:t>
            </a:r>
            <a:endParaRPr lang="en-US" sz="900" dirty="0"/>
          </a:p>
        </p:txBody>
      </p:sp>
      <p:sp>
        <p:nvSpPr>
          <p:cNvPr id="6" name="!!Eyebrow"/>
          <p:cNvSpPr/>
          <p:nvPr/>
        </p:nvSpPr>
        <p:spPr>
          <a:xfrm>
            <a:off x="731520" y="868680"/>
            <a:ext cx="5486400" cy="274320"/>
          </a:xfrm>
          <a:prstGeom prst="rect">
            <a:avLst/>
          </a:prstGeom>
          <a:noFill/>
          <a:ln/>
        </p:spPr>
        <p:txBody>
          <a:bodyPr wrap="square" lIns="0" tIns="0" rIns="0" bIns="0" rtlCol="0" anchor="ctr"/>
          <a:lstStyle/>
          <a:p>
            <a:pPr marL="0" indent="0">
              <a:buNone/>
            </a:pPr>
            <a:r>
              <a:rPr lang="en-US" sz="1050" kern="0" spc="300" dirty="0">
                <a:solidFill>
                  <a:srgbClr val="575751"/>
                </a:solidFill>
                <a:latin typeface="Jost" pitchFamily="34" charset="0"/>
                <a:ea typeface="Jost" pitchFamily="34" charset="-122"/>
                <a:cs typeface="Jost" pitchFamily="34" charset="-120"/>
              </a:rPr>
              <a:t>WHAT WE DO NOT DO</a:t>
            </a:r>
            <a:endParaRPr lang="en-US" sz="1050" dirty="0"/>
          </a:p>
        </p:txBody>
      </p:sp>
      <p:sp>
        <p:nvSpPr>
          <p:cNvPr id="7" name="!!Title"/>
          <p:cNvSpPr/>
          <p:nvPr/>
        </p:nvSpPr>
        <p:spPr>
          <a:xfrm>
            <a:off x="731520" y="1188720"/>
            <a:ext cx="6248095" cy="711200"/>
          </a:xfrm>
          <a:prstGeom prst="rect">
            <a:avLst/>
          </a:prstGeom>
          <a:noFill/>
          <a:ln/>
        </p:spPr>
        <p:txBody>
          <a:bodyPr wrap="square" lIns="0" tIns="0" rIns="0" bIns="0" rtlCol="0" anchor="t"/>
          <a:lstStyle/>
          <a:p>
            <a:pPr marL="0" indent="0">
              <a:buNone/>
            </a:pPr>
            <a:r>
              <a:rPr lang="en-US" sz="3800" dirty="0">
                <a:solidFill>
                  <a:srgbClr val="11110F"/>
                </a:solidFill>
                <a:latin typeface="Cormorant Garamond" pitchFamily="34" charset="0"/>
                <a:ea typeface="Cormorant Garamond" pitchFamily="34" charset="-122"/>
                <a:cs typeface="Cormorant Garamond" pitchFamily="34" charset="-120"/>
              </a:rPr>
              <a:t>Clear from the start.</a:t>
            </a:r>
            <a:endParaRPr lang="en-US" sz="3800" dirty="0"/>
          </a:p>
        </p:txBody>
      </p:sp>
      <p:sp>
        <p:nvSpPr>
          <p:cNvPr id="8" name="s12-8"/>
          <p:cNvSpPr/>
          <p:nvPr/>
        </p:nvSpPr>
        <p:spPr>
          <a:xfrm>
            <a:off x="736600" y="2159000"/>
            <a:ext cx="6248400" cy="0"/>
          </a:xfrm>
          <a:prstGeom prst="line">
            <a:avLst/>
          </a:prstGeom>
          <a:noFill/>
          <a:ln w="9525">
            <a:solidFill>
              <a:srgbClr val="C9C0B2"/>
            </a:solidFill>
            <a:prstDash val="solid"/>
          </a:ln>
        </p:spPr>
      </p:sp>
      <p:sp>
        <p:nvSpPr>
          <p:cNvPr id="9" name="s12-9"/>
          <p:cNvSpPr/>
          <p:nvPr/>
        </p:nvSpPr>
        <p:spPr>
          <a:xfrm>
            <a:off x="736600" y="2159000"/>
            <a:ext cx="6248400" cy="660400"/>
          </a:xfrm>
          <a:prstGeom prst="rect">
            <a:avLst/>
          </a:prstGeom>
          <a:noFill/>
          <a:ln/>
        </p:spPr>
        <p:txBody>
          <a:bodyPr wrap="square" lIns="0" tIns="0" rIns="0" bIns="0" rtlCol="0" anchor="ctr"/>
          <a:lstStyle/>
          <a:p>
            <a:pPr marL="0" indent="0">
              <a:buNone/>
            </a:pPr>
            <a:r>
              <a:rPr lang="en-US" sz="1900" dirty="0">
                <a:solidFill>
                  <a:srgbClr val="11110F"/>
                </a:solidFill>
                <a:latin typeface="Cormorant Garamond" pitchFamily="34" charset="0"/>
                <a:ea typeface="Cormorant Garamond" pitchFamily="34" charset="-122"/>
                <a:cs typeface="Cormorant Garamond" pitchFamily="34" charset="-120"/>
              </a:rPr>
              <a:t>No guaranteed buyers, leads or sales.</a:t>
            </a:r>
            <a:endParaRPr lang="en-US" sz="1900" dirty="0"/>
          </a:p>
        </p:txBody>
      </p:sp>
      <p:sp>
        <p:nvSpPr>
          <p:cNvPr id="10" name="s12-10"/>
          <p:cNvSpPr/>
          <p:nvPr/>
        </p:nvSpPr>
        <p:spPr>
          <a:xfrm>
            <a:off x="736600" y="2819400"/>
            <a:ext cx="6248400" cy="0"/>
          </a:xfrm>
          <a:prstGeom prst="line">
            <a:avLst/>
          </a:prstGeom>
          <a:noFill/>
          <a:ln w="9525">
            <a:solidFill>
              <a:srgbClr val="C9C0B2"/>
            </a:solidFill>
            <a:prstDash val="solid"/>
          </a:ln>
        </p:spPr>
      </p:sp>
      <p:sp>
        <p:nvSpPr>
          <p:cNvPr id="11" name="s12-11"/>
          <p:cNvSpPr/>
          <p:nvPr/>
        </p:nvSpPr>
        <p:spPr>
          <a:xfrm>
            <a:off x="736600" y="2819400"/>
            <a:ext cx="6248400" cy="660400"/>
          </a:xfrm>
          <a:prstGeom prst="rect">
            <a:avLst/>
          </a:prstGeom>
          <a:noFill/>
          <a:ln/>
        </p:spPr>
        <p:txBody>
          <a:bodyPr wrap="square" lIns="0" tIns="0" rIns="0" bIns="0" rtlCol="0" anchor="ctr"/>
          <a:lstStyle/>
          <a:p>
            <a:pPr marL="0" indent="0">
              <a:buNone/>
            </a:pPr>
            <a:r>
              <a:rPr lang="en-US" sz="1900" dirty="0">
                <a:solidFill>
                  <a:srgbClr val="11110F"/>
                </a:solidFill>
                <a:latin typeface="Cormorant Garamond" pitchFamily="34" charset="0"/>
                <a:ea typeface="Cormorant Garamond" pitchFamily="34" charset="-122"/>
                <a:cs typeface="Cormorant Garamond" pitchFamily="34" charset="-120"/>
              </a:rPr>
              <a:t>No new developments.</a:t>
            </a:r>
            <a:endParaRPr lang="en-US" sz="1900" dirty="0"/>
          </a:p>
        </p:txBody>
      </p:sp>
      <p:sp>
        <p:nvSpPr>
          <p:cNvPr id="12" name="s12-12"/>
          <p:cNvSpPr/>
          <p:nvPr/>
        </p:nvSpPr>
        <p:spPr>
          <a:xfrm>
            <a:off x="736600" y="3479800"/>
            <a:ext cx="6248400" cy="0"/>
          </a:xfrm>
          <a:prstGeom prst="line">
            <a:avLst/>
          </a:prstGeom>
          <a:noFill/>
          <a:ln w="9525">
            <a:solidFill>
              <a:srgbClr val="C9C0B2"/>
            </a:solidFill>
            <a:prstDash val="solid"/>
          </a:ln>
        </p:spPr>
      </p:sp>
      <p:sp>
        <p:nvSpPr>
          <p:cNvPr id="13" name="s12-13"/>
          <p:cNvSpPr/>
          <p:nvPr/>
        </p:nvSpPr>
        <p:spPr>
          <a:xfrm>
            <a:off x="736600" y="3479800"/>
            <a:ext cx="6248400" cy="660400"/>
          </a:xfrm>
          <a:prstGeom prst="rect">
            <a:avLst/>
          </a:prstGeom>
          <a:noFill/>
          <a:ln/>
        </p:spPr>
        <p:txBody>
          <a:bodyPr wrap="square" lIns="0" tIns="0" rIns="0" bIns="0" rtlCol="0" anchor="ctr"/>
          <a:lstStyle/>
          <a:p>
            <a:pPr marL="0" indent="0">
              <a:buNone/>
            </a:pPr>
            <a:r>
              <a:rPr lang="en-US" sz="1900" dirty="0">
                <a:solidFill>
                  <a:srgbClr val="11110F"/>
                </a:solidFill>
                <a:latin typeface="Cormorant Garamond" pitchFamily="34" charset="0"/>
                <a:ea typeface="Cormorant Garamond" pitchFamily="34" charset="-122"/>
                <a:cs typeface="Cormorant Garamond" pitchFamily="34" charset="-120"/>
              </a:rPr>
              <a:t>No markets outside California, New York and Florida.</a:t>
            </a:r>
            <a:endParaRPr lang="en-US" sz="1900" dirty="0"/>
          </a:p>
        </p:txBody>
      </p:sp>
      <p:sp>
        <p:nvSpPr>
          <p:cNvPr id="14" name="s12-14"/>
          <p:cNvSpPr/>
          <p:nvPr/>
        </p:nvSpPr>
        <p:spPr>
          <a:xfrm>
            <a:off x="736600" y="4140200"/>
            <a:ext cx="6248400" cy="0"/>
          </a:xfrm>
          <a:prstGeom prst="line">
            <a:avLst/>
          </a:prstGeom>
          <a:noFill/>
          <a:ln w="9525">
            <a:solidFill>
              <a:srgbClr val="C9C0B2"/>
            </a:solidFill>
            <a:prstDash val="solid"/>
          </a:ln>
        </p:spPr>
      </p:sp>
      <p:sp>
        <p:nvSpPr>
          <p:cNvPr id="15" name="s12-15"/>
          <p:cNvSpPr/>
          <p:nvPr/>
        </p:nvSpPr>
        <p:spPr>
          <a:xfrm>
            <a:off x="736600" y="4140200"/>
            <a:ext cx="6248400" cy="660400"/>
          </a:xfrm>
          <a:prstGeom prst="rect">
            <a:avLst/>
          </a:prstGeom>
          <a:noFill/>
          <a:ln/>
        </p:spPr>
        <p:txBody>
          <a:bodyPr wrap="square" lIns="0" tIns="0" rIns="0" bIns="0" rtlCol="0" anchor="ctr"/>
          <a:lstStyle/>
          <a:p>
            <a:pPr marL="0" indent="0">
              <a:buNone/>
            </a:pPr>
            <a:r>
              <a:rPr lang="en-US" sz="1900" dirty="0">
                <a:solidFill>
                  <a:srgbClr val="11110F"/>
                </a:solidFill>
                <a:latin typeface="Cormorant Garamond" pitchFamily="34" charset="0"/>
                <a:ea typeface="Cormorant Garamond" pitchFamily="34" charset="-122"/>
                <a:cs typeface="Cormorant Garamond" pitchFamily="34" charset="-120"/>
              </a:rPr>
              <a:t>No acceptance for payment alone.</a:t>
            </a:r>
            <a:endParaRPr lang="en-US" sz="1900" dirty="0"/>
          </a:p>
        </p:txBody>
      </p:sp>
      <p:sp>
        <p:nvSpPr>
          <p:cNvPr id="16" name="s12-16"/>
          <p:cNvSpPr/>
          <p:nvPr/>
        </p:nvSpPr>
        <p:spPr>
          <a:xfrm>
            <a:off x="736600" y="4800600"/>
            <a:ext cx="6248400" cy="0"/>
          </a:xfrm>
          <a:prstGeom prst="line">
            <a:avLst/>
          </a:prstGeom>
          <a:noFill/>
          <a:ln w="9525">
            <a:solidFill>
              <a:srgbClr val="C9C0B2"/>
            </a:solidFill>
            <a:prstDash val="solid"/>
          </a:ln>
        </p:spPr>
      </p:sp>
      <p:sp>
        <p:nvSpPr>
          <p:cNvPr id="17" name="s12-17"/>
          <p:cNvSpPr/>
          <p:nvPr/>
        </p:nvSpPr>
        <p:spPr>
          <a:xfrm>
            <a:off x="736600" y="5029200"/>
            <a:ext cx="6248400" cy="558800"/>
          </a:xfrm>
          <a:prstGeom prst="rect">
            <a:avLst/>
          </a:prstGeom>
          <a:noFill/>
          <a:ln/>
        </p:spPr>
        <p:txBody>
          <a:bodyPr wrap="square" lIns="0" tIns="0" rIns="0" bIns="0" rtlCol="0" anchor="t"/>
          <a:lstStyle/>
          <a:p>
            <a:pPr marL="0" indent="0">
              <a:lnSpc>
                <a:spcPct val="125000"/>
              </a:lnSpc>
              <a:buNone/>
            </a:pPr>
            <a:r>
              <a:rPr lang="en-US" sz="1500" dirty="0">
                <a:solidFill>
                  <a:srgbClr val="575751"/>
                </a:solidFill>
                <a:latin typeface="Jost" pitchFamily="34" charset="0"/>
                <a:ea typeface="Jost" pitchFamily="34" charset="-122"/>
                <a:cs typeface="Jost" pitchFamily="34" charset="-120"/>
              </a:rPr>
              <a:t>We provide editorial exposure and media distribution, not transaction guarantees.</a:t>
            </a:r>
            <a:endParaRPr lang="en-US" sz="1500" dirty="0"/>
          </a:p>
        </p:txBody>
      </p:sp>
    </p:spTree>
    <p:extLst>
      <p:ext uri="{BB962C8B-B14F-4D97-AF65-F5344CB8AC3E}">
        <p14:creationId xmlns:p14="http://schemas.microsoft.com/office/powerpoint/2010/main" val="303658834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15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1250" decel="100000"/>
                                        <p:tgtEl>
                                          <p:spTgt spid="8"/>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950"/>
                                        <p:tgtEl>
                                          <p:spTgt spid="9"/>
                                        </p:tgtEl>
                                      </p:cBhvr>
                                    </p:animEffect>
                                    <p:anim calcmode="lin" valueType="num">
                                      <p:cBhvr>
                                        <p:cTn id="11" dur="950" decel="100000" fill="hold"/>
                                        <p:tgtEl>
                                          <p:spTgt spid="9"/>
                                        </p:tgtEl>
                                        <p:attrNameLst>
                                          <p:attrName>ppt_x</p:attrName>
                                        </p:attrNameLst>
                                      </p:cBhvr>
                                      <p:tavLst>
                                        <p:tav tm="0">
                                          <p:val>
                                            <p:strVal val="#ppt_x"/>
                                          </p:val>
                                        </p:tav>
                                        <p:tav tm="100000">
                                          <p:val>
                                            <p:strVal val="#ppt_x"/>
                                          </p:val>
                                        </p:tav>
                                      </p:tavLst>
                                    </p:anim>
                                    <p:anim calcmode="lin" valueType="num">
                                      <p:cBhvr>
                                        <p:cTn id="12" dur="950" decel="100000" fill="hold"/>
                                        <p:tgtEl>
                                          <p:spTgt spid="9"/>
                                        </p:tgtEl>
                                        <p:attrNameLst>
                                          <p:attrName>ppt_y</p:attrName>
                                        </p:attrNameLst>
                                      </p:cBhvr>
                                      <p:tavLst>
                                        <p:tav tm="0">
                                          <p:val>
                                            <p:strVal val="#ppt_y+0.022"/>
                                          </p:val>
                                        </p:tav>
                                        <p:tav tm="100000">
                                          <p:val>
                                            <p:strVal val="#ppt_y"/>
                                          </p:val>
                                        </p:tav>
                                      </p:tavLst>
                                    </p:anim>
                                  </p:childTnLst>
                                </p:cTn>
                              </p:par>
                              <p:par>
                                <p:cTn id="13" presetID="22" presetClass="entr" presetSubtype="8" fill="hold" nodeType="withEffect">
                                  <p:stCondLst>
                                    <p:cond delay="260"/>
                                  </p:stCondLst>
                                  <p:childTnLst>
                                    <p:set>
                                      <p:cBhvr>
                                        <p:cTn id="14" dur="1" fill="hold">
                                          <p:stCondLst>
                                            <p:cond delay="0"/>
                                          </p:stCondLst>
                                        </p:cTn>
                                        <p:tgtEl>
                                          <p:spTgt spid="10"/>
                                        </p:tgtEl>
                                        <p:attrNameLst>
                                          <p:attrName>style.visibility</p:attrName>
                                        </p:attrNameLst>
                                      </p:cBhvr>
                                      <p:to>
                                        <p:strVal val="visible"/>
                                      </p:to>
                                    </p:set>
                                    <p:animEffect transition="in" filter="wipe(left)">
                                      <p:cBhvr>
                                        <p:cTn id="15" dur="1250" decel="100000"/>
                                        <p:tgtEl>
                                          <p:spTgt spid="10"/>
                                        </p:tgtEl>
                                      </p:cBhvr>
                                    </p:animEffect>
                                  </p:childTnLst>
                                </p:cTn>
                              </p:par>
                              <p:par>
                                <p:cTn id="16" presetID="10" presetClass="entr" presetSubtype="0" fill="hold" grpId="0" nodeType="withEffect">
                                  <p:stCondLst>
                                    <p:cond delay="26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950"/>
                                        <p:tgtEl>
                                          <p:spTgt spid="11"/>
                                        </p:tgtEl>
                                      </p:cBhvr>
                                    </p:animEffect>
                                    <p:anim calcmode="lin" valueType="num">
                                      <p:cBhvr>
                                        <p:cTn id="19" dur="950" decel="100000" fill="hold"/>
                                        <p:tgtEl>
                                          <p:spTgt spid="11"/>
                                        </p:tgtEl>
                                        <p:attrNameLst>
                                          <p:attrName>ppt_x</p:attrName>
                                        </p:attrNameLst>
                                      </p:cBhvr>
                                      <p:tavLst>
                                        <p:tav tm="0">
                                          <p:val>
                                            <p:strVal val="#ppt_x"/>
                                          </p:val>
                                        </p:tav>
                                        <p:tav tm="100000">
                                          <p:val>
                                            <p:strVal val="#ppt_x"/>
                                          </p:val>
                                        </p:tav>
                                      </p:tavLst>
                                    </p:anim>
                                    <p:anim calcmode="lin" valueType="num">
                                      <p:cBhvr>
                                        <p:cTn id="20" dur="950" decel="100000" fill="hold"/>
                                        <p:tgtEl>
                                          <p:spTgt spid="11"/>
                                        </p:tgtEl>
                                        <p:attrNameLst>
                                          <p:attrName>ppt_y</p:attrName>
                                        </p:attrNameLst>
                                      </p:cBhvr>
                                      <p:tavLst>
                                        <p:tav tm="0">
                                          <p:val>
                                            <p:strVal val="#ppt_y+0.022"/>
                                          </p:val>
                                        </p:tav>
                                        <p:tav tm="100000">
                                          <p:val>
                                            <p:strVal val="#ppt_y"/>
                                          </p:val>
                                        </p:tav>
                                      </p:tavLst>
                                    </p:anim>
                                  </p:childTnLst>
                                </p:cTn>
                              </p:par>
                              <p:par>
                                <p:cTn id="21" presetID="22" presetClass="entr" presetSubtype="8" fill="hold" nodeType="withEffect">
                                  <p:stCondLst>
                                    <p:cond delay="370"/>
                                  </p:stCondLst>
                                  <p:childTnLst>
                                    <p:set>
                                      <p:cBhvr>
                                        <p:cTn id="22" dur="1" fill="hold">
                                          <p:stCondLst>
                                            <p:cond delay="0"/>
                                          </p:stCondLst>
                                        </p:cTn>
                                        <p:tgtEl>
                                          <p:spTgt spid="12"/>
                                        </p:tgtEl>
                                        <p:attrNameLst>
                                          <p:attrName>style.visibility</p:attrName>
                                        </p:attrNameLst>
                                      </p:cBhvr>
                                      <p:to>
                                        <p:strVal val="visible"/>
                                      </p:to>
                                    </p:set>
                                    <p:animEffect transition="in" filter="wipe(left)">
                                      <p:cBhvr>
                                        <p:cTn id="23" dur="1250" decel="100000"/>
                                        <p:tgtEl>
                                          <p:spTgt spid="12"/>
                                        </p:tgtEl>
                                      </p:cBhvr>
                                    </p:animEffect>
                                  </p:childTnLst>
                                </p:cTn>
                              </p:par>
                              <p:par>
                                <p:cTn id="24" presetID="10" presetClass="entr" presetSubtype="0" fill="hold" grpId="0" nodeType="withEffect">
                                  <p:stCondLst>
                                    <p:cond delay="37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950"/>
                                        <p:tgtEl>
                                          <p:spTgt spid="13"/>
                                        </p:tgtEl>
                                      </p:cBhvr>
                                    </p:animEffect>
                                    <p:anim calcmode="lin" valueType="num">
                                      <p:cBhvr>
                                        <p:cTn id="27" dur="950" decel="100000" fill="hold"/>
                                        <p:tgtEl>
                                          <p:spTgt spid="13"/>
                                        </p:tgtEl>
                                        <p:attrNameLst>
                                          <p:attrName>ppt_x</p:attrName>
                                        </p:attrNameLst>
                                      </p:cBhvr>
                                      <p:tavLst>
                                        <p:tav tm="0">
                                          <p:val>
                                            <p:strVal val="#ppt_x"/>
                                          </p:val>
                                        </p:tav>
                                        <p:tav tm="100000">
                                          <p:val>
                                            <p:strVal val="#ppt_x"/>
                                          </p:val>
                                        </p:tav>
                                      </p:tavLst>
                                    </p:anim>
                                    <p:anim calcmode="lin" valueType="num">
                                      <p:cBhvr>
                                        <p:cTn id="28" dur="950" decel="100000" fill="hold"/>
                                        <p:tgtEl>
                                          <p:spTgt spid="13"/>
                                        </p:tgtEl>
                                        <p:attrNameLst>
                                          <p:attrName>ppt_y</p:attrName>
                                        </p:attrNameLst>
                                      </p:cBhvr>
                                      <p:tavLst>
                                        <p:tav tm="0">
                                          <p:val>
                                            <p:strVal val="#ppt_y+0.022"/>
                                          </p:val>
                                        </p:tav>
                                        <p:tav tm="100000">
                                          <p:val>
                                            <p:strVal val="#ppt_y"/>
                                          </p:val>
                                        </p:tav>
                                      </p:tavLst>
                                    </p:anim>
                                  </p:childTnLst>
                                </p:cTn>
                              </p:par>
                              <p:par>
                                <p:cTn id="29" presetID="22" presetClass="entr" presetSubtype="8" fill="hold" nodeType="withEffect">
                                  <p:stCondLst>
                                    <p:cond delay="480"/>
                                  </p:stCondLst>
                                  <p:childTnLst>
                                    <p:set>
                                      <p:cBhvr>
                                        <p:cTn id="30" dur="1" fill="hold">
                                          <p:stCondLst>
                                            <p:cond delay="0"/>
                                          </p:stCondLst>
                                        </p:cTn>
                                        <p:tgtEl>
                                          <p:spTgt spid="14"/>
                                        </p:tgtEl>
                                        <p:attrNameLst>
                                          <p:attrName>style.visibility</p:attrName>
                                        </p:attrNameLst>
                                      </p:cBhvr>
                                      <p:to>
                                        <p:strVal val="visible"/>
                                      </p:to>
                                    </p:set>
                                    <p:animEffect transition="in" filter="wipe(left)">
                                      <p:cBhvr>
                                        <p:cTn id="31" dur="1250" decel="100000"/>
                                        <p:tgtEl>
                                          <p:spTgt spid="14"/>
                                        </p:tgtEl>
                                      </p:cBhvr>
                                    </p:animEffect>
                                  </p:childTnLst>
                                </p:cTn>
                              </p:par>
                              <p:par>
                                <p:cTn id="32" presetID="10" presetClass="entr" presetSubtype="0" fill="hold" grpId="0" nodeType="withEffect">
                                  <p:stCondLst>
                                    <p:cond delay="48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950"/>
                                        <p:tgtEl>
                                          <p:spTgt spid="15"/>
                                        </p:tgtEl>
                                      </p:cBhvr>
                                    </p:animEffect>
                                    <p:anim calcmode="lin" valueType="num">
                                      <p:cBhvr>
                                        <p:cTn id="35" dur="950" decel="100000" fill="hold"/>
                                        <p:tgtEl>
                                          <p:spTgt spid="15"/>
                                        </p:tgtEl>
                                        <p:attrNameLst>
                                          <p:attrName>ppt_x</p:attrName>
                                        </p:attrNameLst>
                                      </p:cBhvr>
                                      <p:tavLst>
                                        <p:tav tm="0">
                                          <p:val>
                                            <p:strVal val="#ppt_x"/>
                                          </p:val>
                                        </p:tav>
                                        <p:tav tm="100000">
                                          <p:val>
                                            <p:strVal val="#ppt_x"/>
                                          </p:val>
                                        </p:tav>
                                      </p:tavLst>
                                    </p:anim>
                                    <p:anim calcmode="lin" valueType="num">
                                      <p:cBhvr>
                                        <p:cTn id="36" dur="950" decel="100000" fill="hold"/>
                                        <p:tgtEl>
                                          <p:spTgt spid="15"/>
                                        </p:tgtEl>
                                        <p:attrNameLst>
                                          <p:attrName>ppt_y</p:attrName>
                                        </p:attrNameLst>
                                      </p:cBhvr>
                                      <p:tavLst>
                                        <p:tav tm="0">
                                          <p:val>
                                            <p:strVal val="#ppt_y+0.022"/>
                                          </p:val>
                                        </p:tav>
                                        <p:tav tm="100000">
                                          <p:val>
                                            <p:strVal val="#ppt_y"/>
                                          </p:val>
                                        </p:tav>
                                      </p:tavLst>
                                    </p:anim>
                                  </p:childTnLst>
                                </p:cTn>
                              </p:par>
                              <p:par>
                                <p:cTn id="37" presetID="22" presetClass="entr" presetSubtype="8" fill="hold" nodeType="withEffect">
                                  <p:stCondLst>
                                    <p:cond delay="590"/>
                                  </p:stCondLst>
                                  <p:childTnLst>
                                    <p:set>
                                      <p:cBhvr>
                                        <p:cTn id="38" dur="1" fill="hold">
                                          <p:stCondLst>
                                            <p:cond delay="0"/>
                                          </p:stCondLst>
                                        </p:cTn>
                                        <p:tgtEl>
                                          <p:spTgt spid="16"/>
                                        </p:tgtEl>
                                        <p:attrNameLst>
                                          <p:attrName>style.visibility</p:attrName>
                                        </p:attrNameLst>
                                      </p:cBhvr>
                                      <p:to>
                                        <p:strVal val="visible"/>
                                      </p:to>
                                    </p:set>
                                    <p:animEffect transition="in" filter="wipe(left)">
                                      <p:cBhvr>
                                        <p:cTn id="39" dur="1250" decel="100000"/>
                                        <p:tgtEl>
                                          <p:spTgt spid="16"/>
                                        </p:tgtEl>
                                      </p:cBhvr>
                                    </p:animEffect>
                                  </p:childTnLst>
                                </p:cTn>
                              </p:par>
                              <p:par>
                                <p:cTn id="40" presetID="10" presetClass="entr" presetSubtype="0" fill="hold" grpId="0" nodeType="withEffect">
                                  <p:stCondLst>
                                    <p:cond delay="70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950"/>
                                        <p:tgtEl>
                                          <p:spTgt spid="17"/>
                                        </p:tgtEl>
                                      </p:cBhvr>
                                    </p:animEffect>
                                    <p:anim calcmode="lin" valueType="num">
                                      <p:cBhvr>
                                        <p:cTn id="43" dur="950" decel="100000" fill="hold"/>
                                        <p:tgtEl>
                                          <p:spTgt spid="17"/>
                                        </p:tgtEl>
                                        <p:attrNameLst>
                                          <p:attrName>ppt_x</p:attrName>
                                        </p:attrNameLst>
                                      </p:cBhvr>
                                      <p:tavLst>
                                        <p:tav tm="0">
                                          <p:val>
                                            <p:strVal val="#ppt_x"/>
                                          </p:val>
                                        </p:tav>
                                        <p:tav tm="100000">
                                          <p:val>
                                            <p:strVal val="#ppt_x"/>
                                          </p:val>
                                        </p:tav>
                                      </p:tavLst>
                                    </p:anim>
                                    <p:anim calcmode="lin" valueType="num">
                                      <p:cBhvr>
                                        <p:cTn id="44" dur="950" decel="100000" fill="hold"/>
                                        <p:tgtEl>
                                          <p:spTgt spid="17"/>
                                        </p:tgtEl>
                                        <p:attrNameLst>
                                          <p:attrName>ppt_y</p:attrName>
                                        </p:attrNameLst>
                                      </p:cBhvr>
                                      <p:tavLst>
                                        <p:tav tm="0">
                                          <p:val>
                                            <p:strVal val="#ppt_y+0.02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P spid="15"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EEAE1"/>
        </a:solidFill>
        <a:effectLst/>
      </p:bgPr>
    </p:bg>
    <p:spTree>
      <p:nvGrpSpPr>
        <p:cNvPr id="1" name=""/>
        <p:cNvGrpSpPr/>
        <p:nvPr/>
      </p:nvGrpSpPr>
      <p:grpSpPr>
        <a:xfrm>
          <a:off x="0" y="0"/>
          <a:ext cx="0" cy="0"/>
          <a:chOff x="0" y="0"/>
          <a:chExt cx="0" cy="0"/>
        </a:xfrm>
      </p:grpSpPr>
      <p:sp>
        <p:nvSpPr>
          <p:cNvPr id="2" name="!!Agenda">
            <a:hlinkClick r:id="" action="ppaction://noaction"/>
          </p:cNvPr>
          <p:cNvSpPr/>
          <p:nvPr/>
        </p:nvSpPr>
        <p:spPr>
          <a:xfrm>
            <a:off x="10375900" y="381000"/>
            <a:ext cx="1092200" cy="228600"/>
          </a:xfrm>
          <a:prstGeom prst="rect">
            <a:avLst/>
          </a:prstGeom>
          <a:noFill/>
          <a:ln/>
        </p:spPr>
        <p:txBody>
          <a:bodyPr wrap="square" lIns="0" tIns="0" rIns="0" bIns="0" rtlCol="0" anchor="ctr"/>
          <a:lstStyle/>
          <a:p>
            <a:pPr marL="0" indent="0" algn="r">
              <a:buNone/>
            </a:pPr>
            <a:r>
              <a:rPr lang="en-US" sz="1000" u="sng" kern="0" spc="250" dirty="0">
                <a:solidFill>
                  <a:srgbClr val="11110F"/>
                </a:solidFill>
                <a:latin typeface="Jost" pitchFamily="34" charset="0"/>
                <a:ea typeface="Jost" pitchFamily="34" charset="-122"/>
                <a:cs typeface="Jost" pitchFamily="34" charset="-120"/>
                <a:hlinkClick r:id="" action="ppaction://noaction">
                  <a:extLst>
                    <a:ext uri="{A12FA001-AC4F-418D-AE19-62706E023703}">
                      <ahyp:hlinkClr xmlns:ahyp="http://schemas.microsoft.com/office/drawing/2018/hyperlinkcolor" val="tx"/>
                    </a:ext>
                  </a:extLst>
                </a:hlinkClick>
              </a:rPr>
              <a:t>Agenda</a:t>
            </a:r>
            <a:endParaRPr lang="en-US" sz="1000" dirty="0"/>
          </a:p>
        </p:txBody>
      </p:sp>
      <p:sp>
        <p:nvSpPr>
          <p:cNvPr id="3" name="!!Footer"/>
          <p:cNvSpPr/>
          <p:nvPr/>
        </p:nvSpPr>
        <p:spPr>
          <a:xfrm>
            <a:off x="736600" y="6172200"/>
            <a:ext cx="4572000" cy="228600"/>
          </a:xfrm>
          <a:prstGeom prst="rect">
            <a:avLst/>
          </a:prstGeom>
          <a:noFill/>
          <a:ln/>
        </p:spPr>
        <p:txBody>
          <a:bodyPr wrap="square" lIns="0" tIns="0" rIns="0" bIns="0" rtlCol="0" anchor="ctr"/>
          <a:lstStyle/>
          <a:p>
            <a:pPr marL="0" indent="0">
              <a:buNone/>
            </a:pPr>
            <a:r>
              <a:rPr lang="en-US" sz="900" kern="0" spc="250" dirty="0">
                <a:solidFill>
                  <a:srgbClr val="5E5A54"/>
                </a:solidFill>
                <a:latin typeface="Jost" pitchFamily="34" charset="0"/>
                <a:ea typeface="Jost" pitchFamily="34" charset="-122"/>
                <a:cs typeface="Jost" pitchFamily="34" charset="-120"/>
              </a:rPr>
              <a:t>MATTER OF PLACE  ·  FOR PARTNERS</a:t>
            </a:r>
            <a:endParaRPr lang="en-US" sz="900" dirty="0"/>
          </a:p>
        </p:txBody>
      </p:sp>
      <p:sp>
        <p:nvSpPr>
          <p:cNvPr id="4" name="!!Page"/>
          <p:cNvSpPr/>
          <p:nvPr/>
        </p:nvSpPr>
        <p:spPr>
          <a:xfrm>
            <a:off x="10375900" y="6172200"/>
            <a:ext cx="1092200" cy="228600"/>
          </a:xfrm>
          <a:prstGeom prst="rect">
            <a:avLst/>
          </a:prstGeom>
          <a:noFill/>
          <a:ln/>
        </p:spPr>
        <p:txBody>
          <a:bodyPr wrap="square" lIns="0" tIns="0" rIns="0" bIns="0" rtlCol="0" anchor="ctr"/>
          <a:lstStyle/>
          <a:p>
            <a:pPr marL="0" indent="0" algn="r">
              <a:buNone/>
            </a:pPr>
            <a:r>
              <a:rPr lang="en-US" sz="900" kern="0" spc="250" dirty="0">
                <a:solidFill>
                  <a:srgbClr val="5E5A54"/>
                </a:solidFill>
                <a:latin typeface="Jost" pitchFamily="34" charset="0"/>
                <a:ea typeface="Jost" pitchFamily="34" charset="-122"/>
                <a:cs typeface="Jost" pitchFamily="34" charset="-120"/>
              </a:rPr>
              <a:t>13 / 14</a:t>
            </a:r>
            <a:endParaRPr lang="en-US" sz="900" dirty="0"/>
          </a:p>
        </p:txBody>
      </p:sp>
      <p:sp>
        <p:nvSpPr>
          <p:cNvPr id="5" name="!!Eyebrow"/>
          <p:cNvSpPr/>
          <p:nvPr/>
        </p:nvSpPr>
        <p:spPr>
          <a:xfrm>
            <a:off x="731520" y="868680"/>
            <a:ext cx="5486400" cy="274320"/>
          </a:xfrm>
          <a:prstGeom prst="rect">
            <a:avLst/>
          </a:prstGeom>
          <a:noFill/>
          <a:ln/>
        </p:spPr>
        <p:txBody>
          <a:bodyPr wrap="square" lIns="0" tIns="0" rIns="0" bIns="0" rtlCol="0" anchor="ctr"/>
          <a:lstStyle/>
          <a:p>
            <a:pPr marL="0" indent="0">
              <a:buNone/>
            </a:pPr>
            <a:r>
              <a:rPr lang="en-US" sz="1050" kern="0" spc="300" dirty="0">
                <a:solidFill>
                  <a:srgbClr val="575751"/>
                </a:solidFill>
                <a:latin typeface="Jost" pitchFamily="34" charset="0"/>
                <a:ea typeface="Jost" pitchFamily="34" charset="-122"/>
                <a:cs typeface="Jost" pitchFamily="34" charset="-120"/>
              </a:rPr>
              <a:t>QUESTIONS</a:t>
            </a:r>
            <a:endParaRPr lang="en-US" sz="1050" dirty="0"/>
          </a:p>
        </p:txBody>
      </p:sp>
      <p:sp>
        <p:nvSpPr>
          <p:cNvPr id="6" name="!!Title"/>
          <p:cNvSpPr/>
          <p:nvPr/>
        </p:nvSpPr>
        <p:spPr>
          <a:xfrm>
            <a:off x="736600" y="1193800"/>
            <a:ext cx="10731500" cy="711200"/>
          </a:xfrm>
          <a:prstGeom prst="rect">
            <a:avLst/>
          </a:prstGeom>
          <a:noFill/>
          <a:ln/>
        </p:spPr>
        <p:txBody>
          <a:bodyPr wrap="square" lIns="0" tIns="0" rIns="0" bIns="0" rtlCol="0" anchor="t"/>
          <a:lstStyle/>
          <a:p>
            <a:pPr marL="0" indent="0">
              <a:buNone/>
            </a:pPr>
            <a:r>
              <a:rPr lang="en-US" sz="3800" dirty="0">
                <a:solidFill>
                  <a:srgbClr val="11110F"/>
                </a:solidFill>
                <a:latin typeface="Cormorant Garamond" pitchFamily="34" charset="0"/>
                <a:ea typeface="Cormorant Garamond" pitchFamily="34" charset="-122"/>
                <a:cs typeface="Cormorant Garamond" pitchFamily="34" charset="-120"/>
              </a:rPr>
              <a:t>What partners ask first.</a:t>
            </a:r>
            <a:endParaRPr lang="en-US" sz="3800" dirty="0"/>
          </a:p>
        </p:txBody>
      </p:sp>
      <p:sp>
        <p:nvSpPr>
          <p:cNvPr id="7" name="s13-7"/>
          <p:cNvSpPr/>
          <p:nvPr/>
        </p:nvSpPr>
        <p:spPr>
          <a:xfrm>
            <a:off x="736600" y="2057400"/>
            <a:ext cx="5130800" cy="0"/>
          </a:xfrm>
          <a:prstGeom prst="line">
            <a:avLst/>
          </a:prstGeom>
          <a:noFill/>
          <a:ln w="9525">
            <a:solidFill>
              <a:srgbClr val="C9C0B2"/>
            </a:solidFill>
            <a:prstDash val="solid"/>
          </a:ln>
        </p:spPr>
      </p:sp>
      <p:sp>
        <p:nvSpPr>
          <p:cNvPr id="8" name="s13-8"/>
          <p:cNvSpPr/>
          <p:nvPr/>
        </p:nvSpPr>
        <p:spPr>
          <a:xfrm>
            <a:off x="736600" y="2184400"/>
            <a:ext cx="5130800" cy="838200"/>
          </a:xfrm>
          <a:prstGeom prst="rect">
            <a:avLst/>
          </a:prstGeom>
          <a:noFill/>
          <a:ln/>
        </p:spPr>
        <p:txBody>
          <a:bodyPr wrap="square" lIns="0" tIns="0" rIns="0" bIns="0" rtlCol="0" anchor="t">
            <a:noAutofit/>
          </a:bodyPr>
          <a:lstStyle/>
          <a:p>
            <a:pPr marL="0" indent="0">
              <a:buNone/>
            </a:pPr>
            <a:r>
              <a:rPr lang="en-US" sz="1600" dirty="0">
                <a:solidFill>
                  <a:srgbClr val="11110F"/>
                </a:solidFill>
                <a:latin typeface="Cormorant Garamond" pitchFamily="34" charset="0"/>
                <a:ea typeface="Cormorant Garamond" pitchFamily="34" charset="-122"/>
                <a:cs typeface="Cormorant Garamond" pitchFamily="34" charset="-120"/>
              </a:rPr>
              <a:t>Does paying guarantee acceptance?</a:t>
            </a:r>
            <a:endParaRPr lang="en-US" sz="1600" dirty="0"/>
          </a:p>
          <a:p>
            <a:pPr marL="0" indent="0">
              <a:lnSpc>
                <a:spcPct val="120000"/>
              </a:lnSpc>
              <a:spcBef>
                <a:spcPts val="500"/>
              </a:spcBef>
              <a:buNone/>
            </a:pPr>
            <a:r>
              <a:rPr lang="en-US" sz="1300" dirty="0">
                <a:solidFill>
                  <a:srgbClr val="3F3D39"/>
                </a:solidFill>
                <a:latin typeface="Jost" pitchFamily="34" charset="0"/>
                <a:ea typeface="Jost" pitchFamily="34" charset="-122"/>
                <a:cs typeface="Jost" pitchFamily="34" charset="-120"/>
              </a:rPr>
              <a:t>No. Every property is subject to the Matter of Place editorial standard.</a:t>
            </a:r>
            <a:endParaRPr lang="en-US" sz="1300" dirty="0"/>
          </a:p>
        </p:txBody>
      </p:sp>
      <p:sp>
        <p:nvSpPr>
          <p:cNvPr id="10" name="s13-10"/>
          <p:cNvSpPr/>
          <p:nvPr/>
        </p:nvSpPr>
        <p:spPr>
          <a:xfrm>
            <a:off x="736600" y="3048000"/>
            <a:ext cx="5130800" cy="0"/>
          </a:xfrm>
          <a:prstGeom prst="line">
            <a:avLst/>
          </a:prstGeom>
          <a:noFill/>
          <a:ln w="9525">
            <a:solidFill>
              <a:srgbClr val="C9C0B2"/>
            </a:solidFill>
            <a:prstDash val="solid"/>
          </a:ln>
        </p:spPr>
      </p:sp>
      <p:sp>
        <p:nvSpPr>
          <p:cNvPr id="11" name="s13-11"/>
          <p:cNvSpPr/>
          <p:nvPr/>
        </p:nvSpPr>
        <p:spPr>
          <a:xfrm>
            <a:off x="736600" y="3175000"/>
            <a:ext cx="5130800" cy="838200"/>
          </a:xfrm>
          <a:prstGeom prst="rect">
            <a:avLst/>
          </a:prstGeom>
          <a:noFill/>
          <a:ln/>
        </p:spPr>
        <p:txBody>
          <a:bodyPr wrap="square" lIns="0" tIns="0" rIns="0" bIns="0" rtlCol="0" anchor="t">
            <a:noAutofit/>
          </a:bodyPr>
          <a:lstStyle/>
          <a:p>
            <a:pPr marL="0" indent="0">
              <a:buNone/>
            </a:pPr>
            <a:r>
              <a:rPr lang="en-US" sz="1600" dirty="0">
                <a:solidFill>
                  <a:srgbClr val="11110F"/>
                </a:solidFill>
                <a:latin typeface="Cormorant Garamond" pitchFamily="34" charset="0"/>
                <a:ea typeface="Cormorant Garamond" pitchFamily="34" charset="-122"/>
                <a:cs typeface="Cormorant Garamond" pitchFamily="34" charset="-120"/>
              </a:rPr>
              <a:t>Do you guarantee buyers or leads?</a:t>
            </a:r>
            <a:endParaRPr lang="en-US" sz="1600" dirty="0"/>
          </a:p>
          <a:p>
            <a:pPr marL="0" indent="0">
              <a:lnSpc>
                <a:spcPct val="120000"/>
              </a:lnSpc>
              <a:spcBef>
                <a:spcPts val="500"/>
              </a:spcBef>
              <a:buNone/>
            </a:pPr>
            <a:r>
              <a:rPr lang="en-US" sz="1300" dirty="0">
                <a:solidFill>
                  <a:srgbClr val="3F3D39"/>
                </a:solidFill>
                <a:latin typeface="Jost" pitchFamily="34" charset="0"/>
                <a:ea typeface="Jost" pitchFamily="34" charset="-122"/>
                <a:cs typeface="Jost" pitchFamily="34" charset="-120"/>
              </a:rPr>
              <a:t>No. Matter of Place provides editorial exposure and media distribution, not transaction guarantees.</a:t>
            </a:r>
            <a:endParaRPr lang="en-US" sz="1300" dirty="0"/>
          </a:p>
        </p:txBody>
      </p:sp>
      <p:sp>
        <p:nvSpPr>
          <p:cNvPr id="13" name="s13-13"/>
          <p:cNvSpPr/>
          <p:nvPr/>
        </p:nvSpPr>
        <p:spPr>
          <a:xfrm>
            <a:off x="736600" y="4038600"/>
            <a:ext cx="5130800" cy="0"/>
          </a:xfrm>
          <a:prstGeom prst="line">
            <a:avLst/>
          </a:prstGeom>
          <a:noFill/>
          <a:ln w="9525">
            <a:solidFill>
              <a:srgbClr val="C9C0B2"/>
            </a:solidFill>
            <a:prstDash val="solid"/>
          </a:ln>
        </p:spPr>
      </p:sp>
      <p:sp>
        <p:nvSpPr>
          <p:cNvPr id="14" name="s13-14"/>
          <p:cNvSpPr/>
          <p:nvPr/>
        </p:nvSpPr>
        <p:spPr>
          <a:xfrm>
            <a:off x="6337300" y="4165600"/>
            <a:ext cx="5130800" cy="838200"/>
          </a:xfrm>
          <a:prstGeom prst="rect">
            <a:avLst/>
          </a:prstGeom>
          <a:noFill/>
          <a:ln/>
        </p:spPr>
        <p:txBody>
          <a:bodyPr wrap="square" lIns="0" tIns="0" rIns="0" bIns="0" rtlCol="0" anchor="t">
            <a:noAutofit/>
          </a:bodyPr>
          <a:lstStyle/>
          <a:p>
            <a:pPr marL="0" indent="0">
              <a:buNone/>
            </a:pPr>
            <a:r>
              <a:rPr lang="en-US" sz="1600" dirty="0">
                <a:solidFill>
                  <a:srgbClr val="11110F"/>
                </a:solidFill>
                <a:latin typeface="Cormorant Garamond" pitchFamily="34" charset="0"/>
                <a:ea typeface="Cormorant Garamond" pitchFamily="34" charset="-122"/>
                <a:cs typeface="Cormorant Garamond" pitchFamily="34" charset="-120"/>
              </a:rPr>
              <a:t>Can I submit properties outside California, New York or Florida?</a:t>
            </a:r>
            <a:endParaRPr lang="en-US" sz="1600" dirty="0"/>
          </a:p>
          <a:p>
            <a:pPr marL="0" indent="0">
              <a:lnSpc>
                <a:spcPct val="120000"/>
              </a:lnSpc>
              <a:spcBef>
                <a:spcPts val="500"/>
              </a:spcBef>
              <a:buNone/>
            </a:pPr>
            <a:r>
              <a:rPr lang="en-US" sz="1300" dirty="0">
                <a:solidFill>
                  <a:srgbClr val="3F3D39"/>
                </a:solidFill>
                <a:latin typeface="Jost" pitchFamily="34" charset="0"/>
                <a:ea typeface="Jost" pitchFamily="34" charset="-122"/>
                <a:cs typeface="Jost" pitchFamily="34" charset="-120"/>
              </a:rPr>
              <a:t>Not currently.</a:t>
            </a:r>
            <a:endParaRPr lang="en-US" sz="1300" dirty="0"/>
          </a:p>
        </p:txBody>
      </p:sp>
      <p:sp>
        <p:nvSpPr>
          <p:cNvPr id="16" name="s13-16"/>
          <p:cNvSpPr/>
          <p:nvPr/>
        </p:nvSpPr>
        <p:spPr>
          <a:xfrm>
            <a:off x="736600" y="5029200"/>
            <a:ext cx="5130800" cy="0"/>
          </a:xfrm>
          <a:prstGeom prst="line">
            <a:avLst/>
          </a:prstGeom>
          <a:noFill/>
          <a:ln w="9525">
            <a:solidFill>
              <a:srgbClr val="C9C0B2"/>
            </a:solidFill>
            <a:prstDash val="solid"/>
          </a:ln>
        </p:spPr>
      </p:sp>
      <p:sp>
        <p:nvSpPr>
          <p:cNvPr id="17" name="s13-17"/>
          <p:cNvSpPr/>
          <p:nvPr/>
        </p:nvSpPr>
        <p:spPr>
          <a:xfrm>
            <a:off x="736600" y="5156200"/>
            <a:ext cx="5130800" cy="838200"/>
          </a:xfrm>
          <a:prstGeom prst="rect">
            <a:avLst/>
          </a:prstGeom>
          <a:noFill/>
          <a:ln/>
        </p:spPr>
        <p:txBody>
          <a:bodyPr wrap="square" lIns="0" tIns="0" rIns="0" bIns="0" rtlCol="0" anchor="t">
            <a:noAutofit/>
          </a:bodyPr>
          <a:lstStyle/>
          <a:p>
            <a:pPr marL="0" indent="0">
              <a:buNone/>
            </a:pPr>
            <a:r>
              <a:rPr lang="en-US" sz="1600" dirty="0">
                <a:solidFill>
                  <a:srgbClr val="11110F"/>
                </a:solidFill>
                <a:latin typeface="Cormorant Garamond" pitchFamily="34" charset="0"/>
                <a:ea typeface="Cormorant Garamond" pitchFamily="34" charset="-122"/>
                <a:cs typeface="Cormorant Garamond" pitchFamily="34" charset="-120"/>
              </a:rPr>
              <a:t>Do you work with new developments?</a:t>
            </a:r>
            <a:endParaRPr lang="en-US" sz="1600" dirty="0"/>
          </a:p>
          <a:p>
            <a:pPr marL="0" indent="0">
              <a:lnSpc>
                <a:spcPct val="120000"/>
              </a:lnSpc>
              <a:spcBef>
                <a:spcPts val="500"/>
              </a:spcBef>
              <a:buNone/>
            </a:pPr>
            <a:r>
              <a:rPr lang="en-US" sz="1300" dirty="0">
                <a:solidFill>
                  <a:srgbClr val="3F3D39"/>
                </a:solidFill>
                <a:latin typeface="Jost" pitchFamily="34" charset="0"/>
                <a:ea typeface="Jost" pitchFamily="34" charset="-122"/>
                <a:cs typeface="Jost" pitchFamily="34" charset="-120"/>
              </a:rPr>
              <a:t>Not currently. Matter of Place is focused on existing residential property.</a:t>
            </a:r>
            <a:endParaRPr lang="en-US" sz="1300" dirty="0"/>
          </a:p>
        </p:txBody>
      </p:sp>
      <p:sp>
        <p:nvSpPr>
          <p:cNvPr id="19" name="s13-19"/>
          <p:cNvSpPr/>
          <p:nvPr/>
        </p:nvSpPr>
        <p:spPr>
          <a:xfrm>
            <a:off x="6337300" y="2057400"/>
            <a:ext cx="5130800" cy="0"/>
          </a:xfrm>
          <a:prstGeom prst="line">
            <a:avLst/>
          </a:prstGeom>
          <a:noFill/>
          <a:ln w="9525">
            <a:solidFill>
              <a:srgbClr val="C9C0B2"/>
            </a:solidFill>
            <a:prstDash val="solid"/>
          </a:ln>
        </p:spPr>
      </p:sp>
      <p:sp>
        <p:nvSpPr>
          <p:cNvPr id="20" name="s13-20"/>
          <p:cNvSpPr/>
          <p:nvPr/>
        </p:nvSpPr>
        <p:spPr>
          <a:xfrm>
            <a:off x="6337300" y="2184400"/>
            <a:ext cx="5130800" cy="838200"/>
          </a:xfrm>
          <a:prstGeom prst="rect">
            <a:avLst/>
          </a:prstGeom>
          <a:noFill/>
          <a:ln/>
        </p:spPr>
        <p:txBody>
          <a:bodyPr wrap="square" lIns="0" tIns="0" rIns="0" bIns="0" rtlCol="0" anchor="t">
            <a:noAutofit/>
          </a:bodyPr>
          <a:lstStyle/>
          <a:p>
            <a:pPr marL="0" indent="0">
              <a:buNone/>
            </a:pPr>
            <a:r>
              <a:rPr lang="en-US" sz="1600" dirty="0">
                <a:solidFill>
                  <a:srgbClr val="11110F"/>
                </a:solidFill>
                <a:latin typeface="Cormorant Garamond" pitchFamily="34" charset="0"/>
                <a:ea typeface="Cormorant Garamond" pitchFamily="34" charset="-122"/>
                <a:cs typeface="Cormorant Garamond" pitchFamily="34" charset="-120"/>
              </a:rPr>
              <a:t>Is paid media included?</a:t>
            </a:r>
            <a:endParaRPr lang="en-US" sz="1600" dirty="0"/>
          </a:p>
          <a:p>
            <a:pPr marL="0" indent="0">
              <a:lnSpc>
                <a:spcPct val="120000"/>
              </a:lnSpc>
              <a:spcBef>
                <a:spcPts val="500"/>
              </a:spcBef>
              <a:buNone/>
            </a:pPr>
            <a:r>
              <a:rPr lang="en-US" sz="1300" dirty="0">
                <a:solidFill>
                  <a:srgbClr val="3F3D39"/>
                </a:solidFill>
                <a:latin typeface="Jost" pitchFamily="34" charset="0"/>
                <a:ea typeface="Jost" pitchFamily="34" charset="-122"/>
                <a:cs typeface="Jost" pitchFamily="34" charset="-120"/>
              </a:rPr>
              <a:t>No. Programmatic media budgets are separate from editorial product fees.</a:t>
            </a:r>
            <a:endParaRPr lang="en-US" sz="1300" dirty="0"/>
          </a:p>
        </p:txBody>
      </p:sp>
      <p:sp>
        <p:nvSpPr>
          <p:cNvPr id="22" name="s13-22"/>
          <p:cNvSpPr/>
          <p:nvPr/>
        </p:nvSpPr>
        <p:spPr>
          <a:xfrm>
            <a:off x="6337300" y="3048000"/>
            <a:ext cx="5130800" cy="0"/>
          </a:xfrm>
          <a:prstGeom prst="line">
            <a:avLst/>
          </a:prstGeom>
          <a:noFill/>
          <a:ln w="9525">
            <a:solidFill>
              <a:srgbClr val="C9C0B2"/>
            </a:solidFill>
            <a:prstDash val="solid"/>
          </a:ln>
        </p:spPr>
      </p:sp>
      <p:sp>
        <p:nvSpPr>
          <p:cNvPr id="23" name="s13-23"/>
          <p:cNvSpPr/>
          <p:nvPr/>
        </p:nvSpPr>
        <p:spPr>
          <a:xfrm>
            <a:off x="6337300" y="3175000"/>
            <a:ext cx="5130800" cy="838200"/>
          </a:xfrm>
          <a:prstGeom prst="rect">
            <a:avLst/>
          </a:prstGeom>
          <a:noFill/>
          <a:ln/>
        </p:spPr>
        <p:txBody>
          <a:bodyPr wrap="square" lIns="0" tIns="0" rIns="0" bIns="0" rtlCol="0" anchor="t">
            <a:noAutofit/>
          </a:bodyPr>
          <a:lstStyle/>
          <a:p>
            <a:pPr marL="0" indent="0">
              <a:buNone/>
            </a:pPr>
            <a:r>
              <a:rPr lang="en-US" sz="1600" dirty="0">
                <a:solidFill>
                  <a:srgbClr val="11110F"/>
                </a:solidFill>
                <a:latin typeface="Cormorant Garamond" pitchFamily="34" charset="0"/>
                <a:ea typeface="Cormorant Garamond" pitchFamily="34" charset="-122"/>
                <a:cs typeface="Cormorant Garamond" pitchFamily="34" charset="-120"/>
              </a:rPr>
              <a:t>Can agents purchase multiple Features?</a:t>
            </a:r>
            <a:endParaRPr lang="en-US" sz="1600" dirty="0"/>
          </a:p>
          <a:p>
            <a:pPr marL="0" indent="0">
              <a:lnSpc>
                <a:spcPct val="120000"/>
              </a:lnSpc>
              <a:spcBef>
                <a:spcPts val="500"/>
              </a:spcBef>
              <a:buNone/>
            </a:pPr>
            <a:r>
              <a:rPr lang="en-US" sz="1300" dirty="0">
                <a:solidFill>
                  <a:srgbClr val="3F3D39"/>
                </a:solidFill>
                <a:latin typeface="Jost" pitchFamily="34" charset="0"/>
                <a:ea typeface="Jost" pitchFamily="34" charset="-122"/>
                <a:cs typeface="Jost" pitchFamily="34" charset="-120"/>
              </a:rPr>
              <a:t>Yes. Five Feature credits are available for $1,250.</a:t>
            </a:r>
            <a:endParaRPr lang="en-US" sz="1300" dirty="0"/>
          </a:p>
        </p:txBody>
      </p:sp>
      <p:sp>
        <p:nvSpPr>
          <p:cNvPr id="25" name="s13-25"/>
          <p:cNvSpPr/>
          <p:nvPr/>
        </p:nvSpPr>
        <p:spPr>
          <a:xfrm>
            <a:off x="6337300" y="4038600"/>
            <a:ext cx="5130800" cy="0"/>
          </a:xfrm>
          <a:prstGeom prst="line">
            <a:avLst/>
          </a:prstGeom>
          <a:noFill/>
          <a:ln w="9525">
            <a:solidFill>
              <a:srgbClr val="C9C0B2"/>
            </a:solidFill>
            <a:prstDash val="solid"/>
          </a:ln>
        </p:spPr>
      </p:sp>
      <p:sp>
        <p:nvSpPr>
          <p:cNvPr id="26" name="s13-26"/>
          <p:cNvSpPr/>
          <p:nvPr/>
        </p:nvSpPr>
        <p:spPr>
          <a:xfrm>
            <a:off x="736600" y="4165600"/>
            <a:ext cx="5130800" cy="838200"/>
          </a:xfrm>
          <a:prstGeom prst="rect">
            <a:avLst/>
          </a:prstGeom>
          <a:noFill/>
          <a:ln/>
        </p:spPr>
        <p:txBody>
          <a:bodyPr wrap="square" lIns="0" tIns="0" rIns="0" bIns="0" rtlCol="0" anchor="t">
            <a:noAutofit/>
          </a:bodyPr>
          <a:lstStyle/>
          <a:p>
            <a:pPr marL="0" indent="0">
              <a:buNone/>
            </a:pPr>
            <a:r>
              <a:rPr lang="en-US" sz="1600" dirty="0">
                <a:solidFill>
                  <a:srgbClr val="11110F"/>
                </a:solidFill>
                <a:latin typeface="Cormorant Garamond" pitchFamily="34" charset="0"/>
                <a:ea typeface="Cormorant Garamond" pitchFamily="34" charset="-122"/>
                <a:cs typeface="Cormorant Garamond" pitchFamily="34" charset="-120"/>
              </a:rPr>
              <a:t>Can a property remain discreet?</a:t>
            </a:r>
            <a:endParaRPr lang="en-US" sz="1600" dirty="0"/>
          </a:p>
          <a:p>
            <a:pPr marL="0" indent="0">
              <a:lnSpc>
                <a:spcPct val="120000"/>
              </a:lnSpc>
              <a:spcBef>
                <a:spcPts val="500"/>
              </a:spcBef>
              <a:buNone/>
            </a:pPr>
            <a:r>
              <a:rPr lang="en-US" sz="1300" dirty="0">
                <a:solidFill>
                  <a:srgbClr val="3F3D39"/>
                </a:solidFill>
                <a:latin typeface="Jost" pitchFamily="34" charset="0"/>
                <a:ea typeface="Jost" pitchFamily="34" charset="-122"/>
                <a:cs typeface="Jost" pitchFamily="34" charset="-120"/>
              </a:rPr>
              <a:t>Yes. Sensitive property details can be handled discreetly where appropriate.</a:t>
            </a:r>
            <a:endParaRPr lang="en-US" sz="1300" dirty="0"/>
          </a:p>
        </p:txBody>
      </p:sp>
    </p:spTree>
    <p:extLst>
      <p:ext uri="{BB962C8B-B14F-4D97-AF65-F5344CB8AC3E}">
        <p14:creationId xmlns:p14="http://schemas.microsoft.com/office/powerpoint/2010/main" val="190838811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15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250" decel="100000"/>
                                        <p:tgtEl>
                                          <p:spTgt spid="7"/>
                                        </p:tgtEl>
                                      </p:cBhvr>
                                    </p:animEffect>
                                  </p:childTnLst>
                                </p:cTn>
                              </p:par>
                              <p:par>
                                <p:cTn id="8" presetID="22" presetClass="entr" presetSubtype="8" fill="hold" nodeType="withEffect">
                                  <p:stCondLst>
                                    <p:cond delay="15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1250" decel="100000"/>
                                        <p:tgtEl>
                                          <p:spTgt spid="19"/>
                                        </p:tgtEl>
                                      </p:cBhvr>
                                    </p:animEffect>
                                  </p:childTnLst>
                                </p:cTn>
                              </p:par>
                              <p:par>
                                <p:cTn id="11" presetID="10" presetClass="entr" presetSubtype="0" fill="hold" grpId="0" nodeType="withEffect">
                                  <p:stCondLst>
                                    <p:cond delay="26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950"/>
                                        <p:tgtEl>
                                          <p:spTgt spid="8"/>
                                        </p:tgtEl>
                                      </p:cBhvr>
                                    </p:animEffect>
                                    <p:anim calcmode="lin" valueType="num">
                                      <p:cBhvr>
                                        <p:cTn id="14" dur="950" decel="100000" fill="hold"/>
                                        <p:tgtEl>
                                          <p:spTgt spid="8"/>
                                        </p:tgtEl>
                                        <p:attrNameLst>
                                          <p:attrName>ppt_x</p:attrName>
                                        </p:attrNameLst>
                                      </p:cBhvr>
                                      <p:tavLst>
                                        <p:tav tm="0">
                                          <p:val>
                                            <p:strVal val="#ppt_x"/>
                                          </p:val>
                                        </p:tav>
                                        <p:tav tm="100000">
                                          <p:val>
                                            <p:strVal val="#ppt_x"/>
                                          </p:val>
                                        </p:tav>
                                      </p:tavLst>
                                    </p:anim>
                                    <p:anim calcmode="lin" valueType="num">
                                      <p:cBhvr>
                                        <p:cTn id="15" dur="950" decel="100000" fill="hold"/>
                                        <p:tgtEl>
                                          <p:spTgt spid="8"/>
                                        </p:tgtEl>
                                        <p:attrNameLst>
                                          <p:attrName>ppt_y</p:attrName>
                                        </p:attrNameLst>
                                      </p:cBhvr>
                                      <p:tavLst>
                                        <p:tav tm="0">
                                          <p:val>
                                            <p:strVal val="#ppt_y+0.022"/>
                                          </p:val>
                                        </p:tav>
                                        <p:tav tm="100000">
                                          <p:val>
                                            <p:strVal val="#ppt_y"/>
                                          </p:val>
                                        </p:tav>
                                      </p:tavLst>
                                    </p:anim>
                                  </p:childTnLst>
                                </p:cTn>
                              </p:par>
                              <p:par>
                                <p:cTn id="16" presetID="10" presetClass="entr" presetSubtype="0" fill="hold" grpId="0" nodeType="withEffect">
                                  <p:stCondLst>
                                    <p:cond delay="26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950"/>
                                        <p:tgtEl>
                                          <p:spTgt spid="20"/>
                                        </p:tgtEl>
                                      </p:cBhvr>
                                    </p:animEffect>
                                    <p:anim calcmode="lin" valueType="num">
                                      <p:cBhvr>
                                        <p:cTn id="19" dur="950" decel="100000" fill="hold"/>
                                        <p:tgtEl>
                                          <p:spTgt spid="20"/>
                                        </p:tgtEl>
                                        <p:attrNameLst>
                                          <p:attrName>ppt_x</p:attrName>
                                        </p:attrNameLst>
                                      </p:cBhvr>
                                      <p:tavLst>
                                        <p:tav tm="0">
                                          <p:val>
                                            <p:strVal val="#ppt_x"/>
                                          </p:val>
                                        </p:tav>
                                        <p:tav tm="100000">
                                          <p:val>
                                            <p:strVal val="#ppt_x"/>
                                          </p:val>
                                        </p:tav>
                                      </p:tavLst>
                                    </p:anim>
                                    <p:anim calcmode="lin" valueType="num">
                                      <p:cBhvr>
                                        <p:cTn id="20" dur="950" decel="100000" fill="hold"/>
                                        <p:tgtEl>
                                          <p:spTgt spid="20"/>
                                        </p:tgtEl>
                                        <p:attrNameLst>
                                          <p:attrName>ppt_y</p:attrName>
                                        </p:attrNameLst>
                                      </p:cBhvr>
                                      <p:tavLst>
                                        <p:tav tm="0">
                                          <p:val>
                                            <p:strVal val="#ppt_y+0.022"/>
                                          </p:val>
                                        </p:tav>
                                        <p:tav tm="100000">
                                          <p:val>
                                            <p:strVal val="#ppt_y"/>
                                          </p:val>
                                        </p:tav>
                                      </p:tavLst>
                                    </p:anim>
                                  </p:childTnLst>
                                </p:cTn>
                              </p:par>
                              <p:par>
                                <p:cTn id="21" presetID="22" presetClass="entr" presetSubtype="8" fill="hold" nodeType="withEffect">
                                  <p:stCondLst>
                                    <p:cond delay="37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1250" decel="100000"/>
                                        <p:tgtEl>
                                          <p:spTgt spid="10"/>
                                        </p:tgtEl>
                                      </p:cBhvr>
                                    </p:animEffect>
                                  </p:childTnLst>
                                </p:cTn>
                              </p:par>
                              <p:par>
                                <p:cTn id="24" presetID="22" presetClass="entr" presetSubtype="8" fill="hold" nodeType="withEffect">
                                  <p:stCondLst>
                                    <p:cond delay="370"/>
                                  </p:stCondLst>
                                  <p:childTnLst>
                                    <p:set>
                                      <p:cBhvr>
                                        <p:cTn id="25" dur="1" fill="hold">
                                          <p:stCondLst>
                                            <p:cond delay="0"/>
                                          </p:stCondLst>
                                        </p:cTn>
                                        <p:tgtEl>
                                          <p:spTgt spid="22"/>
                                        </p:tgtEl>
                                        <p:attrNameLst>
                                          <p:attrName>style.visibility</p:attrName>
                                        </p:attrNameLst>
                                      </p:cBhvr>
                                      <p:to>
                                        <p:strVal val="visible"/>
                                      </p:to>
                                    </p:set>
                                    <p:animEffect transition="in" filter="wipe(left)">
                                      <p:cBhvr>
                                        <p:cTn id="26" dur="1250" decel="100000"/>
                                        <p:tgtEl>
                                          <p:spTgt spid="22"/>
                                        </p:tgtEl>
                                      </p:cBhvr>
                                    </p:animEffect>
                                  </p:childTnLst>
                                </p:cTn>
                              </p:par>
                              <p:par>
                                <p:cTn id="27" presetID="10" presetClass="entr" presetSubtype="0" fill="hold" grpId="0" nodeType="withEffect">
                                  <p:stCondLst>
                                    <p:cond delay="48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950"/>
                                        <p:tgtEl>
                                          <p:spTgt spid="11"/>
                                        </p:tgtEl>
                                      </p:cBhvr>
                                    </p:animEffect>
                                    <p:anim calcmode="lin" valueType="num">
                                      <p:cBhvr>
                                        <p:cTn id="30" dur="950" decel="100000" fill="hold"/>
                                        <p:tgtEl>
                                          <p:spTgt spid="11"/>
                                        </p:tgtEl>
                                        <p:attrNameLst>
                                          <p:attrName>ppt_x</p:attrName>
                                        </p:attrNameLst>
                                      </p:cBhvr>
                                      <p:tavLst>
                                        <p:tav tm="0">
                                          <p:val>
                                            <p:strVal val="#ppt_x"/>
                                          </p:val>
                                        </p:tav>
                                        <p:tav tm="100000">
                                          <p:val>
                                            <p:strVal val="#ppt_x"/>
                                          </p:val>
                                        </p:tav>
                                      </p:tavLst>
                                    </p:anim>
                                    <p:anim calcmode="lin" valueType="num">
                                      <p:cBhvr>
                                        <p:cTn id="31" dur="950" decel="100000" fill="hold"/>
                                        <p:tgtEl>
                                          <p:spTgt spid="11"/>
                                        </p:tgtEl>
                                        <p:attrNameLst>
                                          <p:attrName>ppt_y</p:attrName>
                                        </p:attrNameLst>
                                      </p:cBhvr>
                                      <p:tavLst>
                                        <p:tav tm="0">
                                          <p:val>
                                            <p:strVal val="#ppt_y+0.022"/>
                                          </p:val>
                                        </p:tav>
                                        <p:tav tm="100000">
                                          <p:val>
                                            <p:strVal val="#ppt_y"/>
                                          </p:val>
                                        </p:tav>
                                      </p:tavLst>
                                    </p:anim>
                                  </p:childTnLst>
                                </p:cTn>
                              </p:par>
                              <p:par>
                                <p:cTn id="32" presetID="10" presetClass="entr" presetSubtype="0" fill="hold" grpId="0" nodeType="withEffect">
                                  <p:stCondLst>
                                    <p:cond delay="48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950"/>
                                        <p:tgtEl>
                                          <p:spTgt spid="23"/>
                                        </p:tgtEl>
                                      </p:cBhvr>
                                    </p:animEffect>
                                    <p:anim calcmode="lin" valueType="num">
                                      <p:cBhvr>
                                        <p:cTn id="35" dur="950" decel="100000" fill="hold"/>
                                        <p:tgtEl>
                                          <p:spTgt spid="23"/>
                                        </p:tgtEl>
                                        <p:attrNameLst>
                                          <p:attrName>ppt_x</p:attrName>
                                        </p:attrNameLst>
                                      </p:cBhvr>
                                      <p:tavLst>
                                        <p:tav tm="0">
                                          <p:val>
                                            <p:strVal val="#ppt_x"/>
                                          </p:val>
                                        </p:tav>
                                        <p:tav tm="100000">
                                          <p:val>
                                            <p:strVal val="#ppt_x"/>
                                          </p:val>
                                        </p:tav>
                                      </p:tavLst>
                                    </p:anim>
                                    <p:anim calcmode="lin" valueType="num">
                                      <p:cBhvr>
                                        <p:cTn id="36" dur="950" decel="100000" fill="hold"/>
                                        <p:tgtEl>
                                          <p:spTgt spid="23"/>
                                        </p:tgtEl>
                                        <p:attrNameLst>
                                          <p:attrName>ppt_y</p:attrName>
                                        </p:attrNameLst>
                                      </p:cBhvr>
                                      <p:tavLst>
                                        <p:tav tm="0">
                                          <p:val>
                                            <p:strVal val="#ppt_y+0.022"/>
                                          </p:val>
                                        </p:tav>
                                        <p:tav tm="100000">
                                          <p:val>
                                            <p:strVal val="#ppt_y"/>
                                          </p:val>
                                        </p:tav>
                                      </p:tavLst>
                                    </p:anim>
                                  </p:childTnLst>
                                </p:cTn>
                              </p:par>
                              <p:par>
                                <p:cTn id="37" presetID="22" presetClass="entr" presetSubtype="8" fill="hold" nodeType="withEffect">
                                  <p:stCondLst>
                                    <p:cond delay="590"/>
                                  </p:stCondLst>
                                  <p:childTnLst>
                                    <p:set>
                                      <p:cBhvr>
                                        <p:cTn id="38" dur="1" fill="hold">
                                          <p:stCondLst>
                                            <p:cond delay="0"/>
                                          </p:stCondLst>
                                        </p:cTn>
                                        <p:tgtEl>
                                          <p:spTgt spid="13"/>
                                        </p:tgtEl>
                                        <p:attrNameLst>
                                          <p:attrName>style.visibility</p:attrName>
                                        </p:attrNameLst>
                                      </p:cBhvr>
                                      <p:to>
                                        <p:strVal val="visible"/>
                                      </p:to>
                                    </p:set>
                                    <p:animEffect transition="in" filter="wipe(left)">
                                      <p:cBhvr>
                                        <p:cTn id="39" dur="1250" decel="100000"/>
                                        <p:tgtEl>
                                          <p:spTgt spid="13"/>
                                        </p:tgtEl>
                                      </p:cBhvr>
                                    </p:animEffect>
                                  </p:childTnLst>
                                </p:cTn>
                              </p:par>
                              <p:par>
                                <p:cTn id="40" presetID="22" presetClass="entr" presetSubtype="8" fill="hold" nodeType="withEffect">
                                  <p:stCondLst>
                                    <p:cond delay="590"/>
                                  </p:stCondLst>
                                  <p:childTnLst>
                                    <p:set>
                                      <p:cBhvr>
                                        <p:cTn id="41" dur="1" fill="hold">
                                          <p:stCondLst>
                                            <p:cond delay="0"/>
                                          </p:stCondLst>
                                        </p:cTn>
                                        <p:tgtEl>
                                          <p:spTgt spid="25"/>
                                        </p:tgtEl>
                                        <p:attrNameLst>
                                          <p:attrName>style.visibility</p:attrName>
                                        </p:attrNameLst>
                                      </p:cBhvr>
                                      <p:to>
                                        <p:strVal val="visible"/>
                                      </p:to>
                                    </p:set>
                                    <p:animEffect transition="in" filter="wipe(left)">
                                      <p:cBhvr>
                                        <p:cTn id="42" dur="1250" decel="100000"/>
                                        <p:tgtEl>
                                          <p:spTgt spid="25"/>
                                        </p:tgtEl>
                                      </p:cBhvr>
                                    </p:animEffect>
                                  </p:childTnLst>
                                </p:cTn>
                              </p:par>
                              <p:par>
                                <p:cTn id="43" presetID="10" presetClass="entr" presetSubtype="0" fill="hold" grpId="0" nodeType="withEffect">
                                  <p:stCondLst>
                                    <p:cond delay="70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950"/>
                                        <p:tgtEl>
                                          <p:spTgt spid="26"/>
                                        </p:tgtEl>
                                      </p:cBhvr>
                                    </p:animEffect>
                                    <p:anim calcmode="lin" valueType="num">
                                      <p:cBhvr>
                                        <p:cTn id="46" dur="950" decel="100000" fill="hold"/>
                                        <p:tgtEl>
                                          <p:spTgt spid="26"/>
                                        </p:tgtEl>
                                        <p:attrNameLst>
                                          <p:attrName>ppt_x</p:attrName>
                                        </p:attrNameLst>
                                      </p:cBhvr>
                                      <p:tavLst>
                                        <p:tav tm="0">
                                          <p:val>
                                            <p:strVal val="#ppt_x"/>
                                          </p:val>
                                        </p:tav>
                                        <p:tav tm="100000">
                                          <p:val>
                                            <p:strVal val="#ppt_x"/>
                                          </p:val>
                                        </p:tav>
                                      </p:tavLst>
                                    </p:anim>
                                    <p:anim calcmode="lin" valueType="num">
                                      <p:cBhvr>
                                        <p:cTn id="47" dur="950" decel="100000" fill="hold"/>
                                        <p:tgtEl>
                                          <p:spTgt spid="26"/>
                                        </p:tgtEl>
                                        <p:attrNameLst>
                                          <p:attrName>ppt_y</p:attrName>
                                        </p:attrNameLst>
                                      </p:cBhvr>
                                      <p:tavLst>
                                        <p:tav tm="0">
                                          <p:val>
                                            <p:strVal val="#ppt_y+0.022"/>
                                          </p:val>
                                        </p:tav>
                                        <p:tav tm="100000">
                                          <p:val>
                                            <p:strVal val="#ppt_y"/>
                                          </p:val>
                                        </p:tav>
                                      </p:tavLst>
                                    </p:anim>
                                  </p:childTnLst>
                                </p:cTn>
                              </p:par>
                              <p:par>
                                <p:cTn id="48" presetID="10" presetClass="entr" presetSubtype="0" fill="hold" grpId="0" nodeType="withEffect">
                                  <p:stCondLst>
                                    <p:cond delay="7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950"/>
                                        <p:tgtEl>
                                          <p:spTgt spid="14"/>
                                        </p:tgtEl>
                                      </p:cBhvr>
                                    </p:animEffect>
                                    <p:anim calcmode="lin" valueType="num">
                                      <p:cBhvr>
                                        <p:cTn id="51" dur="950" decel="100000" fill="hold"/>
                                        <p:tgtEl>
                                          <p:spTgt spid="14"/>
                                        </p:tgtEl>
                                        <p:attrNameLst>
                                          <p:attrName>ppt_x</p:attrName>
                                        </p:attrNameLst>
                                      </p:cBhvr>
                                      <p:tavLst>
                                        <p:tav tm="0">
                                          <p:val>
                                            <p:strVal val="#ppt_x"/>
                                          </p:val>
                                        </p:tav>
                                        <p:tav tm="100000">
                                          <p:val>
                                            <p:strVal val="#ppt_x"/>
                                          </p:val>
                                        </p:tav>
                                      </p:tavLst>
                                    </p:anim>
                                    <p:anim calcmode="lin" valueType="num">
                                      <p:cBhvr>
                                        <p:cTn id="52" dur="950" decel="100000" fill="hold"/>
                                        <p:tgtEl>
                                          <p:spTgt spid="14"/>
                                        </p:tgtEl>
                                        <p:attrNameLst>
                                          <p:attrName>ppt_y</p:attrName>
                                        </p:attrNameLst>
                                      </p:cBhvr>
                                      <p:tavLst>
                                        <p:tav tm="0">
                                          <p:val>
                                            <p:strVal val="#ppt_y+0.022"/>
                                          </p:val>
                                        </p:tav>
                                        <p:tav tm="100000">
                                          <p:val>
                                            <p:strVal val="#ppt_y"/>
                                          </p:val>
                                        </p:tav>
                                      </p:tavLst>
                                    </p:anim>
                                  </p:childTnLst>
                                </p:cTn>
                              </p:par>
                              <p:par>
                                <p:cTn id="53" presetID="22" presetClass="entr" presetSubtype="8" fill="hold" nodeType="withEffect">
                                  <p:stCondLst>
                                    <p:cond delay="810"/>
                                  </p:stCondLst>
                                  <p:childTnLst>
                                    <p:set>
                                      <p:cBhvr>
                                        <p:cTn id="54" dur="1" fill="hold">
                                          <p:stCondLst>
                                            <p:cond delay="0"/>
                                          </p:stCondLst>
                                        </p:cTn>
                                        <p:tgtEl>
                                          <p:spTgt spid="16"/>
                                        </p:tgtEl>
                                        <p:attrNameLst>
                                          <p:attrName>style.visibility</p:attrName>
                                        </p:attrNameLst>
                                      </p:cBhvr>
                                      <p:to>
                                        <p:strVal val="visible"/>
                                      </p:to>
                                    </p:set>
                                    <p:animEffect transition="in" filter="wipe(left)">
                                      <p:cBhvr>
                                        <p:cTn id="55" dur="1250" decel="100000"/>
                                        <p:tgtEl>
                                          <p:spTgt spid="16"/>
                                        </p:tgtEl>
                                      </p:cBhvr>
                                    </p:animEffect>
                                  </p:childTnLst>
                                </p:cTn>
                              </p:par>
                              <p:par>
                                <p:cTn id="56" presetID="10" presetClass="entr" presetSubtype="0" fill="hold" grpId="0" nodeType="withEffect">
                                  <p:stCondLst>
                                    <p:cond delay="92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950"/>
                                        <p:tgtEl>
                                          <p:spTgt spid="17"/>
                                        </p:tgtEl>
                                      </p:cBhvr>
                                    </p:animEffect>
                                    <p:anim calcmode="lin" valueType="num">
                                      <p:cBhvr>
                                        <p:cTn id="59" dur="950" decel="100000" fill="hold"/>
                                        <p:tgtEl>
                                          <p:spTgt spid="17"/>
                                        </p:tgtEl>
                                        <p:attrNameLst>
                                          <p:attrName>ppt_x</p:attrName>
                                        </p:attrNameLst>
                                      </p:cBhvr>
                                      <p:tavLst>
                                        <p:tav tm="0">
                                          <p:val>
                                            <p:strVal val="#ppt_x"/>
                                          </p:val>
                                        </p:tav>
                                        <p:tav tm="100000">
                                          <p:val>
                                            <p:strVal val="#ppt_x"/>
                                          </p:val>
                                        </p:tav>
                                      </p:tavLst>
                                    </p:anim>
                                    <p:anim calcmode="lin" valueType="num">
                                      <p:cBhvr>
                                        <p:cTn id="60" dur="950" decel="100000" fill="hold"/>
                                        <p:tgtEl>
                                          <p:spTgt spid="17"/>
                                        </p:tgtEl>
                                        <p:attrNameLst>
                                          <p:attrName>ppt_y</p:attrName>
                                        </p:attrNameLst>
                                      </p:cBhvr>
                                      <p:tavLst>
                                        <p:tav tm="0">
                                          <p:val>
                                            <p:strVal val="#ppt_y+0.02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1" grpId="0" animBg="1"/>
      <p:bldP spid="14" grpId="0" animBg="1"/>
      <p:bldP spid="17" grpId="0" animBg="1"/>
      <p:bldP spid="20" grpId="0" animBg="1"/>
      <p:bldP spid="23" grpId="0" animBg="1"/>
      <p:bldP spid="2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1110F"/>
        </a:solidFill>
        <a:effectLst/>
      </p:bgPr>
    </p:bg>
    <p:spTree>
      <p:nvGrpSpPr>
        <p:cNvPr id="1" name=""/>
        <p:cNvGrpSpPr/>
        <p:nvPr/>
      </p:nvGrpSpPr>
      <p:grpSpPr>
        <a:xfrm>
          <a:off x="0" y="0"/>
          <a:ext cx="0" cy="0"/>
          <a:chOff x="0" y="0"/>
          <a:chExt cx="0" cy="0"/>
        </a:xfrm>
      </p:grpSpPr>
      <p:pic>
        <p:nvPicPr>
          <p:cNvPr id="2" name="!!Photo" descr="E:/Matter Of Place/Matter Of Place Codebase/src/assets/mill-valley.jpg"/>
          <p:cNvPicPr>
            <a:picLocks noChangeAspect="1"/>
          </p:cNvPicPr>
          <p:nvPr/>
        </p:nvPicPr>
        <p:blipFill>
          <a:blip r:embed="rId3"/>
          <a:srcRect l="20409" r="20409"/>
          <a:stretch/>
        </p:blipFill>
        <p:spPr>
          <a:xfrm>
            <a:off x="0" y="0"/>
            <a:ext cx="5669280" cy="6858000"/>
          </a:xfrm>
          <a:prstGeom prst="rect">
            <a:avLst/>
          </a:prstGeom>
        </p:spPr>
      </p:pic>
      <p:sp>
        <p:nvSpPr>
          <p:cNvPr id="3" name="!!Agenda">
            <a:hlinkClick r:id="" action="ppaction://noaction"/>
          </p:cNvPr>
          <p:cNvSpPr/>
          <p:nvPr/>
        </p:nvSpPr>
        <p:spPr>
          <a:xfrm>
            <a:off x="10363200" y="381000"/>
            <a:ext cx="1092200" cy="228600"/>
          </a:xfrm>
          <a:prstGeom prst="rect">
            <a:avLst/>
          </a:prstGeom>
          <a:noFill/>
          <a:ln/>
        </p:spPr>
        <p:txBody>
          <a:bodyPr wrap="square" lIns="0" tIns="0" rIns="0" bIns="0" rtlCol="0" anchor="ctr"/>
          <a:lstStyle/>
          <a:p>
            <a:pPr marL="0" indent="0" algn="r">
              <a:buNone/>
            </a:pPr>
            <a:r>
              <a:rPr lang="en-US" sz="1000" u="sng" kern="0" spc="250" dirty="0">
                <a:solidFill>
                  <a:srgbClr val="EEEAE1"/>
                </a:solidFill>
                <a:latin typeface="Jost" pitchFamily="34" charset="0"/>
                <a:ea typeface="Jost" pitchFamily="34" charset="-122"/>
                <a:cs typeface="Jost" pitchFamily="34" charset="-120"/>
                <a:hlinkClick r:id="" action="ppaction://noaction">
                  <a:extLst>
                    <a:ext uri="{A12FA001-AC4F-418D-AE19-62706E023703}">
                      <ahyp:hlinkClr xmlns:ahyp="http://schemas.microsoft.com/office/drawing/2018/hyperlinkcolor" val="tx"/>
                    </a:ext>
                  </a:extLst>
                </a:hlinkClick>
              </a:rPr>
              <a:t>Agenda</a:t>
            </a:r>
            <a:endParaRPr lang="en-US" sz="1000" dirty="0"/>
          </a:p>
        </p:txBody>
      </p:sp>
      <p:sp>
        <p:nvSpPr>
          <p:cNvPr id="4" name="!!Footer"/>
          <p:cNvSpPr/>
          <p:nvPr/>
        </p:nvSpPr>
        <p:spPr>
          <a:xfrm>
            <a:off x="6400800" y="6172200"/>
            <a:ext cx="3810000" cy="228600"/>
          </a:xfrm>
          <a:prstGeom prst="rect">
            <a:avLst/>
          </a:prstGeom>
          <a:noFill/>
          <a:ln/>
        </p:spPr>
        <p:txBody>
          <a:bodyPr wrap="square" lIns="0" tIns="0" rIns="0" bIns="0" rtlCol="0" anchor="ctr"/>
          <a:lstStyle/>
          <a:p>
            <a:pPr marL="0" indent="0">
              <a:buNone/>
            </a:pPr>
            <a:r>
              <a:rPr lang="en-US" sz="900" kern="0" spc="250" dirty="0">
                <a:solidFill>
                  <a:srgbClr val="8B877F"/>
                </a:solidFill>
                <a:latin typeface="Jost" pitchFamily="34" charset="0"/>
                <a:ea typeface="Jost" pitchFamily="34" charset="-122"/>
                <a:cs typeface="Jost" pitchFamily="34" charset="-120"/>
              </a:rPr>
              <a:t>MATTER OF PLACE  ·  FOR PARTNERS</a:t>
            </a:r>
            <a:endParaRPr lang="en-US" sz="900" dirty="0"/>
          </a:p>
        </p:txBody>
      </p:sp>
      <p:sp>
        <p:nvSpPr>
          <p:cNvPr id="5" name="!!Page"/>
          <p:cNvSpPr/>
          <p:nvPr/>
        </p:nvSpPr>
        <p:spPr>
          <a:xfrm>
            <a:off x="10363200" y="6172200"/>
            <a:ext cx="1092200" cy="228600"/>
          </a:xfrm>
          <a:prstGeom prst="rect">
            <a:avLst/>
          </a:prstGeom>
          <a:noFill/>
          <a:ln/>
        </p:spPr>
        <p:txBody>
          <a:bodyPr wrap="square" lIns="0" tIns="0" rIns="0" bIns="0" rtlCol="0" anchor="ctr"/>
          <a:lstStyle/>
          <a:p>
            <a:pPr marL="0" indent="0" algn="r">
              <a:buNone/>
            </a:pPr>
            <a:r>
              <a:rPr lang="en-US" sz="900" kern="0" spc="250" dirty="0">
                <a:solidFill>
                  <a:srgbClr val="8B877F"/>
                </a:solidFill>
                <a:latin typeface="Jost" pitchFamily="34" charset="0"/>
                <a:ea typeface="Jost" pitchFamily="34" charset="-122"/>
                <a:cs typeface="Jost" pitchFamily="34" charset="-120"/>
              </a:rPr>
              <a:t>14 / 14</a:t>
            </a:r>
            <a:endParaRPr lang="en-US" sz="900" dirty="0"/>
          </a:p>
        </p:txBody>
      </p:sp>
      <p:sp>
        <p:nvSpPr>
          <p:cNvPr id="6" name="!!Eyebrow"/>
          <p:cNvSpPr/>
          <p:nvPr/>
        </p:nvSpPr>
        <p:spPr>
          <a:xfrm>
            <a:off x="6400800" y="868680"/>
            <a:ext cx="5059375" cy="274320"/>
          </a:xfrm>
          <a:prstGeom prst="rect">
            <a:avLst/>
          </a:prstGeom>
          <a:noFill/>
          <a:ln/>
        </p:spPr>
        <p:txBody>
          <a:bodyPr wrap="square" lIns="0" tIns="0" rIns="0" bIns="0" rtlCol="0" anchor="ctr"/>
          <a:lstStyle/>
          <a:p>
            <a:pPr marL="0" indent="0">
              <a:buNone/>
            </a:pPr>
            <a:r>
              <a:rPr lang="en-US" sz="1050" kern="0" spc="300" dirty="0">
                <a:solidFill>
                  <a:srgbClr val="C9C0B2"/>
                </a:solidFill>
                <a:latin typeface="Jost" pitchFamily="34" charset="0"/>
                <a:ea typeface="Jost" pitchFamily="34" charset="-122"/>
                <a:cs typeface="Jost" pitchFamily="34" charset="-120"/>
              </a:rPr>
              <a:t>HOW TO SUBMIT</a:t>
            </a:r>
            <a:endParaRPr lang="en-US" sz="1050" dirty="0"/>
          </a:p>
        </p:txBody>
      </p:sp>
      <p:sp>
        <p:nvSpPr>
          <p:cNvPr id="7" name="!!Title"/>
          <p:cNvSpPr/>
          <p:nvPr/>
        </p:nvSpPr>
        <p:spPr>
          <a:xfrm>
            <a:off x="6400800" y="1188720"/>
            <a:ext cx="5059375" cy="1280160"/>
          </a:xfrm>
          <a:prstGeom prst="rect">
            <a:avLst/>
          </a:prstGeom>
          <a:noFill/>
          <a:ln/>
        </p:spPr>
        <p:txBody>
          <a:bodyPr wrap="square" lIns="0" tIns="0" rIns="0" bIns="0" rtlCol="0" anchor="t"/>
          <a:lstStyle/>
          <a:p>
            <a:pPr marL="0" indent="0">
              <a:buNone/>
            </a:pPr>
            <a:r>
              <a:rPr lang="en-US" sz="3400" dirty="0">
                <a:solidFill>
                  <a:srgbClr val="EEEAE1"/>
                </a:solidFill>
                <a:latin typeface="Cormorant Garamond" pitchFamily="34" charset="0"/>
                <a:ea typeface="Cormorant Garamond" pitchFamily="34" charset="-122"/>
                <a:cs typeface="Cormorant Garamond" pitchFamily="34" charset="-120"/>
              </a:rPr>
              <a:t>Send us the property and its story.</a:t>
            </a:r>
            <a:endParaRPr lang="en-US" sz="3400" dirty="0"/>
          </a:p>
        </p:txBody>
      </p:sp>
      <p:sp>
        <p:nvSpPr>
          <p:cNvPr id="8" name="s14-8">
            <a:hlinkClick r:id="rId4" tooltip="Submit a property"/>
          </p:cNvPr>
          <p:cNvSpPr/>
          <p:nvPr/>
        </p:nvSpPr>
        <p:spPr>
          <a:xfrm>
            <a:off x="6400800" y="2743200"/>
            <a:ext cx="5059375" cy="548640"/>
          </a:xfrm>
          <a:prstGeom prst="rect">
            <a:avLst/>
          </a:prstGeom>
          <a:noFill/>
          <a:ln/>
        </p:spPr>
        <p:txBody>
          <a:bodyPr wrap="square" lIns="0" tIns="0" rIns="0" bIns="0" rtlCol="0" anchor="ctr"/>
          <a:lstStyle/>
          <a:p>
            <a:pPr marL="0" indent="0">
              <a:buNone/>
            </a:pPr>
            <a:r>
              <a:rPr lang="en-US" sz="2800" u="sng" dirty="0">
                <a:solidFill>
                  <a:srgbClr val="EEEAE1"/>
                </a:solidFill>
                <a:latin typeface="Cormorant Garamond" pitchFamily="34" charset="0"/>
                <a:ea typeface="Cormorant Garamond" pitchFamily="34" charset="-122"/>
                <a:cs typeface="Cormorant Garamond" pitchFamily="34" charset="-120"/>
                <a:hlinkClick r:id="rId4" tooltip="Submit a property">
                  <a:extLst>
                    <a:ext uri="{A12FA001-AC4F-418D-AE19-62706E023703}">
                      <ahyp:hlinkClr xmlns:ahyp="http://schemas.microsoft.com/office/drawing/2018/hyperlinkcolor" val="tx"/>
                    </a:ext>
                  </a:extLst>
                </a:hlinkClick>
              </a:rPr>
              <a:t>matterofplace.com/submit</a:t>
            </a:r>
            <a:endParaRPr lang="en-US" sz="2800" dirty="0"/>
          </a:p>
        </p:txBody>
      </p:sp>
      <p:sp>
        <p:nvSpPr>
          <p:cNvPr id="9" name="s14-9"/>
          <p:cNvSpPr/>
          <p:nvPr/>
        </p:nvSpPr>
        <p:spPr>
          <a:xfrm>
            <a:off x="6400800" y="3337560"/>
            <a:ext cx="5059375" cy="0"/>
          </a:xfrm>
          <a:prstGeom prst="line">
            <a:avLst/>
          </a:prstGeom>
          <a:noFill/>
          <a:ln w="9525">
            <a:solidFill>
              <a:srgbClr val="C9C0B2"/>
            </a:solidFill>
            <a:prstDash val="solid"/>
          </a:ln>
        </p:spPr>
      </p:sp>
      <p:sp>
        <p:nvSpPr>
          <p:cNvPr id="10" name="s14-10"/>
          <p:cNvSpPr/>
          <p:nvPr/>
        </p:nvSpPr>
        <p:spPr>
          <a:xfrm>
            <a:off x="6400800" y="3530600"/>
            <a:ext cx="5054600" cy="304800"/>
          </a:xfrm>
          <a:prstGeom prst="rect">
            <a:avLst/>
          </a:prstGeom>
          <a:noFill/>
          <a:ln/>
        </p:spPr>
        <p:txBody>
          <a:bodyPr wrap="square" lIns="0" tIns="0" rIns="0" bIns="0" rtlCol="0" anchor="ctr"/>
          <a:lstStyle/>
          <a:p>
            <a:pPr marL="0" indent="0">
              <a:buNone/>
            </a:pPr>
            <a:r>
              <a:rPr lang="en-US" sz="1500" dirty="0">
                <a:solidFill>
                  <a:srgbClr val="CFC9BE"/>
                </a:solidFill>
                <a:latin typeface="Jost" pitchFamily="34" charset="0"/>
                <a:ea typeface="Jost" pitchFamily="34" charset="-122"/>
                <a:cs typeface="Jost" pitchFamily="34" charset="-120"/>
              </a:rPr>
              <a:t>We review every submission and reply.</a:t>
            </a:r>
            <a:endParaRPr lang="en-US" sz="1500" dirty="0"/>
          </a:p>
        </p:txBody>
      </p:sp>
      <p:sp>
        <p:nvSpPr>
          <p:cNvPr id="11" name="s14-11"/>
          <p:cNvSpPr/>
          <p:nvPr/>
        </p:nvSpPr>
        <p:spPr>
          <a:xfrm>
            <a:off x="6400800" y="3886200"/>
            <a:ext cx="5054600" cy="304800"/>
          </a:xfrm>
          <a:prstGeom prst="rect">
            <a:avLst/>
          </a:prstGeom>
          <a:noFill/>
          <a:ln/>
        </p:spPr>
        <p:txBody>
          <a:bodyPr wrap="square" lIns="0" tIns="0" rIns="0" bIns="0" rtlCol="0" anchor="ctr"/>
          <a:lstStyle/>
          <a:p>
            <a:pPr marL="0" indent="0">
              <a:buNone/>
            </a:pPr>
            <a:r>
              <a:rPr lang="en-US" sz="1500" dirty="0">
                <a:solidFill>
                  <a:srgbClr val="CFC9BE"/>
                </a:solidFill>
                <a:latin typeface="Jost" pitchFamily="34" charset="0"/>
                <a:ea typeface="Jost" pitchFamily="34" charset="-122"/>
                <a:cs typeface="Jost" pitchFamily="34" charset="-120"/>
              </a:rPr>
              <a:t>California, New York and Florida. Existing residential property.</a:t>
            </a:r>
            <a:endParaRPr lang="en-US" sz="1500" dirty="0"/>
          </a:p>
        </p:txBody>
      </p:sp>
      <p:sp>
        <p:nvSpPr>
          <p:cNvPr id="12" name="s14-12"/>
          <p:cNvSpPr/>
          <p:nvPr/>
        </p:nvSpPr>
        <p:spPr>
          <a:xfrm>
            <a:off x="6400800" y="5029200"/>
            <a:ext cx="266700" cy="330200"/>
          </a:xfrm>
          <a:custGeom>
            <a:avLst/>
            <a:gdLst/>
            <a:ahLst/>
            <a:cxnLst/>
            <a:rect l="l" t="t" r="r" b="b"/>
            <a:pathLst>
              <a:path w="262770" h="328462">
                <a:moveTo>
                  <a:pt x="0" y="0"/>
                </a:moveTo>
                <a:lnTo>
                  <a:pt x="131385" y="55586"/>
                </a:lnTo>
                <a:lnTo>
                  <a:pt x="60639" y="80852"/>
                </a:lnTo>
                <a:lnTo>
                  <a:pt x="60639" y="298143"/>
                </a:lnTo>
                <a:lnTo>
                  <a:pt x="0" y="328462"/>
                </a:lnTo>
                <a:close/>
              </a:path>
            </a:pathLst>
          </a:custGeom>
          <a:solidFill>
            <a:srgbClr val="EEEAE1">
              <a:alpha val="90000"/>
            </a:srgbClr>
          </a:solidFill>
          <a:ln/>
        </p:spPr>
      </p:sp>
      <p:sp>
        <p:nvSpPr>
          <p:cNvPr id="13" name="s14-13"/>
          <p:cNvSpPr/>
          <p:nvPr/>
        </p:nvSpPr>
        <p:spPr>
          <a:xfrm>
            <a:off x="6400800" y="5029200"/>
            <a:ext cx="266700" cy="330200"/>
          </a:xfrm>
          <a:custGeom>
            <a:avLst/>
            <a:gdLst/>
            <a:ahLst/>
            <a:cxnLst/>
            <a:rect l="l" t="t" r="r" b="b"/>
            <a:pathLst>
              <a:path w="262770" h="328462">
                <a:moveTo>
                  <a:pt x="0" y="0"/>
                </a:moveTo>
                <a:lnTo>
                  <a:pt x="262770" y="0"/>
                </a:lnTo>
                <a:lnTo>
                  <a:pt x="262770" y="328462"/>
                </a:lnTo>
                <a:lnTo>
                  <a:pt x="202131" y="298143"/>
                </a:lnTo>
                <a:lnTo>
                  <a:pt x="202131" y="80852"/>
                </a:lnTo>
                <a:close/>
              </a:path>
            </a:pathLst>
          </a:custGeom>
          <a:solidFill>
            <a:srgbClr val="EEEAE1">
              <a:alpha val="40000"/>
            </a:srgbClr>
          </a:solidFill>
          <a:ln/>
        </p:spPr>
      </p:sp>
      <p:sp>
        <p:nvSpPr>
          <p:cNvPr id="14" name="s14-14"/>
          <p:cNvSpPr/>
          <p:nvPr/>
        </p:nvSpPr>
        <p:spPr>
          <a:xfrm>
            <a:off x="6858000" y="5029200"/>
            <a:ext cx="3810000" cy="254000"/>
          </a:xfrm>
          <a:prstGeom prst="rect">
            <a:avLst/>
          </a:prstGeom>
          <a:noFill/>
          <a:ln/>
        </p:spPr>
        <p:txBody>
          <a:bodyPr wrap="square" lIns="0" tIns="0" rIns="0" bIns="0" rtlCol="0" anchor="ctr"/>
          <a:lstStyle/>
          <a:p>
            <a:pPr marL="0" indent="0" algn="l">
              <a:buNone/>
            </a:pPr>
            <a:r>
              <a:rPr lang="en-US" sz="1100" kern="0" spc="264" dirty="0">
                <a:solidFill>
                  <a:srgbClr val="EEEAE1"/>
                </a:solidFill>
                <a:latin typeface="Jost" pitchFamily="34" charset="0"/>
                <a:ea typeface="Jost" pitchFamily="34" charset="-122"/>
                <a:cs typeface="Jost" pitchFamily="34" charset="-120"/>
              </a:rPr>
              <a:t>MΛTTER </a:t>
            </a:r>
            <a:r>
              <a:rPr lang="en-US" sz="600" kern="0" spc="264" dirty="0">
                <a:solidFill>
                  <a:srgbClr val="EEEAE1"/>
                </a:solidFill>
                <a:latin typeface="Jost" pitchFamily="34" charset="0"/>
                <a:ea typeface="Jost" pitchFamily="34" charset="-122"/>
                <a:cs typeface="Jost" pitchFamily="34" charset="-120"/>
              </a:rPr>
              <a:t>OF</a:t>
            </a:r>
            <a:r>
              <a:rPr lang="en-US" sz="1100" kern="0" spc="264" dirty="0">
                <a:solidFill>
                  <a:srgbClr val="EEEAE1"/>
                </a:solidFill>
                <a:latin typeface="Jost" pitchFamily="34" charset="0"/>
                <a:ea typeface="Jost" pitchFamily="34" charset="-122"/>
                <a:cs typeface="Jost" pitchFamily="34" charset="-120"/>
              </a:rPr>
              <a:t> PLΛCE</a:t>
            </a:r>
            <a:endParaRPr lang="en-US" sz="1100" dirty="0"/>
          </a:p>
        </p:txBody>
      </p:sp>
      <p:sp>
        <p:nvSpPr>
          <p:cNvPr id="15" name="s14-15"/>
          <p:cNvSpPr/>
          <p:nvPr/>
        </p:nvSpPr>
        <p:spPr>
          <a:xfrm>
            <a:off x="6858000" y="5334000"/>
            <a:ext cx="3810000" cy="228600"/>
          </a:xfrm>
          <a:prstGeom prst="rect">
            <a:avLst/>
          </a:prstGeom>
          <a:noFill/>
          <a:ln/>
        </p:spPr>
        <p:txBody>
          <a:bodyPr wrap="square" lIns="0" tIns="0" rIns="0" bIns="0" rtlCol="0" anchor="ctr"/>
          <a:lstStyle/>
          <a:p>
            <a:pPr marL="0" indent="0">
              <a:buNone/>
            </a:pPr>
            <a:r>
              <a:rPr lang="en-US" sz="900" kern="0" spc="250" dirty="0">
                <a:solidFill>
                  <a:srgbClr val="A8A296"/>
                </a:solidFill>
                <a:latin typeface="Jost" pitchFamily="34" charset="0"/>
                <a:ea typeface="Jost" pitchFamily="34" charset="-122"/>
                <a:cs typeface="Jost" pitchFamily="34" charset="-120"/>
              </a:rPr>
              <a:t>A PRODUCT OF OMNIKOM</a:t>
            </a:r>
            <a:endParaRPr lang="en-US" sz="900" dirty="0"/>
          </a:p>
        </p:txBody>
      </p:sp>
    </p:spTree>
    <p:extLst>
      <p:ext uri="{BB962C8B-B14F-4D97-AF65-F5344CB8AC3E}">
        <p14:creationId xmlns:p14="http://schemas.microsoft.com/office/powerpoint/2010/main" val="186789438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950"/>
                                        <p:tgtEl>
                                          <p:spTgt spid="8"/>
                                        </p:tgtEl>
                                      </p:cBhvr>
                                    </p:animEffect>
                                    <p:anim calcmode="lin" valueType="num">
                                      <p:cBhvr>
                                        <p:cTn id="8" dur="950" decel="100000" fill="hold"/>
                                        <p:tgtEl>
                                          <p:spTgt spid="8"/>
                                        </p:tgtEl>
                                        <p:attrNameLst>
                                          <p:attrName>ppt_x</p:attrName>
                                        </p:attrNameLst>
                                      </p:cBhvr>
                                      <p:tavLst>
                                        <p:tav tm="0">
                                          <p:val>
                                            <p:strVal val="#ppt_x"/>
                                          </p:val>
                                        </p:tav>
                                        <p:tav tm="100000">
                                          <p:val>
                                            <p:strVal val="#ppt_x"/>
                                          </p:val>
                                        </p:tav>
                                      </p:tavLst>
                                    </p:anim>
                                    <p:anim calcmode="lin" valueType="num">
                                      <p:cBhvr>
                                        <p:cTn id="9" dur="950" decel="100000" fill="hold"/>
                                        <p:tgtEl>
                                          <p:spTgt spid="8"/>
                                        </p:tgtEl>
                                        <p:attrNameLst>
                                          <p:attrName>ppt_y</p:attrName>
                                        </p:attrNameLst>
                                      </p:cBhvr>
                                      <p:tavLst>
                                        <p:tav tm="0">
                                          <p:val>
                                            <p:strVal val="#ppt_y+0.022"/>
                                          </p:val>
                                        </p:tav>
                                        <p:tav tm="100000">
                                          <p:val>
                                            <p:strVal val="#ppt_y"/>
                                          </p:val>
                                        </p:tav>
                                      </p:tavLst>
                                    </p:anim>
                                  </p:childTnLst>
                                </p:cTn>
                              </p:par>
                              <p:par>
                                <p:cTn id="10" presetID="22" presetClass="entr" presetSubtype="8" fill="hold" nodeType="withEffect">
                                  <p:stCondLst>
                                    <p:cond delay="26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250" decel="100000"/>
                                        <p:tgtEl>
                                          <p:spTgt spid="9"/>
                                        </p:tgtEl>
                                      </p:cBhvr>
                                    </p:animEffect>
                                  </p:childTnLst>
                                </p:cTn>
                              </p:par>
                              <p:par>
                                <p:cTn id="13" presetID="10" presetClass="entr" presetSubtype="0" fill="hold" grpId="0" nodeType="withEffect">
                                  <p:stCondLst>
                                    <p:cond delay="37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950"/>
                                        <p:tgtEl>
                                          <p:spTgt spid="10"/>
                                        </p:tgtEl>
                                      </p:cBhvr>
                                    </p:animEffect>
                                    <p:anim calcmode="lin" valueType="num">
                                      <p:cBhvr>
                                        <p:cTn id="16" dur="950" decel="100000" fill="hold"/>
                                        <p:tgtEl>
                                          <p:spTgt spid="10"/>
                                        </p:tgtEl>
                                        <p:attrNameLst>
                                          <p:attrName>ppt_x</p:attrName>
                                        </p:attrNameLst>
                                      </p:cBhvr>
                                      <p:tavLst>
                                        <p:tav tm="0">
                                          <p:val>
                                            <p:strVal val="#ppt_x"/>
                                          </p:val>
                                        </p:tav>
                                        <p:tav tm="100000">
                                          <p:val>
                                            <p:strVal val="#ppt_x"/>
                                          </p:val>
                                        </p:tav>
                                      </p:tavLst>
                                    </p:anim>
                                    <p:anim calcmode="lin" valueType="num">
                                      <p:cBhvr>
                                        <p:cTn id="17" dur="950" decel="100000" fill="hold"/>
                                        <p:tgtEl>
                                          <p:spTgt spid="10"/>
                                        </p:tgtEl>
                                        <p:attrNameLst>
                                          <p:attrName>ppt_y</p:attrName>
                                        </p:attrNameLst>
                                      </p:cBhvr>
                                      <p:tavLst>
                                        <p:tav tm="0">
                                          <p:val>
                                            <p:strVal val="#ppt_y+0.022"/>
                                          </p:val>
                                        </p:tav>
                                        <p:tav tm="100000">
                                          <p:val>
                                            <p:strVal val="#ppt_y"/>
                                          </p:val>
                                        </p:tav>
                                      </p:tavLst>
                                    </p:anim>
                                  </p:childTnLst>
                                </p:cTn>
                              </p:par>
                              <p:par>
                                <p:cTn id="18" presetID="10" presetClass="entr" presetSubtype="0" fill="hold" grpId="0" nodeType="withEffect">
                                  <p:stCondLst>
                                    <p:cond delay="48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950"/>
                                        <p:tgtEl>
                                          <p:spTgt spid="11"/>
                                        </p:tgtEl>
                                      </p:cBhvr>
                                    </p:animEffect>
                                    <p:anim calcmode="lin" valueType="num">
                                      <p:cBhvr>
                                        <p:cTn id="21" dur="950" decel="100000" fill="hold"/>
                                        <p:tgtEl>
                                          <p:spTgt spid="11"/>
                                        </p:tgtEl>
                                        <p:attrNameLst>
                                          <p:attrName>ppt_x</p:attrName>
                                        </p:attrNameLst>
                                      </p:cBhvr>
                                      <p:tavLst>
                                        <p:tav tm="0">
                                          <p:val>
                                            <p:strVal val="#ppt_x"/>
                                          </p:val>
                                        </p:tav>
                                        <p:tav tm="100000">
                                          <p:val>
                                            <p:strVal val="#ppt_x"/>
                                          </p:val>
                                        </p:tav>
                                      </p:tavLst>
                                    </p:anim>
                                    <p:anim calcmode="lin" valueType="num">
                                      <p:cBhvr>
                                        <p:cTn id="22" dur="950" decel="100000" fill="hold"/>
                                        <p:tgtEl>
                                          <p:spTgt spid="11"/>
                                        </p:tgtEl>
                                        <p:attrNameLst>
                                          <p:attrName>ppt_y</p:attrName>
                                        </p:attrNameLst>
                                      </p:cBhvr>
                                      <p:tavLst>
                                        <p:tav tm="0">
                                          <p:val>
                                            <p:strVal val="#ppt_y+0.022"/>
                                          </p:val>
                                        </p:tav>
                                        <p:tav tm="100000">
                                          <p:val>
                                            <p:strVal val="#ppt_y"/>
                                          </p:val>
                                        </p:tav>
                                      </p:tavLst>
                                    </p:anim>
                                  </p:childTnLst>
                                </p:cTn>
                              </p:par>
                              <p:par>
                                <p:cTn id="23" presetID="10" presetClass="entr" presetSubtype="0" fill="hold" nodeType="withEffect">
                                  <p:stCondLst>
                                    <p:cond delay="5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950"/>
                                        <p:tgtEl>
                                          <p:spTgt spid="12"/>
                                        </p:tgtEl>
                                      </p:cBhvr>
                                    </p:animEffect>
                                    <p:anim calcmode="lin" valueType="num">
                                      <p:cBhvr>
                                        <p:cTn id="26" dur="950" decel="100000" fill="hold"/>
                                        <p:tgtEl>
                                          <p:spTgt spid="12"/>
                                        </p:tgtEl>
                                        <p:attrNameLst>
                                          <p:attrName>ppt_x</p:attrName>
                                        </p:attrNameLst>
                                      </p:cBhvr>
                                      <p:tavLst>
                                        <p:tav tm="0">
                                          <p:val>
                                            <p:strVal val="#ppt_x"/>
                                          </p:val>
                                        </p:tav>
                                        <p:tav tm="100000">
                                          <p:val>
                                            <p:strVal val="#ppt_x"/>
                                          </p:val>
                                        </p:tav>
                                      </p:tavLst>
                                    </p:anim>
                                    <p:anim calcmode="lin" valueType="num">
                                      <p:cBhvr>
                                        <p:cTn id="27" dur="950" decel="100000" fill="hold"/>
                                        <p:tgtEl>
                                          <p:spTgt spid="12"/>
                                        </p:tgtEl>
                                        <p:attrNameLst>
                                          <p:attrName>ppt_y</p:attrName>
                                        </p:attrNameLst>
                                      </p:cBhvr>
                                      <p:tavLst>
                                        <p:tav tm="0">
                                          <p:val>
                                            <p:strVal val="#ppt_y+0.022"/>
                                          </p:val>
                                        </p:tav>
                                        <p:tav tm="100000">
                                          <p:val>
                                            <p:strVal val="#ppt_y"/>
                                          </p:val>
                                        </p:tav>
                                      </p:tavLst>
                                    </p:anim>
                                  </p:childTnLst>
                                </p:cTn>
                              </p:par>
                              <p:par>
                                <p:cTn id="28" presetID="10" presetClass="entr" presetSubtype="0" fill="hold" nodeType="withEffect">
                                  <p:stCondLst>
                                    <p:cond delay="59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950"/>
                                        <p:tgtEl>
                                          <p:spTgt spid="13"/>
                                        </p:tgtEl>
                                      </p:cBhvr>
                                    </p:animEffect>
                                    <p:anim calcmode="lin" valueType="num">
                                      <p:cBhvr>
                                        <p:cTn id="31" dur="950" decel="100000" fill="hold"/>
                                        <p:tgtEl>
                                          <p:spTgt spid="13"/>
                                        </p:tgtEl>
                                        <p:attrNameLst>
                                          <p:attrName>ppt_x</p:attrName>
                                        </p:attrNameLst>
                                      </p:cBhvr>
                                      <p:tavLst>
                                        <p:tav tm="0">
                                          <p:val>
                                            <p:strVal val="#ppt_x"/>
                                          </p:val>
                                        </p:tav>
                                        <p:tav tm="100000">
                                          <p:val>
                                            <p:strVal val="#ppt_x"/>
                                          </p:val>
                                        </p:tav>
                                      </p:tavLst>
                                    </p:anim>
                                    <p:anim calcmode="lin" valueType="num">
                                      <p:cBhvr>
                                        <p:cTn id="32" dur="950" decel="100000" fill="hold"/>
                                        <p:tgtEl>
                                          <p:spTgt spid="13"/>
                                        </p:tgtEl>
                                        <p:attrNameLst>
                                          <p:attrName>ppt_y</p:attrName>
                                        </p:attrNameLst>
                                      </p:cBhvr>
                                      <p:tavLst>
                                        <p:tav tm="0">
                                          <p:val>
                                            <p:strVal val="#ppt_y+0.022"/>
                                          </p:val>
                                        </p:tav>
                                        <p:tav tm="100000">
                                          <p:val>
                                            <p:strVal val="#ppt_y"/>
                                          </p:val>
                                        </p:tav>
                                      </p:tavLst>
                                    </p:anim>
                                  </p:childTnLst>
                                </p:cTn>
                              </p:par>
                              <p:par>
                                <p:cTn id="33" presetID="10" presetClass="entr" presetSubtype="0" fill="hold" grpId="0" nodeType="withEffect">
                                  <p:stCondLst>
                                    <p:cond delay="59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950"/>
                                        <p:tgtEl>
                                          <p:spTgt spid="14"/>
                                        </p:tgtEl>
                                      </p:cBhvr>
                                    </p:animEffect>
                                    <p:anim calcmode="lin" valueType="num">
                                      <p:cBhvr>
                                        <p:cTn id="36" dur="950" decel="100000" fill="hold"/>
                                        <p:tgtEl>
                                          <p:spTgt spid="14"/>
                                        </p:tgtEl>
                                        <p:attrNameLst>
                                          <p:attrName>ppt_x</p:attrName>
                                        </p:attrNameLst>
                                      </p:cBhvr>
                                      <p:tavLst>
                                        <p:tav tm="0">
                                          <p:val>
                                            <p:strVal val="#ppt_x"/>
                                          </p:val>
                                        </p:tav>
                                        <p:tav tm="100000">
                                          <p:val>
                                            <p:strVal val="#ppt_x"/>
                                          </p:val>
                                        </p:tav>
                                      </p:tavLst>
                                    </p:anim>
                                    <p:anim calcmode="lin" valueType="num">
                                      <p:cBhvr>
                                        <p:cTn id="37" dur="950" decel="100000" fill="hold"/>
                                        <p:tgtEl>
                                          <p:spTgt spid="14"/>
                                        </p:tgtEl>
                                        <p:attrNameLst>
                                          <p:attrName>ppt_y</p:attrName>
                                        </p:attrNameLst>
                                      </p:cBhvr>
                                      <p:tavLst>
                                        <p:tav tm="0">
                                          <p:val>
                                            <p:strVal val="#ppt_y+0.022"/>
                                          </p:val>
                                        </p:tav>
                                        <p:tav tm="100000">
                                          <p:val>
                                            <p:strVal val="#ppt_y"/>
                                          </p:val>
                                        </p:tav>
                                      </p:tavLst>
                                    </p:anim>
                                  </p:childTnLst>
                                </p:cTn>
                              </p:par>
                              <p:par>
                                <p:cTn id="38" presetID="10" presetClass="entr" presetSubtype="0" fill="hold" grpId="0" nodeType="withEffect">
                                  <p:stCondLst>
                                    <p:cond delay="70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950"/>
                                        <p:tgtEl>
                                          <p:spTgt spid="15"/>
                                        </p:tgtEl>
                                      </p:cBhvr>
                                    </p:animEffect>
                                    <p:anim calcmode="lin" valueType="num">
                                      <p:cBhvr>
                                        <p:cTn id="41" dur="950" decel="100000" fill="hold"/>
                                        <p:tgtEl>
                                          <p:spTgt spid="15"/>
                                        </p:tgtEl>
                                        <p:attrNameLst>
                                          <p:attrName>ppt_x</p:attrName>
                                        </p:attrNameLst>
                                      </p:cBhvr>
                                      <p:tavLst>
                                        <p:tav tm="0">
                                          <p:val>
                                            <p:strVal val="#ppt_x"/>
                                          </p:val>
                                        </p:tav>
                                        <p:tav tm="100000">
                                          <p:val>
                                            <p:strVal val="#ppt_x"/>
                                          </p:val>
                                        </p:tav>
                                      </p:tavLst>
                                    </p:anim>
                                    <p:anim calcmode="lin" valueType="num">
                                      <p:cBhvr>
                                        <p:cTn id="42" dur="950" decel="100000" fill="hold"/>
                                        <p:tgtEl>
                                          <p:spTgt spid="15"/>
                                        </p:tgtEl>
                                        <p:attrNameLst>
                                          <p:attrName>ppt_y</p:attrName>
                                        </p:attrNameLst>
                                      </p:cBhvr>
                                      <p:tavLst>
                                        <p:tav tm="0">
                                          <p:val>
                                            <p:strVal val="#ppt_y+0.02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4" grpId="0" animBg="1"/>
      <p:bldP spid="15"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6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5A2ED39C-C7DB-4C0B-80FA-89F60BB37352}">
  <we:reference id="wa200010001" version="1.0.0.1" store="en-US" storeType="OMEX"/>
  <we:alternateReferences>
    <we:reference id="wa200010001" version="1.0.0.1" store="" storeType="OMEX"/>
  </we:alternateReferences>
  <we:properties>
    <we:property name="claude.fileId" value="&quot;6b720714-0d47-48c3-b3a1-6244cd3d20db&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176</TotalTime>
  <Words>1838</Words>
  <Application>Microsoft Office PowerPoint</Application>
  <PresentationFormat>Widescreen</PresentationFormat>
  <Paragraphs>277</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Cormorant Garamond</vt:lpstr>
      <vt:lpstr>Jost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Omnikom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Matter of Place for partners</dc:title>
  <dc:subject>PptxGenJS Presentation</dc:subject>
  <dc:creator>Matter of Place</dc:creator>
  <cp:lastModifiedBy>Abdo Amer</cp:lastModifiedBy>
  <cp:revision>3</cp:revision>
  <dcterms:created xsi:type="dcterms:W3CDTF">2026-09-30T06:15:08Z</dcterms:created>
  <dcterms:modified xsi:type="dcterms:W3CDTF">2026-09-30T09:17:14Z</dcterms:modified>
</cp:coreProperties>
</file>