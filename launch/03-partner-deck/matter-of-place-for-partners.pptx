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introduces Matter of Place to the first agents and brokerages we are inviting in. Matter of Place is a selective real-estate media platform for existing residential property in California, New York and Florida. Use the Agenda link on any slide to move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a link to its section. Every slide carries a small Agenda link in the top right corner that returns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Matter of Place is editorial first. We decide what deserves attention, present it properly, and then distribute it through owned media, social, email and precision programmatic media. We work in three markets only: California, New York and Florida, and only with existing residential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qualities: Architecture, Design, Originality, Materiality, Setting, History, Craft, Sense of place. A property's price does not decide whether it belongs in Matter of Place. A thoughtful, architecturally significant residence can deserve more attention than a larger, generic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property is reviewed against the editorial standard before any product is chosen or paid for. Payment never overrides editorial review, and a declined property is not charged. Five Features credits are not used by declined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$295. The Feature is editorial presence: a permanent, search-indexable Matter of Place page with an edited narrative, curated images, a social carousel, attribution and direct inquiry routing. Call to action on the site: Submit a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Reach, $695. The Reach is our recommended product. It adds Stories, newsletter inclusion, priority scheduling, homepage or market-page rotation and programmatic campaign planning. Programmatic media spend is not included in the $695; it is billed separately. Call to action on the site: Expand the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Campaign, $1,495 (Recommended media investment: $500 to $2,500+). The Campaign is a deeper, multi-channel treatment over a 10 to 14 day window, including a short-form video from supplied assets and a standalone email. We suggest a media investment of $500 to $2,500 or more, billed separately. Media spend is never required. Call to action on the site: Build a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$1,250 ($250 per property). Five Features is a package of five Feature credits for agents, teams and brokerages with several qualifying properties: $250 per property. It is not a subscription or membership. Every property is still reviewed, and a declined property does not use a credit. Call to action on the site: Secure Five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begins with editorial review. The Reach is recommended for most properties. Programmatic media is always separate from product fees and is never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campaign uses every channel. Distribution is chosen by property, location, audience, campaign objective, budget and available creative. Programmatic media begins from $250, with a management fee of 15% of media spend and a $100 minimum management fee. We never promise views, leads or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this with every partner. Matter of Place is not a brokerage, does not sell leads and does not guarantee a transaction. It covers existing residential property in three states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paying guarantee acceptance? No. Every property is subject to the Matter of Place editorial standard. Do you guarantee buyers or leads? No. Matter of Place provides editorial exposure and media distribution, not transaction guarantees. Can I submit properties outside California, New York or Florida? Not currently. Do you work with new developments? Not currently. Matter of Place is focused on existing residential property. Is paid media included? No. Programmatic media budgets are separate from editorial product fees. Can agents purchase multiple Features? Yes. Five Feature credits are available for $1,250. Can a property remain discreet? Yes. Sensitive property details can be handled discreetly where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partners to matterofplace.com/submit. We review every submission and reply. Matter of Place is a product of Omnikom.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1.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 Type="http://schemas.openxmlformats.org/officeDocument/2006/relationships/image" Target="../media/image-2-1.jpg"/><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3-1.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4-1.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5-1.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hyperlink" Target="https://matterofplace.com/submit" TargetMode="External"/><Relationship Id="rId1" Type="http://schemas.openxmlformats.org/officeDocument/2006/relationships/image" Target="../media/image-6-1.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hyperlink" Target="https://matterofplace.com/submit" TargetMode="External"/><Relationship Id="rId1" Type="http://schemas.openxmlformats.org/officeDocument/2006/relationships/image" Target="../media/image-7-1.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hyperlink" Target="https://matterofplace.com/submit" TargetMode="External"/><Relationship Id="rId1" Type="http://schemas.openxmlformats.org/officeDocument/2006/relationships/image" Target="../media/image-8-1.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hyperlink" Target="https://matterofplace.com/submit" TargetMode="External"/><Relationship Id="rId1" Type="http://schemas.openxmlformats.org/officeDocument/2006/relationships/image" Target="../media/image-9-1.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1.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hyperlink" Target="https://matterofplace.com/submit" TargetMode="External"/><Relationship Id="rId1" Type="http://schemas.openxmlformats.org/officeDocument/2006/relationships/image" Target="../media/image-14-1.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0F"/>
        </a:solidFill>
      </p:bgPr>
    </p:bg>
    <p:spTree>
      <p:nvGrpSpPr>
        <p:cNvPr id="1" name=""/>
        <p:cNvGrpSpPr/>
        <p:nvPr/>
      </p:nvGrpSpPr>
      <p:grpSpPr>
        <a:xfrm>
          <a:off x="0" y="0"/>
          <a:ext cx="0" cy="0"/>
          <a:chOff x="0" y="0"/>
          <a:chExt cx="0" cy="0"/>
        </a:xfrm>
      </p:grpSpPr>
      <p:pic>
        <p:nvPicPr>
          <p:cNvPr id="2" name="Image 0" descr="E:/Matter Of Place/Matter Of Place Codebase/src/assets/tiburon.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7071055" y="502920"/>
            <a:ext cx="4617720" cy="5852160"/>
          </a:xfrm>
          <a:prstGeom prst="rect">
            <a:avLst/>
          </a:prstGeom>
          <a:solidFill>
            <a:srgbClr val="EEEAE1"/>
          </a:solidFill>
          <a:ln/>
        </p:spPr>
      </p:sp>
      <p:sp>
        <p:nvSpPr>
          <p:cNvPr id="4" name="Shape 1"/>
          <p:cNvSpPr/>
          <p:nvPr/>
        </p:nvSpPr>
        <p:spPr>
          <a:xfrm>
            <a:off x="7679372" y="1134578"/>
            <a:ext cx="387898" cy="484873"/>
          </a:xfrm>
          <a:custGeom>
            <a:avLst/>
            <a:gdLst/>
            <a:ahLst/>
            <a:cxnLst/>
            <a:rect l="l" t="t" r="r" b="b"/>
            <a:pathLst>
              <a:path w="387898" h="484873">
                <a:moveTo>
                  <a:pt x="0" y="0"/>
                </a:moveTo>
                <a:lnTo>
                  <a:pt x="193949" y="82055"/>
                </a:lnTo>
                <a:lnTo>
                  <a:pt x="89515" y="119353"/>
                </a:lnTo>
                <a:lnTo>
                  <a:pt x="89515" y="440115"/>
                </a:lnTo>
                <a:lnTo>
                  <a:pt x="0" y="484873"/>
                </a:lnTo>
                <a:close/>
              </a:path>
            </a:pathLst>
          </a:custGeom>
          <a:solidFill>
            <a:srgbClr val="11110F">
              <a:alpha val="90000"/>
            </a:srgbClr>
          </a:solidFill>
          <a:ln/>
        </p:spPr>
      </p:sp>
      <p:sp>
        <p:nvSpPr>
          <p:cNvPr id="5" name="Shape 2"/>
          <p:cNvSpPr/>
          <p:nvPr/>
        </p:nvSpPr>
        <p:spPr>
          <a:xfrm>
            <a:off x="7679372" y="1134578"/>
            <a:ext cx="387898" cy="484873"/>
          </a:xfrm>
          <a:custGeom>
            <a:avLst/>
            <a:gdLst/>
            <a:ahLst/>
            <a:cxnLst/>
            <a:rect l="l" t="t" r="r" b="b"/>
            <a:pathLst>
              <a:path w="387898" h="484873">
                <a:moveTo>
                  <a:pt x="0" y="0"/>
                </a:moveTo>
                <a:lnTo>
                  <a:pt x="387898" y="0"/>
                </a:lnTo>
                <a:lnTo>
                  <a:pt x="387898" y="484873"/>
                </a:lnTo>
                <a:lnTo>
                  <a:pt x="298383" y="440115"/>
                </a:lnTo>
                <a:lnTo>
                  <a:pt x="298383" y="119353"/>
                </a:lnTo>
                <a:close/>
              </a:path>
            </a:pathLst>
          </a:custGeom>
          <a:solidFill>
            <a:srgbClr val="11110F">
              <a:alpha val="40000"/>
            </a:srgbClr>
          </a:solidFill>
          <a:ln/>
        </p:spPr>
      </p:sp>
      <p:sp>
        <p:nvSpPr>
          <p:cNvPr id="6" name="Text 3"/>
          <p:cNvSpPr/>
          <p:nvPr/>
        </p:nvSpPr>
        <p:spPr>
          <a:xfrm>
            <a:off x="7619695" y="1828800"/>
            <a:ext cx="3840480" cy="342900"/>
          </a:xfrm>
          <a:prstGeom prst="rect">
            <a:avLst/>
          </a:prstGeom>
          <a:noFill/>
          <a:ln/>
        </p:spPr>
        <p:txBody>
          <a:bodyPr wrap="square" lIns="0" tIns="0" rIns="0" bIns="0" rtlCol="0" anchor="ctr"/>
          <a:lstStyle/>
          <a:p>
            <a:pPr algn="l" indent="0" marL="0">
              <a:buNone/>
            </a:pPr>
            <a:r>
              <a:rPr lang="en-US" sz="1500" spc="360" kern="0" dirty="0">
                <a:solidFill>
                  <a:srgbClr val="11110F"/>
                </a:solidFill>
                <a:latin typeface="Jost" pitchFamily="34" charset="0"/>
                <a:ea typeface="Jost" pitchFamily="34" charset="-122"/>
                <a:cs typeface="Jost" pitchFamily="34" charset="-120"/>
              </a:rPr>
              <a:t>MΛTTER </a:t>
            </a:r>
            <a:pPr algn="l" indent="0" marL="0">
              <a:buNone/>
            </a:pPr>
            <a:r>
              <a:rPr lang="en-US" sz="900" spc="360" kern="0" dirty="0">
                <a:solidFill>
                  <a:srgbClr val="11110F"/>
                </a:solidFill>
                <a:latin typeface="Jost" pitchFamily="34" charset="0"/>
                <a:ea typeface="Jost" pitchFamily="34" charset="-122"/>
                <a:cs typeface="Jost" pitchFamily="34" charset="-120"/>
              </a:rPr>
              <a:t>OF</a:t>
            </a:r>
            <a:pPr algn="l" indent="0" marL="0">
              <a:buNone/>
            </a:pPr>
            <a:r>
              <a:rPr lang="en-US" sz="1500" spc="360" kern="0" dirty="0">
                <a:solidFill>
                  <a:srgbClr val="11110F"/>
                </a:solidFill>
                <a:latin typeface="Jost" pitchFamily="34" charset="0"/>
                <a:ea typeface="Jost" pitchFamily="34" charset="-122"/>
                <a:cs typeface="Jost" pitchFamily="34" charset="-120"/>
              </a:rPr>
              <a:t> PLΛCE</a:t>
            </a:r>
            <a:endParaRPr lang="en-US" sz="1500" dirty="0"/>
          </a:p>
        </p:txBody>
      </p:sp>
      <p:sp>
        <p:nvSpPr>
          <p:cNvPr id="7" name="Text 4"/>
          <p:cNvSpPr/>
          <p:nvPr/>
        </p:nvSpPr>
        <p:spPr>
          <a:xfrm>
            <a:off x="7619695" y="29260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FOR PARTNERS</a:t>
            </a:r>
            <a:endParaRPr lang="en-US" sz="900" dirty="0"/>
          </a:p>
        </p:txBody>
      </p:sp>
      <p:sp>
        <p:nvSpPr>
          <p:cNvPr id="8" name="Text 5"/>
          <p:cNvSpPr/>
          <p:nvPr/>
        </p:nvSpPr>
        <p:spPr>
          <a:xfrm>
            <a:off x="7619695" y="3246120"/>
            <a:ext cx="3749040" cy="914400"/>
          </a:xfrm>
          <a:prstGeom prst="rect">
            <a:avLst/>
          </a:prstGeom>
          <a:noFill/>
          <a:ln/>
        </p:spPr>
        <p:txBody>
          <a:bodyPr wrap="square" lIns="0" tIns="0" rIns="0" bIns="0" rtlCol="0" anchor="t"/>
          <a:lstStyle/>
          <a:p>
            <a:pPr indent="0" marL="0">
              <a:buNone/>
            </a:pPr>
            <a:r>
              <a:rPr lang="en-US" sz="2600" dirty="0">
                <a:solidFill>
                  <a:srgbClr val="11110F"/>
                </a:solidFill>
                <a:latin typeface="Cormorant Garamond" pitchFamily="34" charset="0"/>
                <a:ea typeface="Cormorant Garamond" pitchFamily="34" charset="-122"/>
                <a:cs typeface="Cormorant Garamond" pitchFamily="34" charset="-120"/>
              </a:rPr>
              <a:t>An introduction for the first agents and brokerages invited into Matter of Place.</a:t>
            </a:r>
            <a:endParaRPr lang="en-US" sz="2600" dirty="0"/>
          </a:p>
        </p:txBody>
      </p:sp>
      <p:sp>
        <p:nvSpPr>
          <p:cNvPr id="9" name="Text 6">
            <a:hlinkClick r:id="rId2" tooltip="Agenda" action="ppaction://hlinksldjump"/>
          </p:cNvPr>
          <p:cNvSpPr/>
          <p:nvPr/>
        </p:nvSpPr>
        <p:spPr>
          <a:xfrm>
            <a:off x="7619695" y="5715000"/>
            <a:ext cx="1371600" cy="274320"/>
          </a:xfrm>
          <a:prstGeom prst="rect">
            <a:avLst/>
          </a:prstGeom>
          <a:noFill/>
          <a:ln/>
        </p:spPr>
        <p:txBody>
          <a:bodyPr wrap="square" lIns="0" tIns="0" rIns="0" bIns="0" rtlCol="0" anchor="ctr"/>
          <a:lstStyle/>
          <a:p>
            <a:pP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Agenda">
                  <a:extLst>
                    <a:ext uri="{A12FA001-AC4F-418D-AE19-62706E023703}">
                      <ahyp:hlinkClr xmlns:ahyp="http://schemas.microsoft.com/office/drawing/2018/hyperlinkcolor" val="tx"/>
                    </a:ext>
                  </a:extLst>
                </a:hlinkClick>
              </a:rPr>
              <a:t>Agenda</a:t>
            </a:r>
            <a:endParaRPr lang="en-US" sz="900" dirty="0"/>
          </a:p>
        </p:txBody>
      </p:sp>
      <p:sp>
        <p:nvSpPr>
          <p:cNvPr id="10" name="Text 7"/>
          <p:cNvSpPr/>
          <p:nvPr/>
        </p:nvSpPr>
        <p:spPr>
          <a:xfrm>
            <a:off x="10088575" y="5715000"/>
            <a:ext cx="1097280" cy="27432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01 / 14</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p:bgPr>
    </p:bg>
    <p:spTree>
      <p:nvGrpSpPr>
        <p:cNvPr id="1" name=""/>
        <p:cNvGrpSpPr/>
        <p:nvPr/>
      </p:nvGrpSpPr>
      <p:grpSpPr>
        <a:xfrm>
          <a:off x="0" y="0"/>
          <a:ext cx="0" cy="0"/>
          <a:chOff x="0" y="0"/>
          <a:chExt cx="0" cy="0"/>
        </a:xfrm>
      </p:grpSpPr>
      <p:pic>
        <p:nvPicPr>
          <p:cNvPr id="2" name="Image 0" descr="E:/Matter Of Place/Matter Of Place Codebase/src/assets/gallery/ca-stair.jpg">    </p:cNvPr>
          <p:cNvPicPr>
            <a:picLocks noChangeAspect="1"/>
          </p:cNvPicPr>
          <p:nvPr/>
        </p:nvPicPr>
        <p:blipFill>
          <a:blip r:embed="rId1"/>
          <a:srcRect l="0" r="0" t="0" b="0"/>
          <a:stretch/>
        </p:blipFill>
        <p:spPr>
          <a:xfrm>
            <a:off x="0" y="0"/>
            <a:ext cx="4023360" cy="6858000"/>
          </a:xfrm>
          <a:prstGeom prst="rect">
            <a:avLst/>
          </a:prstGeom>
        </p:spPr>
      </p:pic>
      <p:sp>
        <p:nvSpPr>
          <p:cNvPr id="3" name="Text 0">
            <a:hlinkClick r:id="rId2" tooltip="Back to the agenda" action="ppaction://hlinksldjump"/>
          </p:cNvPr>
          <p:cNvSpPr/>
          <p:nvPr/>
        </p:nvSpPr>
        <p:spPr>
          <a:xfrm>
            <a:off x="105914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475488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5914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02 / 14</a:t>
            </a:r>
            <a:endParaRPr lang="en-US" sz="750" dirty="0"/>
          </a:p>
        </p:txBody>
      </p:sp>
      <p:sp>
        <p:nvSpPr>
          <p:cNvPr id="6" name="Text 3"/>
          <p:cNvSpPr/>
          <p:nvPr/>
        </p:nvSpPr>
        <p:spPr>
          <a:xfrm>
            <a:off x="475488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AGENDA</a:t>
            </a:r>
            <a:endParaRPr lang="en-US" sz="900" dirty="0"/>
          </a:p>
        </p:txBody>
      </p:sp>
      <p:sp>
        <p:nvSpPr>
          <p:cNvPr id="7" name="Text 4"/>
          <p:cNvSpPr/>
          <p:nvPr/>
        </p:nvSpPr>
        <p:spPr>
          <a:xfrm>
            <a:off x="4754880" y="1188720"/>
            <a:ext cx="6400800"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In this deck.</a:t>
            </a:r>
            <a:endParaRPr lang="en-US" sz="3800" dirty="0"/>
          </a:p>
        </p:txBody>
      </p:sp>
      <p:sp>
        <p:nvSpPr>
          <p:cNvPr id="8" name="Shape 5"/>
          <p:cNvSpPr/>
          <p:nvPr/>
        </p:nvSpPr>
        <p:spPr>
          <a:xfrm>
            <a:off x="4754880" y="2331720"/>
            <a:ext cx="3200400" cy="0"/>
          </a:xfrm>
          <a:prstGeom prst="line">
            <a:avLst/>
          </a:prstGeom>
          <a:noFill/>
          <a:ln w="9525">
            <a:solidFill>
              <a:srgbClr val="C9C0B2"/>
            </a:solidFill>
            <a:prstDash val="solid"/>
          </a:ln>
        </p:spPr>
      </p:sp>
      <p:sp>
        <p:nvSpPr>
          <p:cNvPr id="9" name="Text 6"/>
          <p:cNvSpPr/>
          <p:nvPr/>
        </p:nvSpPr>
        <p:spPr>
          <a:xfrm>
            <a:off x="4754880" y="2331720"/>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01</a:t>
            </a:r>
            <a:endParaRPr lang="en-US" sz="850" dirty="0"/>
          </a:p>
        </p:txBody>
      </p:sp>
      <p:sp>
        <p:nvSpPr>
          <p:cNvPr id="10" name="Text 7">
            <a:hlinkClick r:id="rId3" tooltip="Who we are" action="ppaction://hlinksldjump"/>
          </p:cNvPr>
          <p:cNvSpPr/>
          <p:nvPr/>
        </p:nvSpPr>
        <p:spPr>
          <a:xfrm>
            <a:off x="5212080" y="2331720"/>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3" action="ppaction://hlinksldjump" tooltip="Who we are">
                  <a:extLst>
                    <a:ext uri="{A12FA001-AC4F-418D-AE19-62706E023703}">
                      <ahyp:hlinkClr xmlns:ahyp="http://schemas.microsoft.com/office/drawing/2018/hyperlinkcolor" val="tx"/>
                    </a:ext>
                  </a:extLst>
                </a:hlinkClick>
              </a:rPr>
              <a:t>Who we are</a:t>
            </a:r>
            <a:endParaRPr lang="en-US" sz="1700" dirty="0"/>
          </a:p>
        </p:txBody>
      </p:sp>
      <p:sp>
        <p:nvSpPr>
          <p:cNvPr id="11" name="Shape 8"/>
          <p:cNvSpPr/>
          <p:nvPr/>
        </p:nvSpPr>
        <p:spPr>
          <a:xfrm>
            <a:off x="4754880" y="2807208"/>
            <a:ext cx="3200400" cy="0"/>
          </a:xfrm>
          <a:prstGeom prst="line">
            <a:avLst/>
          </a:prstGeom>
          <a:noFill/>
          <a:ln w="9525">
            <a:solidFill>
              <a:srgbClr val="C9C0B2"/>
            </a:solidFill>
            <a:prstDash val="solid"/>
          </a:ln>
        </p:spPr>
      </p:sp>
      <p:sp>
        <p:nvSpPr>
          <p:cNvPr id="12" name="Text 9"/>
          <p:cNvSpPr/>
          <p:nvPr/>
        </p:nvSpPr>
        <p:spPr>
          <a:xfrm>
            <a:off x="4754880" y="2807208"/>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02</a:t>
            </a:r>
            <a:endParaRPr lang="en-US" sz="850" dirty="0"/>
          </a:p>
        </p:txBody>
      </p:sp>
      <p:sp>
        <p:nvSpPr>
          <p:cNvPr id="13" name="Text 10">
            <a:hlinkClick r:id="rId4" tooltip="The editorial standard" action="ppaction://hlinksldjump"/>
          </p:cNvPr>
          <p:cNvSpPr/>
          <p:nvPr/>
        </p:nvSpPr>
        <p:spPr>
          <a:xfrm>
            <a:off x="5212080" y="2807208"/>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4" action="ppaction://hlinksldjump" tooltip="The editorial standard">
                  <a:extLst>
                    <a:ext uri="{A12FA001-AC4F-418D-AE19-62706E023703}">
                      <ahyp:hlinkClr xmlns:ahyp="http://schemas.microsoft.com/office/drawing/2018/hyperlinkcolor" val="tx"/>
                    </a:ext>
                  </a:extLst>
                </a:hlinkClick>
              </a:rPr>
              <a:t>The editorial standard</a:t>
            </a:r>
            <a:endParaRPr lang="en-US" sz="1700" dirty="0"/>
          </a:p>
        </p:txBody>
      </p:sp>
      <p:sp>
        <p:nvSpPr>
          <p:cNvPr id="14" name="Shape 11"/>
          <p:cNvSpPr/>
          <p:nvPr/>
        </p:nvSpPr>
        <p:spPr>
          <a:xfrm>
            <a:off x="4754880" y="3282696"/>
            <a:ext cx="3200400" cy="0"/>
          </a:xfrm>
          <a:prstGeom prst="line">
            <a:avLst/>
          </a:prstGeom>
          <a:noFill/>
          <a:ln w="9525">
            <a:solidFill>
              <a:srgbClr val="C9C0B2"/>
            </a:solidFill>
            <a:prstDash val="solid"/>
          </a:ln>
        </p:spPr>
      </p:sp>
      <p:sp>
        <p:nvSpPr>
          <p:cNvPr id="15" name="Text 12"/>
          <p:cNvSpPr/>
          <p:nvPr/>
        </p:nvSpPr>
        <p:spPr>
          <a:xfrm>
            <a:off x="4754880" y="3282696"/>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03</a:t>
            </a:r>
            <a:endParaRPr lang="en-US" sz="850" dirty="0"/>
          </a:p>
        </p:txBody>
      </p:sp>
      <p:sp>
        <p:nvSpPr>
          <p:cNvPr id="16" name="Text 13">
            <a:hlinkClick r:id="rId5" tooltip="How selection works" action="ppaction://hlinksldjump"/>
          </p:cNvPr>
          <p:cNvSpPr/>
          <p:nvPr/>
        </p:nvSpPr>
        <p:spPr>
          <a:xfrm>
            <a:off x="5212080" y="3282696"/>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5" action="ppaction://hlinksldjump" tooltip="How selection works">
                  <a:extLst>
                    <a:ext uri="{A12FA001-AC4F-418D-AE19-62706E023703}">
                      <ahyp:hlinkClr xmlns:ahyp="http://schemas.microsoft.com/office/drawing/2018/hyperlinkcolor" val="tx"/>
                    </a:ext>
                  </a:extLst>
                </a:hlinkClick>
              </a:rPr>
              <a:t>How selection works</a:t>
            </a:r>
            <a:endParaRPr lang="en-US" sz="1700" dirty="0"/>
          </a:p>
        </p:txBody>
      </p:sp>
      <p:sp>
        <p:nvSpPr>
          <p:cNvPr id="17" name="Shape 14"/>
          <p:cNvSpPr/>
          <p:nvPr/>
        </p:nvSpPr>
        <p:spPr>
          <a:xfrm>
            <a:off x="4754880" y="3758184"/>
            <a:ext cx="3200400" cy="0"/>
          </a:xfrm>
          <a:prstGeom prst="line">
            <a:avLst/>
          </a:prstGeom>
          <a:noFill/>
          <a:ln w="9525">
            <a:solidFill>
              <a:srgbClr val="C9C0B2"/>
            </a:solidFill>
            <a:prstDash val="solid"/>
          </a:ln>
        </p:spPr>
      </p:sp>
      <p:sp>
        <p:nvSpPr>
          <p:cNvPr id="18" name="Text 15"/>
          <p:cNvSpPr/>
          <p:nvPr/>
        </p:nvSpPr>
        <p:spPr>
          <a:xfrm>
            <a:off x="4754880" y="3758184"/>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04</a:t>
            </a:r>
            <a:endParaRPr lang="en-US" sz="850" dirty="0"/>
          </a:p>
        </p:txBody>
      </p:sp>
      <p:sp>
        <p:nvSpPr>
          <p:cNvPr id="19" name="Text 16">
            <a:hlinkClick r:id="rId6" tooltip="The Feature" action="ppaction://hlinksldjump"/>
          </p:cNvPr>
          <p:cNvSpPr/>
          <p:nvPr/>
        </p:nvSpPr>
        <p:spPr>
          <a:xfrm>
            <a:off x="5212080" y="3758184"/>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6" action="ppaction://hlinksldjump" tooltip="The Feature">
                  <a:extLst>
                    <a:ext uri="{A12FA001-AC4F-418D-AE19-62706E023703}">
                      <ahyp:hlinkClr xmlns:ahyp="http://schemas.microsoft.com/office/drawing/2018/hyperlinkcolor" val="tx"/>
                    </a:ext>
                  </a:extLst>
                </a:hlinkClick>
              </a:rPr>
              <a:t>The Feature</a:t>
            </a:r>
            <a:endParaRPr lang="en-US" sz="1700" dirty="0"/>
          </a:p>
        </p:txBody>
      </p:sp>
      <p:sp>
        <p:nvSpPr>
          <p:cNvPr id="20" name="Shape 17"/>
          <p:cNvSpPr/>
          <p:nvPr/>
        </p:nvSpPr>
        <p:spPr>
          <a:xfrm>
            <a:off x="4754880" y="4233672"/>
            <a:ext cx="3200400" cy="0"/>
          </a:xfrm>
          <a:prstGeom prst="line">
            <a:avLst/>
          </a:prstGeom>
          <a:noFill/>
          <a:ln w="9525">
            <a:solidFill>
              <a:srgbClr val="C9C0B2"/>
            </a:solidFill>
            <a:prstDash val="solid"/>
          </a:ln>
        </p:spPr>
      </p:sp>
      <p:sp>
        <p:nvSpPr>
          <p:cNvPr id="21" name="Text 18"/>
          <p:cNvSpPr/>
          <p:nvPr/>
        </p:nvSpPr>
        <p:spPr>
          <a:xfrm>
            <a:off x="4754880" y="4233672"/>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05</a:t>
            </a:r>
            <a:endParaRPr lang="en-US" sz="850" dirty="0"/>
          </a:p>
        </p:txBody>
      </p:sp>
      <p:sp>
        <p:nvSpPr>
          <p:cNvPr id="22" name="Text 19">
            <a:hlinkClick r:id="rId7" tooltip="The Reach" action="ppaction://hlinksldjump"/>
          </p:cNvPr>
          <p:cNvSpPr/>
          <p:nvPr/>
        </p:nvSpPr>
        <p:spPr>
          <a:xfrm>
            <a:off x="5212080" y="4233672"/>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7" action="ppaction://hlinksldjump" tooltip="The Reach">
                  <a:extLst>
                    <a:ext uri="{A12FA001-AC4F-418D-AE19-62706E023703}">
                      <ahyp:hlinkClr xmlns:ahyp="http://schemas.microsoft.com/office/drawing/2018/hyperlinkcolor" val="tx"/>
                    </a:ext>
                  </a:extLst>
                </a:hlinkClick>
              </a:rPr>
              <a:t>The Reach</a:t>
            </a:r>
            <a:endParaRPr lang="en-US" sz="1700" dirty="0"/>
          </a:p>
        </p:txBody>
      </p:sp>
      <p:sp>
        <p:nvSpPr>
          <p:cNvPr id="23" name="Shape 20"/>
          <p:cNvSpPr/>
          <p:nvPr/>
        </p:nvSpPr>
        <p:spPr>
          <a:xfrm>
            <a:off x="4754880" y="4709160"/>
            <a:ext cx="3200400" cy="0"/>
          </a:xfrm>
          <a:prstGeom prst="line">
            <a:avLst/>
          </a:prstGeom>
          <a:noFill/>
          <a:ln w="9525">
            <a:solidFill>
              <a:srgbClr val="C9C0B2"/>
            </a:solidFill>
            <a:prstDash val="solid"/>
          </a:ln>
        </p:spPr>
      </p:sp>
      <p:sp>
        <p:nvSpPr>
          <p:cNvPr id="24" name="Text 21"/>
          <p:cNvSpPr/>
          <p:nvPr/>
        </p:nvSpPr>
        <p:spPr>
          <a:xfrm>
            <a:off x="4754880" y="4709160"/>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06</a:t>
            </a:r>
            <a:endParaRPr lang="en-US" sz="850" dirty="0"/>
          </a:p>
        </p:txBody>
      </p:sp>
      <p:sp>
        <p:nvSpPr>
          <p:cNvPr id="25" name="Text 22">
            <a:hlinkClick r:id="rId8" tooltip="The Campaign" action="ppaction://hlinksldjump"/>
          </p:cNvPr>
          <p:cNvSpPr/>
          <p:nvPr/>
        </p:nvSpPr>
        <p:spPr>
          <a:xfrm>
            <a:off x="5212080" y="4709160"/>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8" action="ppaction://hlinksldjump" tooltip="The Campaign">
                  <a:extLst>
                    <a:ext uri="{A12FA001-AC4F-418D-AE19-62706E023703}">
                      <ahyp:hlinkClr xmlns:ahyp="http://schemas.microsoft.com/office/drawing/2018/hyperlinkcolor" val="tx"/>
                    </a:ext>
                  </a:extLst>
                </a:hlinkClick>
              </a:rPr>
              <a:t>The Campaign</a:t>
            </a:r>
            <a:endParaRPr lang="en-US" sz="1700" dirty="0"/>
          </a:p>
        </p:txBody>
      </p:sp>
      <p:sp>
        <p:nvSpPr>
          <p:cNvPr id="26" name="Shape 23"/>
          <p:cNvSpPr/>
          <p:nvPr/>
        </p:nvSpPr>
        <p:spPr>
          <a:xfrm>
            <a:off x="8321040" y="2331720"/>
            <a:ext cx="3200400" cy="0"/>
          </a:xfrm>
          <a:prstGeom prst="line">
            <a:avLst/>
          </a:prstGeom>
          <a:noFill/>
          <a:ln w="9525">
            <a:solidFill>
              <a:srgbClr val="C9C0B2"/>
            </a:solidFill>
            <a:prstDash val="solid"/>
          </a:ln>
        </p:spPr>
      </p:sp>
      <p:sp>
        <p:nvSpPr>
          <p:cNvPr id="27" name="Text 24"/>
          <p:cNvSpPr/>
          <p:nvPr/>
        </p:nvSpPr>
        <p:spPr>
          <a:xfrm>
            <a:off x="8321040" y="2331720"/>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07</a:t>
            </a:r>
            <a:endParaRPr lang="en-US" sz="850" dirty="0"/>
          </a:p>
        </p:txBody>
      </p:sp>
      <p:sp>
        <p:nvSpPr>
          <p:cNvPr id="28" name="Text 25">
            <a:hlinkClick r:id="rId9" tooltip="Five Features" action="ppaction://hlinksldjump"/>
          </p:cNvPr>
          <p:cNvSpPr/>
          <p:nvPr/>
        </p:nvSpPr>
        <p:spPr>
          <a:xfrm>
            <a:off x="8778240" y="2331720"/>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9" action="ppaction://hlinksldjump" tooltip="Five Features">
                  <a:extLst>
                    <a:ext uri="{A12FA001-AC4F-418D-AE19-62706E023703}">
                      <ahyp:hlinkClr xmlns:ahyp="http://schemas.microsoft.com/office/drawing/2018/hyperlinkcolor" val="tx"/>
                    </a:ext>
                  </a:extLst>
                </a:hlinkClick>
              </a:rPr>
              <a:t>Five Features</a:t>
            </a:r>
            <a:endParaRPr lang="en-US" sz="1700" dirty="0"/>
          </a:p>
        </p:txBody>
      </p:sp>
      <p:sp>
        <p:nvSpPr>
          <p:cNvPr id="29" name="Shape 26"/>
          <p:cNvSpPr/>
          <p:nvPr/>
        </p:nvSpPr>
        <p:spPr>
          <a:xfrm>
            <a:off x="8321040" y="2807208"/>
            <a:ext cx="3200400" cy="0"/>
          </a:xfrm>
          <a:prstGeom prst="line">
            <a:avLst/>
          </a:prstGeom>
          <a:noFill/>
          <a:ln w="9525">
            <a:solidFill>
              <a:srgbClr val="C9C0B2"/>
            </a:solidFill>
            <a:prstDash val="solid"/>
          </a:ln>
        </p:spPr>
      </p:sp>
      <p:sp>
        <p:nvSpPr>
          <p:cNvPr id="30" name="Text 27"/>
          <p:cNvSpPr/>
          <p:nvPr/>
        </p:nvSpPr>
        <p:spPr>
          <a:xfrm>
            <a:off x="8321040" y="2807208"/>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08</a:t>
            </a:r>
            <a:endParaRPr lang="en-US" sz="850" dirty="0"/>
          </a:p>
        </p:txBody>
      </p:sp>
      <p:sp>
        <p:nvSpPr>
          <p:cNvPr id="31" name="Text 28">
            <a:hlinkClick r:id="rId10" tooltip="The four products compared" action="ppaction://hlinksldjump"/>
          </p:cNvPr>
          <p:cNvSpPr/>
          <p:nvPr/>
        </p:nvSpPr>
        <p:spPr>
          <a:xfrm>
            <a:off x="8778240" y="2807208"/>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10" action="ppaction://hlinksldjump" tooltip="The four products compared">
                  <a:extLst>
                    <a:ext uri="{A12FA001-AC4F-418D-AE19-62706E023703}">
                      <ahyp:hlinkClr xmlns:ahyp="http://schemas.microsoft.com/office/drawing/2018/hyperlinkcolor" val="tx"/>
                    </a:ext>
                  </a:extLst>
                </a:hlinkClick>
              </a:rPr>
              <a:t>The four products compared</a:t>
            </a:r>
            <a:endParaRPr lang="en-US" sz="1700" dirty="0"/>
          </a:p>
        </p:txBody>
      </p:sp>
      <p:sp>
        <p:nvSpPr>
          <p:cNvPr id="32" name="Shape 29"/>
          <p:cNvSpPr/>
          <p:nvPr/>
        </p:nvSpPr>
        <p:spPr>
          <a:xfrm>
            <a:off x="8321040" y="3282696"/>
            <a:ext cx="3200400" cy="0"/>
          </a:xfrm>
          <a:prstGeom prst="line">
            <a:avLst/>
          </a:prstGeom>
          <a:noFill/>
          <a:ln w="9525">
            <a:solidFill>
              <a:srgbClr val="C9C0B2"/>
            </a:solidFill>
            <a:prstDash val="solid"/>
          </a:ln>
        </p:spPr>
      </p:sp>
      <p:sp>
        <p:nvSpPr>
          <p:cNvPr id="33" name="Text 30"/>
          <p:cNvSpPr/>
          <p:nvPr/>
        </p:nvSpPr>
        <p:spPr>
          <a:xfrm>
            <a:off x="8321040" y="3282696"/>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09</a:t>
            </a:r>
            <a:endParaRPr lang="en-US" sz="850" dirty="0"/>
          </a:p>
        </p:txBody>
      </p:sp>
      <p:sp>
        <p:nvSpPr>
          <p:cNvPr id="34" name="Text 31">
            <a:hlinkClick r:id="rId11" tooltip="Precision distribution" action="ppaction://hlinksldjump"/>
          </p:cNvPr>
          <p:cNvSpPr/>
          <p:nvPr/>
        </p:nvSpPr>
        <p:spPr>
          <a:xfrm>
            <a:off x="8778240" y="3282696"/>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11" action="ppaction://hlinksldjump" tooltip="Precision distribution">
                  <a:extLst>
                    <a:ext uri="{A12FA001-AC4F-418D-AE19-62706E023703}">
                      <ahyp:hlinkClr xmlns:ahyp="http://schemas.microsoft.com/office/drawing/2018/hyperlinkcolor" val="tx"/>
                    </a:ext>
                  </a:extLst>
                </a:hlinkClick>
              </a:rPr>
              <a:t>Precision distribution</a:t>
            </a:r>
            <a:endParaRPr lang="en-US" sz="1700" dirty="0"/>
          </a:p>
        </p:txBody>
      </p:sp>
      <p:sp>
        <p:nvSpPr>
          <p:cNvPr id="35" name="Shape 32"/>
          <p:cNvSpPr/>
          <p:nvPr/>
        </p:nvSpPr>
        <p:spPr>
          <a:xfrm>
            <a:off x="8321040" y="3758184"/>
            <a:ext cx="3200400" cy="0"/>
          </a:xfrm>
          <a:prstGeom prst="line">
            <a:avLst/>
          </a:prstGeom>
          <a:noFill/>
          <a:ln w="9525">
            <a:solidFill>
              <a:srgbClr val="C9C0B2"/>
            </a:solidFill>
            <a:prstDash val="solid"/>
          </a:ln>
        </p:spPr>
      </p:sp>
      <p:sp>
        <p:nvSpPr>
          <p:cNvPr id="36" name="Text 33"/>
          <p:cNvSpPr/>
          <p:nvPr/>
        </p:nvSpPr>
        <p:spPr>
          <a:xfrm>
            <a:off x="8321040" y="3758184"/>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10</a:t>
            </a:r>
            <a:endParaRPr lang="en-US" sz="850" dirty="0"/>
          </a:p>
        </p:txBody>
      </p:sp>
      <p:sp>
        <p:nvSpPr>
          <p:cNvPr id="37" name="Text 34">
            <a:hlinkClick r:id="rId12" tooltip="What we do not do" action="ppaction://hlinksldjump"/>
          </p:cNvPr>
          <p:cNvSpPr/>
          <p:nvPr/>
        </p:nvSpPr>
        <p:spPr>
          <a:xfrm>
            <a:off x="8778240" y="3758184"/>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12" action="ppaction://hlinksldjump" tooltip="What we do not do">
                  <a:extLst>
                    <a:ext uri="{A12FA001-AC4F-418D-AE19-62706E023703}">
                      <ahyp:hlinkClr xmlns:ahyp="http://schemas.microsoft.com/office/drawing/2018/hyperlinkcolor" val="tx"/>
                    </a:ext>
                  </a:extLst>
                </a:hlinkClick>
              </a:rPr>
              <a:t>What we do not do</a:t>
            </a:r>
            <a:endParaRPr lang="en-US" sz="1700" dirty="0"/>
          </a:p>
        </p:txBody>
      </p:sp>
      <p:sp>
        <p:nvSpPr>
          <p:cNvPr id="38" name="Shape 35"/>
          <p:cNvSpPr/>
          <p:nvPr/>
        </p:nvSpPr>
        <p:spPr>
          <a:xfrm>
            <a:off x="8321040" y="4233672"/>
            <a:ext cx="3200400" cy="0"/>
          </a:xfrm>
          <a:prstGeom prst="line">
            <a:avLst/>
          </a:prstGeom>
          <a:noFill/>
          <a:ln w="9525">
            <a:solidFill>
              <a:srgbClr val="C9C0B2"/>
            </a:solidFill>
            <a:prstDash val="solid"/>
          </a:ln>
        </p:spPr>
      </p:sp>
      <p:sp>
        <p:nvSpPr>
          <p:cNvPr id="39" name="Text 36"/>
          <p:cNvSpPr/>
          <p:nvPr/>
        </p:nvSpPr>
        <p:spPr>
          <a:xfrm>
            <a:off x="8321040" y="4233672"/>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11</a:t>
            </a:r>
            <a:endParaRPr lang="en-US" sz="850" dirty="0"/>
          </a:p>
        </p:txBody>
      </p:sp>
      <p:sp>
        <p:nvSpPr>
          <p:cNvPr id="40" name="Text 37">
            <a:hlinkClick r:id="rId13" tooltip="Questions" action="ppaction://hlinksldjump"/>
          </p:cNvPr>
          <p:cNvSpPr/>
          <p:nvPr/>
        </p:nvSpPr>
        <p:spPr>
          <a:xfrm>
            <a:off x="8778240" y="4233672"/>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13" action="ppaction://hlinksldjump" tooltip="Questions">
                  <a:extLst>
                    <a:ext uri="{A12FA001-AC4F-418D-AE19-62706E023703}">
                      <ahyp:hlinkClr xmlns:ahyp="http://schemas.microsoft.com/office/drawing/2018/hyperlinkcolor" val="tx"/>
                    </a:ext>
                  </a:extLst>
                </a:hlinkClick>
              </a:rPr>
              <a:t>Questions</a:t>
            </a:r>
            <a:endParaRPr lang="en-US" sz="1700" dirty="0"/>
          </a:p>
        </p:txBody>
      </p:sp>
      <p:sp>
        <p:nvSpPr>
          <p:cNvPr id="41" name="Shape 38"/>
          <p:cNvSpPr/>
          <p:nvPr/>
        </p:nvSpPr>
        <p:spPr>
          <a:xfrm>
            <a:off x="8321040" y="4709160"/>
            <a:ext cx="3200400" cy="0"/>
          </a:xfrm>
          <a:prstGeom prst="line">
            <a:avLst/>
          </a:prstGeom>
          <a:noFill/>
          <a:ln w="9525">
            <a:solidFill>
              <a:srgbClr val="C9C0B2"/>
            </a:solidFill>
            <a:prstDash val="solid"/>
          </a:ln>
        </p:spPr>
      </p:sp>
      <p:sp>
        <p:nvSpPr>
          <p:cNvPr id="42" name="Text 39"/>
          <p:cNvSpPr/>
          <p:nvPr/>
        </p:nvSpPr>
        <p:spPr>
          <a:xfrm>
            <a:off x="8321040" y="4709160"/>
            <a:ext cx="457200" cy="475488"/>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12</a:t>
            </a:r>
            <a:endParaRPr lang="en-US" sz="850" dirty="0"/>
          </a:p>
        </p:txBody>
      </p:sp>
      <p:sp>
        <p:nvSpPr>
          <p:cNvPr id="43" name="Text 40">
            <a:hlinkClick r:id="rId14" tooltip="How to submit" action="ppaction://hlinksldjump"/>
          </p:cNvPr>
          <p:cNvSpPr/>
          <p:nvPr/>
        </p:nvSpPr>
        <p:spPr>
          <a:xfrm>
            <a:off x="8778240" y="4709160"/>
            <a:ext cx="2743200" cy="475488"/>
          </a:xfrm>
          <a:prstGeom prst="rect">
            <a:avLst/>
          </a:prstGeom>
          <a:noFill/>
          <a:ln/>
        </p:spPr>
        <p:txBody>
          <a:bodyPr wrap="square" lIns="0" tIns="0" rIns="0" bIns="0" rtlCol="0" anchor="ctr"/>
          <a:lstStyle/>
          <a:p>
            <a:pPr indent="0" marL="0">
              <a:buNone/>
            </a:pPr>
            <a:r>
              <a:rPr lang="en-US" sz="1700" u="sng" dirty="0">
                <a:solidFill>
                  <a:srgbClr val="11110F"/>
                </a:solidFill>
                <a:latin typeface="Cormorant Garamond" pitchFamily="34" charset="0"/>
                <a:ea typeface="Cormorant Garamond" pitchFamily="34" charset="-122"/>
                <a:cs typeface="Cormorant Garamond" pitchFamily="34" charset="-120"/>
                <a:hlinkClick r:id="rId14" action="ppaction://hlinksldjump" tooltip="How to submit">
                  <a:extLst>
                    <a:ext uri="{A12FA001-AC4F-418D-AE19-62706E023703}">
                      <ahyp:hlinkClr xmlns:ahyp="http://schemas.microsoft.com/office/drawing/2018/hyperlinkcolor" val="tx"/>
                    </a:ext>
                  </a:extLst>
                </a:hlinkClick>
              </a:rPr>
              <a:t>How to submit</a:t>
            </a:r>
            <a:endParaRPr lang="en-US" sz="1700" dirty="0"/>
          </a:p>
        </p:txBody>
      </p:sp>
      <p:sp>
        <p:nvSpPr>
          <p:cNvPr id="44" name="Shape 41"/>
          <p:cNvSpPr/>
          <p:nvPr/>
        </p:nvSpPr>
        <p:spPr>
          <a:xfrm>
            <a:off x="4754880" y="5184648"/>
            <a:ext cx="3200400" cy="0"/>
          </a:xfrm>
          <a:prstGeom prst="line">
            <a:avLst/>
          </a:prstGeom>
          <a:noFill/>
          <a:ln w="9525">
            <a:solidFill>
              <a:srgbClr val="C9C0B2"/>
            </a:solidFill>
            <a:prstDash val="solid"/>
          </a:ln>
        </p:spPr>
      </p:sp>
      <p:sp>
        <p:nvSpPr>
          <p:cNvPr id="45" name="Shape 42"/>
          <p:cNvSpPr/>
          <p:nvPr/>
        </p:nvSpPr>
        <p:spPr>
          <a:xfrm>
            <a:off x="8321040" y="5184648"/>
            <a:ext cx="3200400" cy="0"/>
          </a:xfrm>
          <a:prstGeom prst="line">
            <a:avLst/>
          </a:prstGeom>
          <a:noFill/>
          <a:ln w="9525">
            <a:solidFill>
              <a:srgbClr val="C9C0B2"/>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AE1"/>
        </a:solidFill>
      </p:bgPr>
    </p:bg>
    <p:spTree>
      <p:nvGrpSpPr>
        <p:cNvPr id="1" name=""/>
        <p:cNvGrpSpPr/>
        <p:nvPr/>
      </p:nvGrpSpPr>
      <p:grpSpPr>
        <a:xfrm>
          <a:off x="0" y="0"/>
          <a:ext cx="0" cy="0"/>
          <a:chOff x="0" y="0"/>
          <a:chExt cx="0" cy="0"/>
        </a:xfrm>
      </p:grpSpPr>
      <p:pic>
        <p:nvPicPr>
          <p:cNvPr id="2" name="Image 0" descr="E:/Matter Of Place/Matter Of Place Codebase/src/assets/manhattan.jpg">    </p:cNvPr>
          <p:cNvPicPr>
            <a:picLocks noChangeAspect="1"/>
          </p:cNvPicPr>
          <p:nvPr/>
        </p:nvPicPr>
        <p:blipFill>
          <a:blip r:embed="rId1"/>
          <a:srcRect l="0" r="0" t="0" b="0"/>
          <a:stretch/>
        </p:blipFill>
        <p:spPr>
          <a:xfrm>
            <a:off x="0" y="0"/>
            <a:ext cx="4480560" cy="6858000"/>
          </a:xfrm>
          <a:prstGeom prst="rect">
            <a:avLst/>
          </a:prstGeom>
        </p:spPr>
      </p:pic>
      <p:sp>
        <p:nvSpPr>
          <p:cNvPr id="3" name="Text 0">
            <a:hlinkClick r:id="rId2" tooltip="Back to the agenda" action="ppaction://hlinksldjump"/>
          </p:cNvPr>
          <p:cNvSpPr/>
          <p:nvPr/>
        </p:nvSpPr>
        <p:spPr>
          <a:xfrm>
            <a:off x="103628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521208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3628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03 / 14</a:t>
            </a:r>
            <a:endParaRPr lang="en-US" sz="750" dirty="0"/>
          </a:p>
        </p:txBody>
      </p:sp>
      <p:sp>
        <p:nvSpPr>
          <p:cNvPr id="6" name="Text 3"/>
          <p:cNvSpPr/>
          <p:nvPr/>
        </p:nvSpPr>
        <p:spPr>
          <a:xfrm>
            <a:off x="521208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WHO WE ARE</a:t>
            </a:r>
            <a:endParaRPr lang="en-US" sz="900" dirty="0"/>
          </a:p>
        </p:txBody>
      </p:sp>
      <p:sp>
        <p:nvSpPr>
          <p:cNvPr id="7" name="Text 4"/>
          <p:cNvSpPr/>
          <p:nvPr/>
        </p:nvSpPr>
        <p:spPr>
          <a:xfrm>
            <a:off x="5212080" y="1188720"/>
            <a:ext cx="62480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A selective real-estate media platform.</a:t>
            </a:r>
            <a:endParaRPr lang="en-US" sz="3800" dirty="0"/>
          </a:p>
        </p:txBody>
      </p:sp>
      <p:sp>
        <p:nvSpPr>
          <p:cNvPr id="8" name="Text 5"/>
          <p:cNvSpPr/>
          <p:nvPr/>
        </p:nvSpPr>
        <p:spPr>
          <a:xfrm>
            <a:off x="5212080" y="2514600"/>
            <a:ext cx="5333695" cy="822960"/>
          </a:xfrm>
          <a:prstGeom prst="rect">
            <a:avLst/>
          </a:prstGeom>
          <a:noFill/>
          <a:ln/>
        </p:spPr>
        <p:txBody>
          <a:bodyPr wrap="square" lIns="0" tIns="0" rIns="0" bIns="0" rtlCol="0" anchor="t"/>
          <a:lstStyle/>
          <a:p>
            <a:pPr indent="0" marL="0">
              <a:lnSpc>
                <a:spcPct val="125000"/>
              </a:lnSpc>
              <a:buNone/>
            </a:pPr>
            <a:r>
              <a:rPr lang="en-US" sz="1400" dirty="0">
                <a:solidFill>
                  <a:srgbClr val="575751"/>
                </a:solidFill>
                <a:latin typeface="Jost" pitchFamily="34" charset="0"/>
                <a:ea typeface="Jost" pitchFamily="34" charset="-122"/>
                <a:cs typeface="Jost" pitchFamily="34" charset="-120"/>
              </a:rPr>
              <a:t>We select, present and distribute exceptional existing residential property, through a disciplined editorial lens.</a:t>
            </a:r>
            <a:endParaRPr lang="en-US" sz="1400" dirty="0"/>
          </a:p>
        </p:txBody>
      </p:sp>
      <p:sp>
        <p:nvSpPr>
          <p:cNvPr id="9" name="Text 6"/>
          <p:cNvSpPr/>
          <p:nvPr/>
        </p:nvSpPr>
        <p:spPr>
          <a:xfrm>
            <a:off x="5212080" y="3520440"/>
            <a:ext cx="6248095" cy="457200"/>
          </a:xfrm>
          <a:prstGeom prst="rect">
            <a:avLst/>
          </a:prstGeom>
          <a:noFill/>
          <a:ln/>
        </p:spPr>
        <p:txBody>
          <a:bodyPr wrap="square" lIns="0" tIns="0" rIns="0" bIns="0" rtlCol="0" anchor="ctr"/>
          <a:lstStyle/>
          <a:p>
            <a:pPr indent="0" marL="0">
              <a:buNone/>
            </a:pPr>
            <a:r>
              <a:rPr lang="en-US" sz="2200" i="1" dirty="0">
                <a:solidFill>
                  <a:srgbClr val="11110F"/>
                </a:solidFill>
                <a:latin typeface="Cormorant Garamond" pitchFamily="34" charset="0"/>
                <a:ea typeface="Cormorant Garamond" pitchFamily="34" charset="-122"/>
                <a:cs typeface="Cormorant Garamond" pitchFamily="34" charset="-120"/>
              </a:rPr>
              <a:t>California  ·  New York  ·  Florida</a:t>
            </a:r>
            <a:endParaRPr lang="en-US" sz="2200" dirty="0"/>
          </a:p>
        </p:txBody>
      </p:sp>
      <p:sp>
        <p:nvSpPr>
          <p:cNvPr id="10" name="Shape 7"/>
          <p:cNvSpPr/>
          <p:nvPr/>
        </p:nvSpPr>
        <p:spPr>
          <a:xfrm>
            <a:off x="5212080" y="4251960"/>
            <a:ext cx="4876495" cy="0"/>
          </a:xfrm>
          <a:prstGeom prst="line">
            <a:avLst/>
          </a:prstGeom>
          <a:noFill/>
          <a:ln w="9525">
            <a:solidFill>
              <a:srgbClr val="C9C0B2"/>
            </a:solidFill>
            <a:prstDash val="solid"/>
          </a:ln>
        </p:spPr>
      </p:sp>
      <p:sp>
        <p:nvSpPr>
          <p:cNvPr id="11" name="Text 8"/>
          <p:cNvSpPr/>
          <p:nvPr/>
        </p:nvSpPr>
        <p:spPr>
          <a:xfrm>
            <a:off x="5212080" y="4251960"/>
            <a:ext cx="4876495" cy="310896"/>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Existing residential property only</a:t>
            </a:r>
            <a:endParaRPr lang="en-US" sz="1150" dirty="0"/>
          </a:p>
        </p:txBody>
      </p:sp>
      <p:sp>
        <p:nvSpPr>
          <p:cNvPr id="12" name="Shape 9"/>
          <p:cNvSpPr/>
          <p:nvPr/>
        </p:nvSpPr>
        <p:spPr>
          <a:xfrm>
            <a:off x="5212080" y="4562856"/>
            <a:ext cx="4876495" cy="0"/>
          </a:xfrm>
          <a:prstGeom prst="line">
            <a:avLst/>
          </a:prstGeom>
          <a:noFill/>
          <a:ln w="9525">
            <a:solidFill>
              <a:srgbClr val="C9C0B2"/>
            </a:solidFill>
            <a:prstDash val="solid"/>
          </a:ln>
        </p:spPr>
      </p:sp>
      <p:sp>
        <p:nvSpPr>
          <p:cNvPr id="13" name="Text 10"/>
          <p:cNvSpPr/>
          <p:nvPr/>
        </p:nvSpPr>
        <p:spPr>
          <a:xfrm>
            <a:off x="5212080" y="4562856"/>
            <a:ext cx="4876495" cy="310896"/>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Not a brokerage</a:t>
            </a:r>
            <a:endParaRPr lang="en-US" sz="1150" dirty="0"/>
          </a:p>
        </p:txBody>
      </p:sp>
      <p:sp>
        <p:nvSpPr>
          <p:cNvPr id="14" name="Shape 11"/>
          <p:cNvSpPr/>
          <p:nvPr/>
        </p:nvSpPr>
        <p:spPr>
          <a:xfrm>
            <a:off x="5212080" y="4873752"/>
            <a:ext cx="4876495" cy="0"/>
          </a:xfrm>
          <a:prstGeom prst="line">
            <a:avLst/>
          </a:prstGeom>
          <a:noFill/>
          <a:ln w="9525">
            <a:solidFill>
              <a:srgbClr val="C9C0B2"/>
            </a:solidFill>
            <a:prstDash val="solid"/>
          </a:ln>
        </p:spPr>
      </p:sp>
      <p:sp>
        <p:nvSpPr>
          <p:cNvPr id="15" name="Text 12"/>
          <p:cNvSpPr/>
          <p:nvPr/>
        </p:nvSpPr>
        <p:spPr>
          <a:xfrm>
            <a:off x="5212080" y="4873752"/>
            <a:ext cx="4876495" cy="310896"/>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Not a listing marketplace</a:t>
            </a:r>
            <a:endParaRPr lang="en-US" sz="1150" dirty="0"/>
          </a:p>
        </p:txBody>
      </p:sp>
      <p:sp>
        <p:nvSpPr>
          <p:cNvPr id="16" name="Shape 13"/>
          <p:cNvSpPr/>
          <p:nvPr/>
        </p:nvSpPr>
        <p:spPr>
          <a:xfrm>
            <a:off x="5212080" y="5184648"/>
            <a:ext cx="4876495" cy="0"/>
          </a:xfrm>
          <a:prstGeom prst="line">
            <a:avLst/>
          </a:prstGeom>
          <a:noFill/>
          <a:ln w="9525">
            <a:solidFill>
              <a:srgbClr val="C9C0B2"/>
            </a:solidFill>
            <a:prstDash val="solid"/>
          </a:ln>
        </p:spPr>
      </p:sp>
      <p:sp>
        <p:nvSpPr>
          <p:cNvPr id="17" name="Text 14"/>
          <p:cNvSpPr/>
          <p:nvPr/>
        </p:nvSpPr>
        <p:spPr>
          <a:xfrm>
            <a:off x="5212080" y="5184648"/>
            <a:ext cx="4876495" cy="310896"/>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Not a lead-generation service</a:t>
            </a:r>
            <a:endParaRPr lang="en-US" sz="1150" dirty="0"/>
          </a:p>
        </p:txBody>
      </p:sp>
      <p:sp>
        <p:nvSpPr>
          <p:cNvPr id="18" name="Shape 15"/>
          <p:cNvSpPr/>
          <p:nvPr/>
        </p:nvSpPr>
        <p:spPr>
          <a:xfrm>
            <a:off x="5212080" y="5495544"/>
            <a:ext cx="4876495" cy="0"/>
          </a:xfrm>
          <a:prstGeom prst="line">
            <a:avLst/>
          </a:prstGeom>
          <a:noFill/>
          <a:ln w="9525">
            <a:solidFill>
              <a:srgbClr val="C9C0B2"/>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B"/>
        </a:solidFill>
      </p:bgPr>
    </p:bg>
    <p:spTree>
      <p:nvGrpSpPr>
        <p:cNvPr id="1" name=""/>
        <p:cNvGrpSpPr/>
        <p:nvPr/>
      </p:nvGrpSpPr>
      <p:grpSpPr>
        <a:xfrm>
          <a:off x="0" y="0"/>
          <a:ext cx="0" cy="0"/>
          <a:chOff x="0" y="0"/>
          <a:chExt cx="0" cy="0"/>
        </a:xfrm>
      </p:grpSpPr>
      <p:pic>
        <p:nvPicPr>
          <p:cNvPr id="2" name="Image 0" descr="E:/Matter Of Place/Matter Of Place Codebase/src/assets/gallery/ca-stair.jpg">    </p:cNvPr>
          <p:cNvPicPr>
            <a:picLocks noChangeAspect="1"/>
          </p:cNvPicPr>
          <p:nvPr/>
        </p:nvPicPr>
        <p:blipFill>
          <a:blip r:embed="rId1"/>
          <a:srcRect l="0" r="0" t="0" b="0"/>
          <a:stretch/>
        </p:blipFill>
        <p:spPr>
          <a:xfrm>
            <a:off x="7711135" y="0"/>
            <a:ext cx="4480560" cy="6858000"/>
          </a:xfrm>
          <a:prstGeom prst="rect">
            <a:avLst/>
          </a:prstGeom>
        </p:spPr>
      </p:pic>
      <p:sp>
        <p:nvSpPr>
          <p:cNvPr id="3" name="Text 0">
            <a:hlinkClick r:id="rId2" tooltip="Back to the agenda" action="ppaction://hlinksldjump"/>
          </p:cNvPr>
          <p:cNvSpPr/>
          <p:nvPr/>
        </p:nvSpPr>
        <p:spPr>
          <a:xfrm>
            <a:off x="588233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73152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588233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04 / 14</a:t>
            </a:r>
            <a:endParaRPr lang="en-US" sz="750" dirty="0"/>
          </a:p>
        </p:txBody>
      </p:sp>
      <p:sp>
        <p:nvSpPr>
          <p:cNvPr id="6" name="Text 3"/>
          <p:cNvSpPr/>
          <p:nvPr/>
        </p:nvSpPr>
        <p:spPr>
          <a:xfrm>
            <a:off x="73152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THE EDITORIAL STANDARD</a:t>
            </a:r>
            <a:endParaRPr lang="en-US" sz="900" dirty="0"/>
          </a:p>
        </p:txBody>
      </p:sp>
      <p:sp>
        <p:nvSpPr>
          <p:cNvPr id="7" name="Text 4"/>
          <p:cNvSpPr/>
          <p:nvPr/>
        </p:nvSpPr>
        <p:spPr>
          <a:xfrm>
            <a:off x="731520" y="1188720"/>
            <a:ext cx="62480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What we look for.</a:t>
            </a:r>
            <a:endParaRPr lang="en-US" sz="3800" dirty="0"/>
          </a:p>
        </p:txBody>
      </p:sp>
      <p:sp>
        <p:nvSpPr>
          <p:cNvPr id="8" name="Shape 5"/>
          <p:cNvSpPr/>
          <p:nvPr/>
        </p:nvSpPr>
        <p:spPr>
          <a:xfrm>
            <a:off x="731520" y="2331720"/>
            <a:ext cx="2895448" cy="0"/>
          </a:xfrm>
          <a:prstGeom prst="line">
            <a:avLst/>
          </a:prstGeom>
          <a:noFill/>
          <a:ln w="9525">
            <a:solidFill>
              <a:srgbClr val="C9C0B2"/>
            </a:solidFill>
            <a:prstDash val="solid"/>
          </a:ln>
        </p:spPr>
      </p:sp>
      <p:sp>
        <p:nvSpPr>
          <p:cNvPr id="9" name="Text 6"/>
          <p:cNvSpPr/>
          <p:nvPr/>
        </p:nvSpPr>
        <p:spPr>
          <a:xfrm>
            <a:off x="731520" y="2331720"/>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Architecture</a:t>
            </a:r>
            <a:endParaRPr lang="en-US" sz="2200" dirty="0"/>
          </a:p>
        </p:txBody>
      </p:sp>
      <p:sp>
        <p:nvSpPr>
          <p:cNvPr id="10" name="Shape 7"/>
          <p:cNvSpPr/>
          <p:nvPr/>
        </p:nvSpPr>
        <p:spPr>
          <a:xfrm>
            <a:off x="731520" y="2898648"/>
            <a:ext cx="2895448" cy="0"/>
          </a:xfrm>
          <a:prstGeom prst="line">
            <a:avLst/>
          </a:prstGeom>
          <a:noFill/>
          <a:ln w="9525">
            <a:solidFill>
              <a:srgbClr val="C9C0B2"/>
            </a:solidFill>
            <a:prstDash val="solid"/>
          </a:ln>
        </p:spPr>
      </p:sp>
      <p:sp>
        <p:nvSpPr>
          <p:cNvPr id="11" name="Text 8"/>
          <p:cNvSpPr/>
          <p:nvPr/>
        </p:nvSpPr>
        <p:spPr>
          <a:xfrm>
            <a:off x="731520" y="2898648"/>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Design</a:t>
            </a:r>
            <a:endParaRPr lang="en-US" sz="2200" dirty="0"/>
          </a:p>
        </p:txBody>
      </p:sp>
      <p:sp>
        <p:nvSpPr>
          <p:cNvPr id="12" name="Shape 9"/>
          <p:cNvSpPr/>
          <p:nvPr/>
        </p:nvSpPr>
        <p:spPr>
          <a:xfrm>
            <a:off x="731520" y="3465576"/>
            <a:ext cx="2895448" cy="0"/>
          </a:xfrm>
          <a:prstGeom prst="line">
            <a:avLst/>
          </a:prstGeom>
          <a:noFill/>
          <a:ln w="9525">
            <a:solidFill>
              <a:srgbClr val="C9C0B2"/>
            </a:solidFill>
            <a:prstDash val="solid"/>
          </a:ln>
        </p:spPr>
      </p:sp>
      <p:sp>
        <p:nvSpPr>
          <p:cNvPr id="13" name="Text 10"/>
          <p:cNvSpPr/>
          <p:nvPr/>
        </p:nvSpPr>
        <p:spPr>
          <a:xfrm>
            <a:off x="731520" y="3465576"/>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Originality</a:t>
            </a:r>
            <a:endParaRPr lang="en-US" sz="2200" dirty="0"/>
          </a:p>
        </p:txBody>
      </p:sp>
      <p:sp>
        <p:nvSpPr>
          <p:cNvPr id="14" name="Shape 11"/>
          <p:cNvSpPr/>
          <p:nvPr/>
        </p:nvSpPr>
        <p:spPr>
          <a:xfrm>
            <a:off x="731520" y="4032504"/>
            <a:ext cx="2895448" cy="0"/>
          </a:xfrm>
          <a:prstGeom prst="line">
            <a:avLst/>
          </a:prstGeom>
          <a:noFill/>
          <a:ln w="9525">
            <a:solidFill>
              <a:srgbClr val="C9C0B2"/>
            </a:solidFill>
            <a:prstDash val="solid"/>
          </a:ln>
        </p:spPr>
      </p:sp>
      <p:sp>
        <p:nvSpPr>
          <p:cNvPr id="15" name="Text 12"/>
          <p:cNvSpPr/>
          <p:nvPr/>
        </p:nvSpPr>
        <p:spPr>
          <a:xfrm>
            <a:off x="731520" y="4032504"/>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Materiality</a:t>
            </a:r>
            <a:endParaRPr lang="en-US" sz="2200" dirty="0"/>
          </a:p>
        </p:txBody>
      </p:sp>
      <p:sp>
        <p:nvSpPr>
          <p:cNvPr id="16" name="Shape 13"/>
          <p:cNvSpPr/>
          <p:nvPr/>
        </p:nvSpPr>
        <p:spPr>
          <a:xfrm>
            <a:off x="731520" y="4599432"/>
            <a:ext cx="2895448" cy="0"/>
          </a:xfrm>
          <a:prstGeom prst="line">
            <a:avLst/>
          </a:prstGeom>
          <a:noFill/>
          <a:ln w="9525">
            <a:solidFill>
              <a:srgbClr val="C9C0B2"/>
            </a:solidFill>
            <a:prstDash val="solid"/>
          </a:ln>
        </p:spPr>
      </p:sp>
      <p:sp>
        <p:nvSpPr>
          <p:cNvPr id="17" name="Shape 14"/>
          <p:cNvSpPr/>
          <p:nvPr/>
        </p:nvSpPr>
        <p:spPr>
          <a:xfrm>
            <a:off x="4084168" y="2331720"/>
            <a:ext cx="2895448" cy="0"/>
          </a:xfrm>
          <a:prstGeom prst="line">
            <a:avLst/>
          </a:prstGeom>
          <a:noFill/>
          <a:ln w="9525">
            <a:solidFill>
              <a:srgbClr val="C9C0B2"/>
            </a:solidFill>
            <a:prstDash val="solid"/>
          </a:ln>
        </p:spPr>
      </p:sp>
      <p:sp>
        <p:nvSpPr>
          <p:cNvPr id="18" name="Text 15"/>
          <p:cNvSpPr/>
          <p:nvPr/>
        </p:nvSpPr>
        <p:spPr>
          <a:xfrm>
            <a:off x="4084168" y="2331720"/>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Setting</a:t>
            </a:r>
            <a:endParaRPr lang="en-US" sz="2200" dirty="0"/>
          </a:p>
        </p:txBody>
      </p:sp>
      <p:sp>
        <p:nvSpPr>
          <p:cNvPr id="19" name="Shape 16"/>
          <p:cNvSpPr/>
          <p:nvPr/>
        </p:nvSpPr>
        <p:spPr>
          <a:xfrm>
            <a:off x="4084168" y="2898648"/>
            <a:ext cx="2895448" cy="0"/>
          </a:xfrm>
          <a:prstGeom prst="line">
            <a:avLst/>
          </a:prstGeom>
          <a:noFill/>
          <a:ln w="9525">
            <a:solidFill>
              <a:srgbClr val="C9C0B2"/>
            </a:solidFill>
            <a:prstDash val="solid"/>
          </a:ln>
        </p:spPr>
      </p:sp>
      <p:sp>
        <p:nvSpPr>
          <p:cNvPr id="20" name="Text 17"/>
          <p:cNvSpPr/>
          <p:nvPr/>
        </p:nvSpPr>
        <p:spPr>
          <a:xfrm>
            <a:off x="4084168" y="2898648"/>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History</a:t>
            </a:r>
            <a:endParaRPr lang="en-US" sz="2200" dirty="0"/>
          </a:p>
        </p:txBody>
      </p:sp>
      <p:sp>
        <p:nvSpPr>
          <p:cNvPr id="21" name="Shape 18"/>
          <p:cNvSpPr/>
          <p:nvPr/>
        </p:nvSpPr>
        <p:spPr>
          <a:xfrm>
            <a:off x="4084168" y="3465576"/>
            <a:ext cx="2895448" cy="0"/>
          </a:xfrm>
          <a:prstGeom prst="line">
            <a:avLst/>
          </a:prstGeom>
          <a:noFill/>
          <a:ln w="9525">
            <a:solidFill>
              <a:srgbClr val="C9C0B2"/>
            </a:solidFill>
            <a:prstDash val="solid"/>
          </a:ln>
        </p:spPr>
      </p:sp>
      <p:sp>
        <p:nvSpPr>
          <p:cNvPr id="22" name="Text 19"/>
          <p:cNvSpPr/>
          <p:nvPr/>
        </p:nvSpPr>
        <p:spPr>
          <a:xfrm>
            <a:off x="4084168" y="3465576"/>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Craft</a:t>
            </a:r>
            <a:endParaRPr lang="en-US" sz="2200" dirty="0"/>
          </a:p>
        </p:txBody>
      </p:sp>
      <p:sp>
        <p:nvSpPr>
          <p:cNvPr id="23" name="Shape 20"/>
          <p:cNvSpPr/>
          <p:nvPr/>
        </p:nvSpPr>
        <p:spPr>
          <a:xfrm>
            <a:off x="4084168" y="4032504"/>
            <a:ext cx="2895448" cy="0"/>
          </a:xfrm>
          <a:prstGeom prst="line">
            <a:avLst/>
          </a:prstGeom>
          <a:noFill/>
          <a:ln w="9525">
            <a:solidFill>
              <a:srgbClr val="C9C0B2"/>
            </a:solidFill>
            <a:prstDash val="solid"/>
          </a:ln>
        </p:spPr>
      </p:sp>
      <p:sp>
        <p:nvSpPr>
          <p:cNvPr id="24" name="Text 21"/>
          <p:cNvSpPr/>
          <p:nvPr/>
        </p:nvSpPr>
        <p:spPr>
          <a:xfrm>
            <a:off x="4084168" y="4032504"/>
            <a:ext cx="2895448" cy="566928"/>
          </a:xfrm>
          <a:prstGeom prst="rect">
            <a:avLst/>
          </a:prstGeom>
          <a:noFill/>
          <a:ln/>
        </p:spPr>
        <p:txBody>
          <a:bodyPr wrap="square" lIns="0" tIns="0" rIns="0" bIns="0" rtlCol="0" anchor="ctr"/>
          <a:lstStyle/>
          <a:p>
            <a:pPr indent="0" marL="0">
              <a:buNone/>
            </a:pPr>
            <a:r>
              <a:rPr lang="en-US" sz="2200" dirty="0">
                <a:solidFill>
                  <a:srgbClr val="11110F"/>
                </a:solidFill>
                <a:latin typeface="Cormorant Garamond" pitchFamily="34" charset="0"/>
                <a:ea typeface="Cormorant Garamond" pitchFamily="34" charset="-122"/>
                <a:cs typeface="Cormorant Garamond" pitchFamily="34" charset="-120"/>
              </a:rPr>
              <a:t>Sense of place</a:t>
            </a:r>
            <a:endParaRPr lang="en-US" sz="2200" dirty="0"/>
          </a:p>
        </p:txBody>
      </p:sp>
      <p:sp>
        <p:nvSpPr>
          <p:cNvPr id="25" name="Shape 22"/>
          <p:cNvSpPr/>
          <p:nvPr/>
        </p:nvSpPr>
        <p:spPr>
          <a:xfrm>
            <a:off x="4084168" y="4599432"/>
            <a:ext cx="2895448" cy="0"/>
          </a:xfrm>
          <a:prstGeom prst="line">
            <a:avLst/>
          </a:prstGeom>
          <a:noFill/>
          <a:ln w="9525">
            <a:solidFill>
              <a:srgbClr val="C9C0B2"/>
            </a:solidFill>
            <a:prstDash val="solid"/>
          </a:ln>
        </p:spPr>
      </p:sp>
      <p:sp>
        <p:nvSpPr>
          <p:cNvPr id="26" name="Text 23"/>
          <p:cNvSpPr/>
          <p:nvPr/>
        </p:nvSpPr>
        <p:spPr>
          <a:xfrm>
            <a:off x="731520" y="4892040"/>
            <a:ext cx="6248095" cy="457200"/>
          </a:xfrm>
          <a:prstGeom prst="rect">
            <a:avLst/>
          </a:prstGeom>
          <a:noFill/>
          <a:ln/>
        </p:spPr>
        <p:txBody>
          <a:bodyPr wrap="square" lIns="0" tIns="0" rIns="0" bIns="0" rtlCol="0" anchor="ctr"/>
          <a:lstStyle/>
          <a:p>
            <a:pPr indent="0" marL="0">
              <a:buNone/>
            </a:pPr>
            <a:r>
              <a:rPr lang="en-US" sz="2200" i="1" dirty="0">
                <a:solidFill>
                  <a:srgbClr val="11110F"/>
                </a:solidFill>
                <a:latin typeface="Cormorant Garamond" pitchFamily="34" charset="0"/>
                <a:ea typeface="Cormorant Garamond" pitchFamily="34" charset="-122"/>
                <a:cs typeface="Cormorant Garamond" pitchFamily="34" charset="-120"/>
              </a:rPr>
              <a:t>Price is not on the list.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AE1"/>
        </a:solidFill>
      </p:bgPr>
    </p:bg>
    <p:spTree>
      <p:nvGrpSpPr>
        <p:cNvPr id="1" name=""/>
        <p:cNvGrpSpPr/>
        <p:nvPr/>
      </p:nvGrpSpPr>
      <p:grpSpPr>
        <a:xfrm>
          <a:off x="0" y="0"/>
          <a:ext cx="0" cy="0"/>
          <a:chOff x="0" y="0"/>
          <a:chExt cx="0" cy="0"/>
        </a:xfrm>
      </p:grpSpPr>
      <p:pic>
        <p:nvPicPr>
          <p:cNvPr id="2" name="Image 0" descr="E:/Matter Of Place/Matter Of Place Codebase/src/assets/gallery/city-room.jpg">    </p:cNvPr>
          <p:cNvPicPr>
            <a:picLocks noChangeAspect="1"/>
          </p:cNvPicPr>
          <p:nvPr/>
        </p:nvPicPr>
        <p:blipFill>
          <a:blip r:embed="rId1"/>
          <a:srcRect l="0" r="0" t="0" b="0"/>
          <a:stretch/>
        </p:blipFill>
        <p:spPr>
          <a:xfrm>
            <a:off x="0" y="0"/>
            <a:ext cx="4480560" cy="6858000"/>
          </a:xfrm>
          <a:prstGeom prst="rect">
            <a:avLst/>
          </a:prstGeom>
        </p:spPr>
      </p:pic>
      <p:sp>
        <p:nvSpPr>
          <p:cNvPr id="3" name="Text 0">
            <a:hlinkClick r:id="rId2" tooltip="Back to the agenda" action="ppaction://hlinksldjump"/>
          </p:cNvPr>
          <p:cNvSpPr/>
          <p:nvPr/>
        </p:nvSpPr>
        <p:spPr>
          <a:xfrm>
            <a:off x="103628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521208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3628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05 / 14</a:t>
            </a:r>
            <a:endParaRPr lang="en-US" sz="750" dirty="0"/>
          </a:p>
        </p:txBody>
      </p:sp>
      <p:sp>
        <p:nvSpPr>
          <p:cNvPr id="6" name="Text 3"/>
          <p:cNvSpPr/>
          <p:nvPr/>
        </p:nvSpPr>
        <p:spPr>
          <a:xfrm>
            <a:off x="521208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HOW SELECTION WORKS</a:t>
            </a:r>
            <a:endParaRPr lang="en-US" sz="900" dirty="0"/>
          </a:p>
        </p:txBody>
      </p:sp>
      <p:sp>
        <p:nvSpPr>
          <p:cNvPr id="7" name="Text 4"/>
          <p:cNvSpPr/>
          <p:nvPr/>
        </p:nvSpPr>
        <p:spPr>
          <a:xfrm>
            <a:off x="5212080" y="1188720"/>
            <a:ext cx="62480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Six steps, in this order.</a:t>
            </a:r>
            <a:endParaRPr lang="en-US" sz="3800" dirty="0"/>
          </a:p>
        </p:txBody>
      </p:sp>
      <p:sp>
        <p:nvSpPr>
          <p:cNvPr id="8" name="Shape 5"/>
          <p:cNvSpPr/>
          <p:nvPr/>
        </p:nvSpPr>
        <p:spPr>
          <a:xfrm>
            <a:off x="5212080" y="2240280"/>
            <a:ext cx="6248095" cy="0"/>
          </a:xfrm>
          <a:prstGeom prst="line">
            <a:avLst/>
          </a:prstGeom>
          <a:noFill/>
          <a:ln w="9525">
            <a:solidFill>
              <a:srgbClr val="C9C0B2"/>
            </a:solidFill>
            <a:prstDash val="solid"/>
          </a:ln>
        </p:spPr>
      </p:sp>
      <p:sp>
        <p:nvSpPr>
          <p:cNvPr id="9" name="Text 6"/>
          <p:cNvSpPr/>
          <p:nvPr/>
        </p:nvSpPr>
        <p:spPr>
          <a:xfrm>
            <a:off x="5212080" y="2240280"/>
            <a:ext cx="457200" cy="457200"/>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01</a:t>
            </a:r>
            <a:endParaRPr lang="en-US" sz="850" dirty="0"/>
          </a:p>
        </p:txBody>
      </p:sp>
      <p:sp>
        <p:nvSpPr>
          <p:cNvPr id="10" name="Text 7"/>
          <p:cNvSpPr/>
          <p:nvPr/>
        </p:nvSpPr>
        <p:spPr>
          <a:xfrm>
            <a:off x="5669280" y="2240280"/>
            <a:ext cx="2011680" cy="457200"/>
          </a:xfrm>
          <a:prstGeom prst="rect">
            <a:avLst/>
          </a:prstGeom>
          <a:noFill/>
          <a:ln/>
        </p:spPr>
        <p:txBody>
          <a:bodyPr wrap="square" lIns="0" tIns="0" rIns="0" bIns="0" rtlCol="0" anchor="ct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Submission</a:t>
            </a:r>
            <a:endParaRPr lang="en-US" sz="1800" dirty="0"/>
          </a:p>
        </p:txBody>
      </p:sp>
      <p:sp>
        <p:nvSpPr>
          <p:cNvPr id="11" name="Text 8"/>
          <p:cNvSpPr/>
          <p:nvPr/>
        </p:nvSpPr>
        <p:spPr>
          <a:xfrm>
            <a:off x="7726680" y="2240280"/>
            <a:ext cx="3733495" cy="457200"/>
          </a:xfrm>
          <a:prstGeom prst="rect">
            <a:avLst/>
          </a:prstGeom>
          <a:noFill/>
          <a:ln/>
        </p:spPr>
        <p:txBody>
          <a:bodyPr wrap="square" lIns="0" tIns="0" rIns="0" bIns="0" rtlCol="0" anchor="ctr"/>
          <a:lstStyle/>
          <a:p>
            <a:pPr indent="0" marL="0">
              <a:buNone/>
            </a:pPr>
            <a:r>
              <a:rPr lang="en-US" sz="1100" dirty="0">
                <a:solidFill>
                  <a:srgbClr val="575751"/>
                </a:solidFill>
                <a:latin typeface="Jost" pitchFamily="34" charset="0"/>
                <a:ea typeface="Jost" pitchFamily="34" charset="-122"/>
                <a:cs typeface="Jost" pitchFamily="34" charset="-120"/>
              </a:rPr>
              <a:t>You send the property and its story.</a:t>
            </a:r>
            <a:endParaRPr lang="en-US" sz="1100" dirty="0"/>
          </a:p>
        </p:txBody>
      </p:sp>
      <p:sp>
        <p:nvSpPr>
          <p:cNvPr id="12" name="Shape 9"/>
          <p:cNvSpPr/>
          <p:nvPr/>
        </p:nvSpPr>
        <p:spPr>
          <a:xfrm>
            <a:off x="5212080" y="2697480"/>
            <a:ext cx="6248095" cy="0"/>
          </a:xfrm>
          <a:prstGeom prst="line">
            <a:avLst/>
          </a:prstGeom>
          <a:noFill/>
          <a:ln w="9525">
            <a:solidFill>
              <a:srgbClr val="C9C0B2"/>
            </a:solidFill>
            <a:prstDash val="solid"/>
          </a:ln>
        </p:spPr>
      </p:sp>
      <p:sp>
        <p:nvSpPr>
          <p:cNvPr id="13" name="Text 10"/>
          <p:cNvSpPr/>
          <p:nvPr/>
        </p:nvSpPr>
        <p:spPr>
          <a:xfrm>
            <a:off x="5212080" y="2697480"/>
            <a:ext cx="457200" cy="457200"/>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02</a:t>
            </a:r>
            <a:endParaRPr lang="en-US" sz="850" dirty="0"/>
          </a:p>
        </p:txBody>
      </p:sp>
      <p:sp>
        <p:nvSpPr>
          <p:cNvPr id="14" name="Text 11"/>
          <p:cNvSpPr/>
          <p:nvPr/>
        </p:nvSpPr>
        <p:spPr>
          <a:xfrm>
            <a:off x="5669280" y="2697480"/>
            <a:ext cx="2011680" cy="457200"/>
          </a:xfrm>
          <a:prstGeom prst="rect">
            <a:avLst/>
          </a:prstGeom>
          <a:noFill/>
          <a:ln/>
        </p:spPr>
        <p:txBody>
          <a:bodyPr wrap="square" lIns="0" tIns="0" rIns="0" bIns="0" rtlCol="0" anchor="ct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Editorial review</a:t>
            </a:r>
            <a:endParaRPr lang="en-US" sz="1800" dirty="0"/>
          </a:p>
        </p:txBody>
      </p:sp>
      <p:sp>
        <p:nvSpPr>
          <p:cNvPr id="15" name="Text 12"/>
          <p:cNvSpPr/>
          <p:nvPr/>
        </p:nvSpPr>
        <p:spPr>
          <a:xfrm>
            <a:off x="7726680" y="2697480"/>
            <a:ext cx="3733495" cy="457200"/>
          </a:xfrm>
          <a:prstGeom prst="rect">
            <a:avLst/>
          </a:prstGeom>
          <a:noFill/>
          <a:ln/>
        </p:spPr>
        <p:txBody>
          <a:bodyPr wrap="square" lIns="0" tIns="0" rIns="0" bIns="0" rtlCol="0" anchor="ctr"/>
          <a:lstStyle/>
          <a:p>
            <a:pPr indent="0" marL="0">
              <a:buNone/>
            </a:pPr>
            <a:r>
              <a:rPr lang="en-US" sz="1100" dirty="0">
                <a:solidFill>
                  <a:srgbClr val="575751"/>
                </a:solidFill>
                <a:latin typeface="Jost" pitchFamily="34" charset="0"/>
                <a:ea typeface="Jost" pitchFamily="34" charset="-122"/>
                <a:cs typeface="Jost" pitchFamily="34" charset="-120"/>
              </a:rPr>
              <a:t>We read it against our editorial standard.</a:t>
            </a:r>
            <a:endParaRPr lang="en-US" sz="1100" dirty="0"/>
          </a:p>
        </p:txBody>
      </p:sp>
      <p:sp>
        <p:nvSpPr>
          <p:cNvPr id="16" name="Shape 13"/>
          <p:cNvSpPr/>
          <p:nvPr/>
        </p:nvSpPr>
        <p:spPr>
          <a:xfrm>
            <a:off x="5212080" y="3154680"/>
            <a:ext cx="6248095" cy="0"/>
          </a:xfrm>
          <a:prstGeom prst="line">
            <a:avLst/>
          </a:prstGeom>
          <a:noFill/>
          <a:ln w="9525">
            <a:solidFill>
              <a:srgbClr val="C9C0B2"/>
            </a:solidFill>
            <a:prstDash val="solid"/>
          </a:ln>
        </p:spPr>
      </p:sp>
      <p:sp>
        <p:nvSpPr>
          <p:cNvPr id="17" name="Text 14"/>
          <p:cNvSpPr/>
          <p:nvPr/>
        </p:nvSpPr>
        <p:spPr>
          <a:xfrm>
            <a:off x="5212080" y="3154680"/>
            <a:ext cx="457200" cy="457200"/>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03</a:t>
            </a:r>
            <a:endParaRPr lang="en-US" sz="850" dirty="0"/>
          </a:p>
        </p:txBody>
      </p:sp>
      <p:sp>
        <p:nvSpPr>
          <p:cNvPr id="18" name="Text 15"/>
          <p:cNvSpPr/>
          <p:nvPr/>
        </p:nvSpPr>
        <p:spPr>
          <a:xfrm>
            <a:off x="5669280" y="3154680"/>
            <a:ext cx="2011680" cy="457200"/>
          </a:xfrm>
          <a:prstGeom prst="rect">
            <a:avLst/>
          </a:prstGeom>
          <a:noFill/>
          <a:ln/>
        </p:spPr>
        <p:txBody>
          <a:bodyPr wrap="square" lIns="0" tIns="0" rIns="0" bIns="0" rtlCol="0" anchor="ct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Acceptance</a:t>
            </a:r>
            <a:endParaRPr lang="en-US" sz="1800" dirty="0"/>
          </a:p>
        </p:txBody>
      </p:sp>
      <p:sp>
        <p:nvSpPr>
          <p:cNvPr id="19" name="Text 16"/>
          <p:cNvSpPr/>
          <p:nvPr/>
        </p:nvSpPr>
        <p:spPr>
          <a:xfrm>
            <a:off x="7726680" y="3154680"/>
            <a:ext cx="3733495" cy="457200"/>
          </a:xfrm>
          <a:prstGeom prst="rect">
            <a:avLst/>
          </a:prstGeom>
          <a:noFill/>
          <a:ln/>
        </p:spPr>
        <p:txBody>
          <a:bodyPr wrap="square" lIns="0" tIns="0" rIns="0" bIns="0" rtlCol="0" anchor="ctr"/>
          <a:lstStyle/>
          <a:p>
            <a:pPr indent="0" marL="0">
              <a:buNone/>
            </a:pPr>
            <a:r>
              <a:rPr lang="en-US" sz="1100" dirty="0">
                <a:solidFill>
                  <a:srgbClr val="575751"/>
                </a:solidFill>
                <a:latin typeface="Jost" pitchFamily="34" charset="0"/>
                <a:ea typeface="Jost" pitchFamily="34" charset="-122"/>
                <a:cs typeface="Jost" pitchFamily="34" charset="-120"/>
              </a:rPr>
              <a:t>Selected properties are confirmed. Others are not charged.</a:t>
            </a:r>
            <a:endParaRPr lang="en-US" sz="1100" dirty="0"/>
          </a:p>
        </p:txBody>
      </p:sp>
      <p:sp>
        <p:nvSpPr>
          <p:cNvPr id="20" name="Shape 17"/>
          <p:cNvSpPr/>
          <p:nvPr/>
        </p:nvSpPr>
        <p:spPr>
          <a:xfrm>
            <a:off x="5212080" y="3611880"/>
            <a:ext cx="6248095" cy="0"/>
          </a:xfrm>
          <a:prstGeom prst="line">
            <a:avLst/>
          </a:prstGeom>
          <a:noFill/>
          <a:ln w="9525">
            <a:solidFill>
              <a:srgbClr val="C9C0B2"/>
            </a:solidFill>
            <a:prstDash val="solid"/>
          </a:ln>
        </p:spPr>
      </p:sp>
      <p:sp>
        <p:nvSpPr>
          <p:cNvPr id="21" name="Text 18"/>
          <p:cNvSpPr/>
          <p:nvPr/>
        </p:nvSpPr>
        <p:spPr>
          <a:xfrm>
            <a:off x="5212080" y="3611880"/>
            <a:ext cx="457200" cy="457200"/>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04</a:t>
            </a:r>
            <a:endParaRPr lang="en-US" sz="850" dirty="0"/>
          </a:p>
        </p:txBody>
      </p:sp>
      <p:sp>
        <p:nvSpPr>
          <p:cNvPr id="22" name="Text 19"/>
          <p:cNvSpPr/>
          <p:nvPr/>
        </p:nvSpPr>
        <p:spPr>
          <a:xfrm>
            <a:off x="5669280" y="3611880"/>
            <a:ext cx="2011680" cy="457200"/>
          </a:xfrm>
          <a:prstGeom prst="rect">
            <a:avLst/>
          </a:prstGeom>
          <a:noFill/>
          <a:ln/>
        </p:spPr>
        <p:txBody>
          <a:bodyPr wrap="square" lIns="0" tIns="0" rIns="0" bIns="0" rtlCol="0" anchor="ct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Exposure</a:t>
            </a:r>
            <a:endParaRPr lang="en-US" sz="1800" dirty="0"/>
          </a:p>
        </p:txBody>
      </p:sp>
      <p:sp>
        <p:nvSpPr>
          <p:cNvPr id="23" name="Text 20"/>
          <p:cNvSpPr/>
          <p:nvPr/>
        </p:nvSpPr>
        <p:spPr>
          <a:xfrm>
            <a:off x="7726680" y="3611880"/>
            <a:ext cx="3733495" cy="457200"/>
          </a:xfrm>
          <a:prstGeom prst="rect">
            <a:avLst/>
          </a:prstGeom>
          <a:noFill/>
          <a:ln/>
        </p:spPr>
        <p:txBody>
          <a:bodyPr wrap="square" lIns="0" tIns="0" rIns="0" bIns="0" rtlCol="0" anchor="ctr"/>
          <a:lstStyle/>
          <a:p>
            <a:pPr indent="0" marL="0">
              <a:buNone/>
            </a:pPr>
            <a:r>
              <a:rPr lang="en-US" sz="1100" dirty="0">
                <a:solidFill>
                  <a:srgbClr val="575751"/>
                </a:solidFill>
                <a:latin typeface="Jost" pitchFamily="34" charset="0"/>
                <a:ea typeface="Jost" pitchFamily="34" charset="-122"/>
                <a:cs typeface="Jost" pitchFamily="34" charset="-120"/>
              </a:rPr>
              <a:t>You choose the product that suits the property.</a:t>
            </a:r>
            <a:endParaRPr lang="en-US" sz="1100" dirty="0"/>
          </a:p>
        </p:txBody>
      </p:sp>
      <p:sp>
        <p:nvSpPr>
          <p:cNvPr id="24" name="Shape 21"/>
          <p:cNvSpPr/>
          <p:nvPr/>
        </p:nvSpPr>
        <p:spPr>
          <a:xfrm>
            <a:off x="5212080" y="4069080"/>
            <a:ext cx="6248095" cy="0"/>
          </a:xfrm>
          <a:prstGeom prst="line">
            <a:avLst/>
          </a:prstGeom>
          <a:noFill/>
          <a:ln w="9525">
            <a:solidFill>
              <a:srgbClr val="C9C0B2"/>
            </a:solidFill>
            <a:prstDash val="solid"/>
          </a:ln>
        </p:spPr>
      </p:sp>
      <p:sp>
        <p:nvSpPr>
          <p:cNvPr id="25" name="Text 22"/>
          <p:cNvSpPr/>
          <p:nvPr/>
        </p:nvSpPr>
        <p:spPr>
          <a:xfrm>
            <a:off x="5212080" y="4069080"/>
            <a:ext cx="457200" cy="457200"/>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05</a:t>
            </a:r>
            <a:endParaRPr lang="en-US" sz="850" dirty="0"/>
          </a:p>
        </p:txBody>
      </p:sp>
      <p:sp>
        <p:nvSpPr>
          <p:cNvPr id="26" name="Text 23"/>
          <p:cNvSpPr/>
          <p:nvPr/>
        </p:nvSpPr>
        <p:spPr>
          <a:xfrm>
            <a:off x="5669280" y="4069080"/>
            <a:ext cx="2011680" cy="457200"/>
          </a:xfrm>
          <a:prstGeom prst="rect">
            <a:avLst/>
          </a:prstGeom>
          <a:noFill/>
          <a:ln/>
        </p:spPr>
        <p:txBody>
          <a:bodyPr wrap="square" lIns="0" tIns="0" rIns="0" bIns="0" rtlCol="0" anchor="ct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Publication</a:t>
            </a:r>
            <a:endParaRPr lang="en-US" sz="1800" dirty="0"/>
          </a:p>
        </p:txBody>
      </p:sp>
      <p:sp>
        <p:nvSpPr>
          <p:cNvPr id="27" name="Text 24"/>
          <p:cNvSpPr/>
          <p:nvPr/>
        </p:nvSpPr>
        <p:spPr>
          <a:xfrm>
            <a:off x="7726680" y="4069080"/>
            <a:ext cx="3733495" cy="457200"/>
          </a:xfrm>
          <a:prstGeom prst="rect">
            <a:avLst/>
          </a:prstGeom>
          <a:noFill/>
          <a:ln/>
        </p:spPr>
        <p:txBody>
          <a:bodyPr wrap="square" lIns="0" tIns="0" rIns="0" bIns="0" rtlCol="0" anchor="ctr"/>
          <a:lstStyle/>
          <a:p>
            <a:pPr indent="0" marL="0">
              <a:buNone/>
            </a:pPr>
            <a:r>
              <a:rPr lang="en-US" sz="1100" dirty="0">
                <a:solidFill>
                  <a:srgbClr val="575751"/>
                </a:solidFill>
                <a:latin typeface="Jost" pitchFamily="34" charset="0"/>
                <a:ea typeface="Jost" pitchFamily="34" charset="-122"/>
                <a:cs typeface="Jost" pitchFamily="34" charset="-120"/>
              </a:rPr>
              <a:t>The property receives its permanent place.</a:t>
            </a:r>
            <a:endParaRPr lang="en-US" sz="1100" dirty="0"/>
          </a:p>
        </p:txBody>
      </p:sp>
      <p:sp>
        <p:nvSpPr>
          <p:cNvPr id="28" name="Shape 25"/>
          <p:cNvSpPr/>
          <p:nvPr/>
        </p:nvSpPr>
        <p:spPr>
          <a:xfrm>
            <a:off x="5212080" y="4526280"/>
            <a:ext cx="6248095" cy="0"/>
          </a:xfrm>
          <a:prstGeom prst="line">
            <a:avLst/>
          </a:prstGeom>
          <a:noFill/>
          <a:ln w="9525">
            <a:solidFill>
              <a:srgbClr val="C9C0B2"/>
            </a:solidFill>
            <a:prstDash val="solid"/>
          </a:ln>
        </p:spPr>
      </p:sp>
      <p:sp>
        <p:nvSpPr>
          <p:cNvPr id="29" name="Text 26"/>
          <p:cNvSpPr/>
          <p:nvPr/>
        </p:nvSpPr>
        <p:spPr>
          <a:xfrm>
            <a:off x="5212080" y="4526280"/>
            <a:ext cx="457200" cy="457200"/>
          </a:xfrm>
          <a:prstGeom prst="rect">
            <a:avLst/>
          </a:prstGeom>
          <a:noFill/>
          <a:ln/>
        </p:spPr>
        <p:txBody>
          <a:bodyPr wrap="square" lIns="0" tIns="0" rIns="0" bIns="0" rtlCol="0" anchor="ctr"/>
          <a:lstStyle/>
          <a:p>
            <a:pPr indent="0" marL="0">
              <a:buNone/>
            </a:pPr>
            <a:r>
              <a:rPr lang="en-US" sz="850" spc="200" kern="0" dirty="0">
                <a:solidFill>
                  <a:srgbClr val="8B877F"/>
                </a:solidFill>
                <a:latin typeface="Jost" pitchFamily="34" charset="0"/>
                <a:ea typeface="Jost" pitchFamily="34" charset="-122"/>
                <a:cs typeface="Jost" pitchFamily="34" charset="-120"/>
              </a:rPr>
              <a:t>06</a:t>
            </a:r>
            <a:endParaRPr lang="en-US" sz="850" dirty="0"/>
          </a:p>
        </p:txBody>
      </p:sp>
      <p:sp>
        <p:nvSpPr>
          <p:cNvPr id="30" name="Text 27"/>
          <p:cNvSpPr/>
          <p:nvPr/>
        </p:nvSpPr>
        <p:spPr>
          <a:xfrm>
            <a:off x="5669280" y="4526280"/>
            <a:ext cx="2011680" cy="457200"/>
          </a:xfrm>
          <a:prstGeom prst="rect">
            <a:avLst/>
          </a:prstGeom>
          <a:noFill/>
          <a:ln/>
        </p:spPr>
        <p:txBody>
          <a:bodyPr wrap="square" lIns="0" tIns="0" rIns="0" bIns="0" rtlCol="0" anchor="ct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Distribution</a:t>
            </a:r>
            <a:endParaRPr lang="en-US" sz="1800" dirty="0"/>
          </a:p>
        </p:txBody>
      </p:sp>
      <p:sp>
        <p:nvSpPr>
          <p:cNvPr id="31" name="Text 28"/>
          <p:cNvSpPr/>
          <p:nvPr/>
        </p:nvSpPr>
        <p:spPr>
          <a:xfrm>
            <a:off x="7726680" y="4526280"/>
            <a:ext cx="3733495" cy="457200"/>
          </a:xfrm>
          <a:prstGeom prst="rect">
            <a:avLst/>
          </a:prstGeom>
          <a:noFill/>
          <a:ln/>
        </p:spPr>
        <p:txBody>
          <a:bodyPr wrap="square" lIns="0" tIns="0" rIns="0" bIns="0" rtlCol="0" anchor="ctr"/>
          <a:lstStyle/>
          <a:p>
            <a:pPr indent="0" marL="0">
              <a:buNone/>
            </a:pPr>
            <a:r>
              <a:rPr lang="en-US" sz="1100" dirty="0">
                <a:solidFill>
                  <a:srgbClr val="575751"/>
                </a:solidFill>
                <a:latin typeface="Jost" pitchFamily="34" charset="0"/>
                <a:ea typeface="Jost" pitchFamily="34" charset="-122"/>
                <a:cs typeface="Jost" pitchFamily="34" charset="-120"/>
              </a:rPr>
              <a:t>The story travels through owned and paid channels.</a:t>
            </a:r>
            <a:endParaRPr lang="en-US" sz="1100" dirty="0"/>
          </a:p>
        </p:txBody>
      </p:sp>
      <p:sp>
        <p:nvSpPr>
          <p:cNvPr id="32" name="Shape 29"/>
          <p:cNvSpPr/>
          <p:nvPr/>
        </p:nvSpPr>
        <p:spPr>
          <a:xfrm>
            <a:off x="5212080" y="4983480"/>
            <a:ext cx="6248095" cy="0"/>
          </a:xfrm>
          <a:prstGeom prst="line">
            <a:avLst/>
          </a:prstGeom>
          <a:noFill/>
          <a:ln w="9525">
            <a:solidFill>
              <a:srgbClr val="C9C0B2"/>
            </a:solidFill>
            <a:prstDash val="solid"/>
          </a:ln>
        </p:spPr>
      </p:sp>
      <p:sp>
        <p:nvSpPr>
          <p:cNvPr id="33" name="Text 30"/>
          <p:cNvSpPr/>
          <p:nvPr/>
        </p:nvSpPr>
        <p:spPr>
          <a:xfrm>
            <a:off x="5212080" y="5212080"/>
            <a:ext cx="6248095" cy="457200"/>
          </a:xfrm>
          <a:prstGeom prst="rect">
            <a:avLst/>
          </a:prstGeom>
          <a:noFill/>
          <a:ln/>
        </p:spPr>
        <p:txBody>
          <a:bodyPr wrap="square" lIns="0" tIns="0" rIns="0" bIns="0" rtlCol="0" anchor="t"/>
          <a:lstStyle/>
          <a:p>
            <a:pPr indent="0" marL="0">
              <a:lnSpc>
                <a:spcPct val="125000"/>
              </a:lnSpc>
              <a:buNone/>
            </a:pPr>
            <a:r>
              <a:rPr lang="en-US" sz="1300" dirty="0">
                <a:solidFill>
                  <a:srgbClr val="11110F"/>
                </a:solidFill>
                <a:latin typeface="Jost" pitchFamily="34" charset="0"/>
                <a:ea typeface="Jost" pitchFamily="34" charset="-122"/>
                <a:cs typeface="Jost" pitchFamily="34" charset="-120"/>
              </a:rPr>
              <a:t>Payment never overrides editorial review. Declined properties are not charged.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B"/>
        </a:solidFill>
      </p:bgPr>
    </p:bg>
    <p:spTree>
      <p:nvGrpSpPr>
        <p:cNvPr id="1" name=""/>
        <p:cNvGrpSpPr/>
        <p:nvPr/>
      </p:nvGrpSpPr>
      <p:grpSpPr>
        <a:xfrm>
          <a:off x="0" y="0"/>
          <a:ext cx="0" cy="0"/>
          <a:chOff x="0" y="0"/>
          <a:chExt cx="0" cy="0"/>
        </a:xfrm>
      </p:grpSpPr>
      <p:pic>
        <p:nvPicPr>
          <p:cNvPr id="2" name="Image 0" descr="E:/Matter Of Place/Matter Of Place Codebase/src/assets/la-jolla.jpg">    </p:cNvPr>
          <p:cNvPicPr>
            <a:picLocks noChangeAspect="1"/>
          </p:cNvPicPr>
          <p:nvPr/>
        </p:nvPicPr>
        <p:blipFill>
          <a:blip r:embed="rId1"/>
          <a:srcRect l="0" r="0" t="0" b="0"/>
          <a:stretch/>
        </p:blipFill>
        <p:spPr>
          <a:xfrm>
            <a:off x="7711135" y="0"/>
            <a:ext cx="4480560" cy="6858000"/>
          </a:xfrm>
          <a:prstGeom prst="rect">
            <a:avLst/>
          </a:prstGeom>
        </p:spPr>
      </p:pic>
      <p:sp>
        <p:nvSpPr>
          <p:cNvPr id="3" name="Text 0">
            <a:hlinkClick r:id="rId2" tooltip="Back to the agenda" action="ppaction://hlinksldjump"/>
          </p:cNvPr>
          <p:cNvSpPr/>
          <p:nvPr/>
        </p:nvSpPr>
        <p:spPr>
          <a:xfrm>
            <a:off x="588233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73152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588233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06 / 14</a:t>
            </a:r>
            <a:endParaRPr lang="en-US" sz="750" dirty="0"/>
          </a:p>
        </p:txBody>
      </p:sp>
      <p:sp>
        <p:nvSpPr>
          <p:cNvPr id="6" name="Text 3"/>
          <p:cNvSpPr/>
          <p:nvPr/>
        </p:nvSpPr>
        <p:spPr>
          <a:xfrm>
            <a:off x="73152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PROPERTY EXPOSURE</a:t>
            </a:r>
            <a:endParaRPr lang="en-US" sz="900" dirty="0"/>
          </a:p>
        </p:txBody>
      </p:sp>
      <p:sp>
        <p:nvSpPr>
          <p:cNvPr id="7" name="Text 4"/>
          <p:cNvSpPr/>
          <p:nvPr/>
        </p:nvSpPr>
        <p:spPr>
          <a:xfrm>
            <a:off x="731520" y="1188720"/>
            <a:ext cx="44192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The Feature</a:t>
            </a:r>
            <a:endParaRPr lang="en-US" sz="3800" dirty="0"/>
          </a:p>
        </p:txBody>
      </p:sp>
      <p:sp>
        <p:nvSpPr>
          <p:cNvPr id="8" name="Text 5"/>
          <p:cNvSpPr/>
          <p:nvPr/>
        </p:nvSpPr>
        <p:spPr>
          <a:xfrm>
            <a:off x="5150815" y="1188720"/>
            <a:ext cx="1828800" cy="822960"/>
          </a:xfrm>
          <a:prstGeom prst="rect">
            <a:avLst/>
          </a:prstGeom>
          <a:noFill/>
          <a:ln/>
        </p:spPr>
        <p:txBody>
          <a:bodyPr wrap="square" lIns="0" tIns="0" rIns="0" bIns="0" rtlCol="0" anchor="t"/>
          <a:lstStyle/>
          <a:p>
            <a:pPr algn="r" indent="0" marL="0">
              <a:buNone/>
            </a:pPr>
            <a:r>
              <a:rPr lang="en-US" sz="3400" dirty="0">
                <a:solidFill>
                  <a:srgbClr val="11110F"/>
                </a:solidFill>
                <a:latin typeface="Cormorant Garamond" pitchFamily="34" charset="0"/>
                <a:ea typeface="Cormorant Garamond" pitchFamily="34" charset="-122"/>
                <a:cs typeface="Cormorant Garamond" pitchFamily="34" charset="-120"/>
              </a:rPr>
              <a:t>$295</a:t>
            </a:r>
            <a:endParaRPr lang="en-US" sz="3400" dirty="0"/>
          </a:p>
        </p:txBody>
      </p:sp>
      <p:sp>
        <p:nvSpPr>
          <p:cNvPr id="9" name="Text 6"/>
          <p:cNvSpPr/>
          <p:nvPr/>
        </p:nvSpPr>
        <p:spPr>
          <a:xfrm>
            <a:off x="731520" y="1920240"/>
            <a:ext cx="6248095" cy="502920"/>
          </a:xfrm>
          <a:prstGeom prst="rect">
            <a:avLst/>
          </a:prstGeom>
          <a:noFill/>
          <a:ln/>
        </p:spPr>
        <p:txBody>
          <a:bodyPr wrap="square" lIns="0" tIns="0" rIns="0" bIns="0" rtlCol="0" anchor="t"/>
          <a:lstStyle/>
          <a:p>
            <a:pPr indent="0" marL="0">
              <a:buNone/>
            </a:pPr>
            <a:r>
              <a:rPr lang="en-US" sz="1500" i="1" dirty="0">
                <a:solidFill>
                  <a:srgbClr val="575751"/>
                </a:solidFill>
                <a:latin typeface="Cormorant Garamond" pitchFamily="34" charset="0"/>
                <a:ea typeface="Cormorant Garamond" pitchFamily="34" charset="-122"/>
                <a:cs typeface="Cormorant Garamond" pitchFamily="34" charset="-120"/>
              </a:rPr>
              <a:t>Editorial presence.</a:t>
            </a:r>
            <a:endParaRPr lang="en-US" sz="1500" dirty="0"/>
          </a:p>
        </p:txBody>
      </p:sp>
      <p:sp>
        <p:nvSpPr>
          <p:cNvPr id="10" name="Shape 7"/>
          <p:cNvSpPr/>
          <p:nvPr/>
        </p:nvSpPr>
        <p:spPr>
          <a:xfrm>
            <a:off x="731520" y="2578608"/>
            <a:ext cx="6248095" cy="0"/>
          </a:xfrm>
          <a:prstGeom prst="line">
            <a:avLst/>
          </a:prstGeom>
          <a:noFill/>
          <a:ln w="9525">
            <a:solidFill>
              <a:srgbClr val="C9C0B2"/>
            </a:solidFill>
            <a:prstDash val="solid"/>
          </a:ln>
        </p:spPr>
      </p:sp>
      <p:sp>
        <p:nvSpPr>
          <p:cNvPr id="11" name="Text 8"/>
          <p:cNvSpPr/>
          <p:nvPr/>
        </p:nvSpPr>
        <p:spPr>
          <a:xfrm>
            <a:off x="731520" y="2578608"/>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Dedicated Matter of Place property page</a:t>
            </a:r>
            <a:endParaRPr lang="en-US" sz="1150" dirty="0"/>
          </a:p>
        </p:txBody>
      </p:sp>
      <p:sp>
        <p:nvSpPr>
          <p:cNvPr id="12" name="Shape 9"/>
          <p:cNvSpPr/>
          <p:nvPr/>
        </p:nvSpPr>
        <p:spPr>
          <a:xfrm>
            <a:off x="731520" y="2862072"/>
            <a:ext cx="6248095" cy="0"/>
          </a:xfrm>
          <a:prstGeom prst="line">
            <a:avLst/>
          </a:prstGeom>
          <a:noFill/>
          <a:ln w="9525">
            <a:solidFill>
              <a:srgbClr val="C9C0B2"/>
            </a:solidFill>
            <a:prstDash val="solid"/>
          </a:ln>
        </p:spPr>
      </p:sp>
      <p:sp>
        <p:nvSpPr>
          <p:cNvPr id="13" name="Text 10"/>
          <p:cNvSpPr/>
          <p:nvPr/>
        </p:nvSpPr>
        <p:spPr>
          <a:xfrm>
            <a:off x="731520" y="2862072"/>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Professionally edited editorial narrative</a:t>
            </a:r>
            <a:endParaRPr lang="en-US" sz="1150" dirty="0"/>
          </a:p>
        </p:txBody>
      </p:sp>
      <p:sp>
        <p:nvSpPr>
          <p:cNvPr id="14" name="Shape 11"/>
          <p:cNvSpPr/>
          <p:nvPr/>
        </p:nvSpPr>
        <p:spPr>
          <a:xfrm>
            <a:off x="731520" y="3145536"/>
            <a:ext cx="6248095" cy="0"/>
          </a:xfrm>
          <a:prstGeom prst="line">
            <a:avLst/>
          </a:prstGeom>
          <a:noFill/>
          <a:ln w="9525">
            <a:solidFill>
              <a:srgbClr val="C9C0B2"/>
            </a:solidFill>
            <a:prstDash val="solid"/>
          </a:ln>
        </p:spPr>
      </p:sp>
      <p:sp>
        <p:nvSpPr>
          <p:cNvPr id="15" name="Text 12"/>
          <p:cNvSpPr/>
          <p:nvPr/>
        </p:nvSpPr>
        <p:spPr>
          <a:xfrm>
            <a:off x="731520" y="3145536"/>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Architecture, design and location context</a:t>
            </a:r>
            <a:endParaRPr lang="en-US" sz="1150" dirty="0"/>
          </a:p>
        </p:txBody>
      </p:sp>
      <p:sp>
        <p:nvSpPr>
          <p:cNvPr id="16" name="Shape 13"/>
          <p:cNvSpPr/>
          <p:nvPr/>
        </p:nvSpPr>
        <p:spPr>
          <a:xfrm>
            <a:off x="731520" y="3429000"/>
            <a:ext cx="6248095" cy="0"/>
          </a:xfrm>
          <a:prstGeom prst="line">
            <a:avLst/>
          </a:prstGeom>
          <a:noFill/>
          <a:ln w="9525">
            <a:solidFill>
              <a:srgbClr val="C9C0B2"/>
            </a:solidFill>
            <a:prstDash val="solid"/>
          </a:ln>
        </p:spPr>
      </p:sp>
      <p:sp>
        <p:nvSpPr>
          <p:cNvPr id="17" name="Text 14"/>
          <p:cNvSpPr/>
          <p:nvPr/>
        </p:nvSpPr>
        <p:spPr>
          <a:xfrm>
            <a:off x="731520" y="3429000"/>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Curated image sequencing</a:t>
            </a:r>
            <a:endParaRPr lang="en-US" sz="1150" dirty="0"/>
          </a:p>
        </p:txBody>
      </p:sp>
      <p:sp>
        <p:nvSpPr>
          <p:cNvPr id="18" name="Shape 15"/>
          <p:cNvSpPr/>
          <p:nvPr/>
        </p:nvSpPr>
        <p:spPr>
          <a:xfrm>
            <a:off x="731520" y="3712464"/>
            <a:ext cx="6248095" cy="0"/>
          </a:xfrm>
          <a:prstGeom prst="line">
            <a:avLst/>
          </a:prstGeom>
          <a:noFill/>
          <a:ln w="9525">
            <a:solidFill>
              <a:srgbClr val="C9C0B2"/>
            </a:solidFill>
            <a:prstDash val="solid"/>
          </a:ln>
        </p:spPr>
      </p:sp>
      <p:sp>
        <p:nvSpPr>
          <p:cNvPr id="19" name="Text 16"/>
          <p:cNvSpPr/>
          <p:nvPr/>
        </p:nvSpPr>
        <p:spPr>
          <a:xfrm>
            <a:off x="731520" y="3712464"/>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Matter of Place social carousel</a:t>
            </a:r>
            <a:endParaRPr lang="en-US" sz="1150" dirty="0"/>
          </a:p>
        </p:txBody>
      </p:sp>
      <p:sp>
        <p:nvSpPr>
          <p:cNvPr id="20" name="Shape 17"/>
          <p:cNvSpPr/>
          <p:nvPr/>
        </p:nvSpPr>
        <p:spPr>
          <a:xfrm>
            <a:off x="731520" y="3995928"/>
            <a:ext cx="6248095" cy="0"/>
          </a:xfrm>
          <a:prstGeom prst="line">
            <a:avLst/>
          </a:prstGeom>
          <a:noFill/>
          <a:ln w="9525">
            <a:solidFill>
              <a:srgbClr val="C9C0B2"/>
            </a:solidFill>
            <a:prstDash val="solid"/>
          </a:ln>
        </p:spPr>
      </p:sp>
      <p:sp>
        <p:nvSpPr>
          <p:cNvPr id="21" name="Text 18"/>
          <p:cNvSpPr/>
          <p:nvPr/>
        </p:nvSpPr>
        <p:spPr>
          <a:xfrm>
            <a:off x="731520" y="3995928"/>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Collaborator invitation where applicable</a:t>
            </a:r>
            <a:endParaRPr lang="en-US" sz="1150" dirty="0"/>
          </a:p>
        </p:txBody>
      </p:sp>
      <p:sp>
        <p:nvSpPr>
          <p:cNvPr id="22" name="Shape 19"/>
          <p:cNvSpPr/>
          <p:nvPr/>
        </p:nvSpPr>
        <p:spPr>
          <a:xfrm>
            <a:off x="731520" y="4279392"/>
            <a:ext cx="6248095" cy="0"/>
          </a:xfrm>
          <a:prstGeom prst="line">
            <a:avLst/>
          </a:prstGeom>
          <a:noFill/>
          <a:ln w="9525">
            <a:solidFill>
              <a:srgbClr val="C9C0B2"/>
            </a:solidFill>
            <a:prstDash val="solid"/>
          </a:ln>
        </p:spPr>
      </p:sp>
      <p:sp>
        <p:nvSpPr>
          <p:cNvPr id="23" name="Text 20"/>
          <p:cNvSpPr/>
          <p:nvPr/>
        </p:nvSpPr>
        <p:spPr>
          <a:xfrm>
            <a:off x="731520" y="4279392"/>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Agent or brokerage attribution</a:t>
            </a:r>
            <a:endParaRPr lang="en-US" sz="1150" dirty="0"/>
          </a:p>
        </p:txBody>
      </p:sp>
      <p:sp>
        <p:nvSpPr>
          <p:cNvPr id="24" name="Shape 21"/>
          <p:cNvSpPr/>
          <p:nvPr/>
        </p:nvSpPr>
        <p:spPr>
          <a:xfrm>
            <a:off x="731520" y="4562856"/>
            <a:ext cx="6248095" cy="0"/>
          </a:xfrm>
          <a:prstGeom prst="line">
            <a:avLst/>
          </a:prstGeom>
          <a:noFill/>
          <a:ln w="9525">
            <a:solidFill>
              <a:srgbClr val="C9C0B2"/>
            </a:solidFill>
            <a:prstDash val="solid"/>
          </a:ln>
        </p:spPr>
      </p:sp>
      <p:sp>
        <p:nvSpPr>
          <p:cNvPr id="25" name="Text 22"/>
          <p:cNvSpPr/>
          <p:nvPr/>
        </p:nvSpPr>
        <p:spPr>
          <a:xfrm>
            <a:off x="731520" y="4562856"/>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Direct inquiry routing</a:t>
            </a:r>
            <a:endParaRPr lang="en-US" sz="1150" dirty="0"/>
          </a:p>
        </p:txBody>
      </p:sp>
      <p:sp>
        <p:nvSpPr>
          <p:cNvPr id="26" name="Shape 23"/>
          <p:cNvSpPr/>
          <p:nvPr/>
        </p:nvSpPr>
        <p:spPr>
          <a:xfrm>
            <a:off x="731520" y="4846320"/>
            <a:ext cx="6248095" cy="0"/>
          </a:xfrm>
          <a:prstGeom prst="line">
            <a:avLst/>
          </a:prstGeom>
          <a:noFill/>
          <a:ln w="9525">
            <a:solidFill>
              <a:srgbClr val="C9C0B2"/>
            </a:solidFill>
            <a:prstDash val="solid"/>
          </a:ln>
        </p:spPr>
      </p:sp>
      <p:sp>
        <p:nvSpPr>
          <p:cNvPr id="27" name="Text 24"/>
          <p:cNvSpPr/>
          <p:nvPr/>
        </p:nvSpPr>
        <p:spPr>
          <a:xfrm>
            <a:off x="731520" y="4846320"/>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Search-indexable permanent URL</a:t>
            </a:r>
            <a:endParaRPr lang="en-US" sz="1150" dirty="0"/>
          </a:p>
        </p:txBody>
      </p:sp>
      <p:sp>
        <p:nvSpPr>
          <p:cNvPr id="28" name="Shape 25"/>
          <p:cNvSpPr/>
          <p:nvPr/>
        </p:nvSpPr>
        <p:spPr>
          <a:xfrm>
            <a:off x="731520" y="5129784"/>
            <a:ext cx="6248095" cy="0"/>
          </a:xfrm>
          <a:prstGeom prst="line">
            <a:avLst/>
          </a:prstGeom>
          <a:noFill/>
          <a:ln w="9525">
            <a:solidFill>
              <a:srgbClr val="C9C0B2"/>
            </a:solidFill>
            <a:prstDash val="solid"/>
          </a:ln>
        </p:spPr>
      </p:sp>
      <p:sp>
        <p:nvSpPr>
          <p:cNvPr id="29" name="Text 26"/>
          <p:cNvSpPr/>
          <p:nvPr/>
        </p:nvSpPr>
        <p:spPr>
          <a:xfrm>
            <a:off x="731520" y="5129784"/>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Placement in the California, New York or Florida collection</a:t>
            </a:r>
            <a:endParaRPr lang="en-US" sz="1150" dirty="0"/>
          </a:p>
        </p:txBody>
      </p:sp>
      <p:sp>
        <p:nvSpPr>
          <p:cNvPr id="30" name="Shape 27"/>
          <p:cNvSpPr/>
          <p:nvPr/>
        </p:nvSpPr>
        <p:spPr>
          <a:xfrm>
            <a:off x="731520" y="5413248"/>
            <a:ext cx="6248095" cy="0"/>
          </a:xfrm>
          <a:prstGeom prst="line">
            <a:avLst/>
          </a:prstGeom>
          <a:noFill/>
          <a:ln w="9525">
            <a:solidFill>
              <a:srgbClr val="C9C0B2"/>
            </a:solidFill>
            <a:prstDash val="solid"/>
          </a:ln>
        </p:spPr>
      </p:sp>
      <p:sp>
        <p:nvSpPr>
          <p:cNvPr id="31" name="Text 28">
            <a:hlinkClick r:id="rId3" tooltip="matterofplace.com/submit"/>
          </p:cNvPr>
          <p:cNvSpPr/>
          <p:nvPr/>
        </p:nvSpPr>
        <p:spPr>
          <a:xfrm>
            <a:off x="731520" y="5989320"/>
            <a:ext cx="2743200" cy="274320"/>
          </a:xfrm>
          <a:prstGeom prst="rect">
            <a:avLst/>
          </a:prstGeom>
          <a:noFill/>
          <a:ln/>
        </p:spPr>
        <p:txBody>
          <a:bodyPr wrap="square" lIns="0" tIns="0" rIns="0" bIns="0" rtlCol="0" anchor="ctr"/>
          <a:lstStyle/>
          <a:p>
            <a:pPr indent="0" marL="0">
              <a:buNone/>
            </a:pPr>
            <a:r>
              <a:rPr lang="en-US" sz="900" u="sng" spc="250" kern="0" dirty="0">
                <a:solidFill>
                  <a:srgbClr val="11110F"/>
                </a:solidFill>
                <a:latin typeface="Jost" pitchFamily="34" charset="0"/>
                <a:ea typeface="Jost" pitchFamily="34" charset="-122"/>
                <a:cs typeface="Jost" pitchFamily="34" charset="-120"/>
                <a:hlinkClick r:id="rId3" invalidUrl="" action="" tgtFrame="" tooltip="matterofplace.com/submit" history="1" highlightClick="0" endSnd="0">
                  <a:extLst>
                    <a:ext uri="{A12FA001-AC4F-418D-AE19-62706E023703}">
                      <ahyp:hlinkClr xmlns:ahyp="http://schemas.microsoft.com/office/drawing/2018/hyperlinkcolor" val="tx"/>
                    </a:ext>
                  </a:extLst>
                </a:hlinkClick>
              </a:rPr>
              <a:t>Submit a Property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AE1"/>
        </a:solidFill>
      </p:bgPr>
    </p:bg>
    <p:spTree>
      <p:nvGrpSpPr>
        <p:cNvPr id="1" name=""/>
        <p:cNvGrpSpPr/>
        <p:nvPr/>
      </p:nvGrpSpPr>
      <p:grpSpPr>
        <a:xfrm>
          <a:off x="0" y="0"/>
          <a:ext cx="0" cy="0"/>
          <a:chOff x="0" y="0"/>
          <a:chExt cx="0" cy="0"/>
        </a:xfrm>
      </p:grpSpPr>
      <p:pic>
        <p:nvPicPr>
          <p:cNvPr id="2" name="Image 0" descr="E:/Matter Of Place/Matter Of Place Codebase/src/assets/gallery/fl-pavilion.jpg">    </p:cNvPr>
          <p:cNvPicPr>
            <a:picLocks noChangeAspect="1"/>
          </p:cNvPicPr>
          <p:nvPr/>
        </p:nvPicPr>
        <p:blipFill>
          <a:blip r:embed="rId1"/>
          <a:srcRect l="0" r="0" t="0" b="0"/>
          <a:stretch/>
        </p:blipFill>
        <p:spPr>
          <a:xfrm>
            <a:off x="0" y="0"/>
            <a:ext cx="4480560" cy="6858000"/>
          </a:xfrm>
          <a:prstGeom prst="rect">
            <a:avLst/>
          </a:prstGeom>
        </p:spPr>
      </p:pic>
      <p:sp>
        <p:nvSpPr>
          <p:cNvPr id="3" name="Text 0">
            <a:hlinkClick r:id="rId2" tooltip="Back to the agenda" action="ppaction://hlinksldjump"/>
          </p:cNvPr>
          <p:cNvSpPr/>
          <p:nvPr/>
        </p:nvSpPr>
        <p:spPr>
          <a:xfrm>
            <a:off x="103628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521208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3628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07 / 14</a:t>
            </a:r>
            <a:endParaRPr lang="en-US" sz="750" dirty="0"/>
          </a:p>
        </p:txBody>
      </p:sp>
      <p:sp>
        <p:nvSpPr>
          <p:cNvPr id="6" name="Text 3"/>
          <p:cNvSpPr/>
          <p:nvPr/>
        </p:nvSpPr>
        <p:spPr>
          <a:xfrm>
            <a:off x="521208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PROPERTY EXPOSURE</a:t>
            </a:r>
            <a:endParaRPr lang="en-US" sz="900" dirty="0"/>
          </a:p>
        </p:txBody>
      </p:sp>
      <p:sp>
        <p:nvSpPr>
          <p:cNvPr id="7" name="Text 4"/>
          <p:cNvSpPr/>
          <p:nvPr/>
        </p:nvSpPr>
        <p:spPr>
          <a:xfrm>
            <a:off x="7360920" y="850392"/>
            <a:ext cx="1234440" cy="256032"/>
          </a:xfrm>
          <a:prstGeom prst="rect">
            <a:avLst/>
          </a:prstGeom>
          <a:noFill/>
          <a:ln w="9525">
            <a:solidFill>
              <a:srgbClr val="11110F"/>
            </a:solidFill>
          </a:ln>
        </p:spPr>
        <p:txBody>
          <a:bodyPr wrap="square" lIns="0" tIns="0" rIns="0" bIns="0" rtlCol="0" anchor="ctr"/>
          <a:lstStyle/>
          <a:p>
            <a:pPr algn="ctr" indent="0" marL="0">
              <a:buNone/>
            </a:pPr>
            <a:r>
              <a:rPr lang="en-US" sz="750" spc="250" kern="0" dirty="0">
                <a:solidFill>
                  <a:srgbClr val="11110F"/>
                </a:solidFill>
                <a:latin typeface="Jost" pitchFamily="34" charset="0"/>
                <a:ea typeface="Jost" pitchFamily="34" charset="-122"/>
                <a:cs typeface="Jost" pitchFamily="34" charset="-120"/>
              </a:rPr>
              <a:t>RECOMMENDED</a:t>
            </a:r>
            <a:endParaRPr lang="en-US" sz="750" dirty="0"/>
          </a:p>
        </p:txBody>
      </p:sp>
      <p:sp>
        <p:nvSpPr>
          <p:cNvPr id="8" name="Text 5"/>
          <p:cNvSpPr/>
          <p:nvPr/>
        </p:nvSpPr>
        <p:spPr>
          <a:xfrm>
            <a:off x="5212080" y="1188720"/>
            <a:ext cx="44192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The Reach</a:t>
            </a:r>
            <a:endParaRPr lang="en-US" sz="3800" dirty="0"/>
          </a:p>
        </p:txBody>
      </p:sp>
      <p:sp>
        <p:nvSpPr>
          <p:cNvPr id="9" name="Text 6"/>
          <p:cNvSpPr/>
          <p:nvPr/>
        </p:nvSpPr>
        <p:spPr>
          <a:xfrm>
            <a:off x="9631375" y="1188720"/>
            <a:ext cx="1828800" cy="822960"/>
          </a:xfrm>
          <a:prstGeom prst="rect">
            <a:avLst/>
          </a:prstGeom>
          <a:noFill/>
          <a:ln/>
        </p:spPr>
        <p:txBody>
          <a:bodyPr wrap="square" lIns="0" tIns="0" rIns="0" bIns="0" rtlCol="0" anchor="t"/>
          <a:lstStyle/>
          <a:p>
            <a:pPr algn="r" indent="0" marL="0">
              <a:buNone/>
            </a:pPr>
            <a:r>
              <a:rPr lang="en-US" sz="3400" dirty="0">
                <a:solidFill>
                  <a:srgbClr val="11110F"/>
                </a:solidFill>
                <a:latin typeface="Cormorant Garamond" pitchFamily="34" charset="0"/>
                <a:ea typeface="Cormorant Garamond" pitchFamily="34" charset="-122"/>
                <a:cs typeface="Cormorant Garamond" pitchFamily="34" charset="-120"/>
              </a:rPr>
              <a:t>$695</a:t>
            </a:r>
            <a:endParaRPr lang="en-US" sz="3400" dirty="0"/>
          </a:p>
        </p:txBody>
      </p:sp>
      <p:sp>
        <p:nvSpPr>
          <p:cNvPr id="10" name="Text 7"/>
          <p:cNvSpPr/>
          <p:nvPr/>
        </p:nvSpPr>
        <p:spPr>
          <a:xfrm>
            <a:off x="5212080" y="1920240"/>
            <a:ext cx="6248095" cy="502920"/>
          </a:xfrm>
          <a:prstGeom prst="rect">
            <a:avLst/>
          </a:prstGeom>
          <a:noFill/>
          <a:ln/>
        </p:spPr>
        <p:txBody>
          <a:bodyPr wrap="square" lIns="0" tIns="0" rIns="0" bIns="0" rtlCol="0" anchor="t"/>
          <a:lstStyle/>
          <a:p>
            <a:pPr indent="0" marL="0">
              <a:buNone/>
            </a:pPr>
            <a:r>
              <a:rPr lang="en-US" sz="1500" i="1" dirty="0">
                <a:solidFill>
                  <a:srgbClr val="575751"/>
                </a:solidFill>
                <a:latin typeface="Cormorant Garamond" pitchFamily="34" charset="0"/>
                <a:ea typeface="Cormorant Garamond" pitchFamily="34" charset="-122"/>
                <a:cs typeface="Cormorant Garamond" pitchFamily="34" charset="-120"/>
              </a:rPr>
              <a:t>Editorial presence, expanded through precision distribution.</a:t>
            </a:r>
            <a:endParaRPr lang="en-US" sz="1500" dirty="0"/>
          </a:p>
        </p:txBody>
      </p:sp>
      <p:sp>
        <p:nvSpPr>
          <p:cNvPr id="11" name="Shape 8"/>
          <p:cNvSpPr/>
          <p:nvPr/>
        </p:nvSpPr>
        <p:spPr>
          <a:xfrm>
            <a:off x="5212080" y="2578608"/>
            <a:ext cx="6248095" cy="0"/>
          </a:xfrm>
          <a:prstGeom prst="line">
            <a:avLst/>
          </a:prstGeom>
          <a:noFill/>
          <a:ln w="9525">
            <a:solidFill>
              <a:srgbClr val="C9C0B2"/>
            </a:solidFill>
            <a:prstDash val="solid"/>
          </a:ln>
        </p:spPr>
      </p:sp>
      <p:sp>
        <p:nvSpPr>
          <p:cNvPr id="12" name="Text 9"/>
          <p:cNvSpPr/>
          <p:nvPr/>
        </p:nvSpPr>
        <p:spPr>
          <a:xfrm>
            <a:off x="5212080" y="2578608"/>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Everything in The Feature</a:t>
            </a:r>
            <a:endParaRPr lang="en-US" sz="1150" dirty="0"/>
          </a:p>
        </p:txBody>
      </p:sp>
      <p:sp>
        <p:nvSpPr>
          <p:cNvPr id="13" name="Shape 10"/>
          <p:cNvSpPr/>
          <p:nvPr/>
        </p:nvSpPr>
        <p:spPr>
          <a:xfrm>
            <a:off x="5212080" y="2862072"/>
            <a:ext cx="6248095" cy="0"/>
          </a:xfrm>
          <a:prstGeom prst="line">
            <a:avLst/>
          </a:prstGeom>
          <a:noFill/>
          <a:ln w="9525">
            <a:solidFill>
              <a:srgbClr val="C9C0B2"/>
            </a:solidFill>
            <a:prstDash val="solid"/>
          </a:ln>
        </p:spPr>
      </p:sp>
      <p:sp>
        <p:nvSpPr>
          <p:cNvPr id="14" name="Text 11"/>
          <p:cNvSpPr/>
          <p:nvPr/>
        </p:nvSpPr>
        <p:spPr>
          <a:xfrm>
            <a:off x="5212080" y="2862072"/>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Matter of Place Stories</a:t>
            </a:r>
            <a:endParaRPr lang="en-US" sz="1150" dirty="0"/>
          </a:p>
        </p:txBody>
      </p:sp>
      <p:sp>
        <p:nvSpPr>
          <p:cNvPr id="15" name="Shape 12"/>
          <p:cNvSpPr/>
          <p:nvPr/>
        </p:nvSpPr>
        <p:spPr>
          <a:xfrm>
            <a:off x="5212080" y="3145536"/>
            <a:ext cx="6248095" cy="0"/>
          </a:xfrm>
          <a:prstGeom prst="line">
            <a:avLst/>
          </a:prstGeom>
          <a:noFill/>
          <a:ln w="9525">
            <a:solidFill>
              <a:srgbClr val="C9C0B2"/>
            </a:solidFill>
            <a:prstDash val="solid"/>
          </a:ln>
        </p:spPr>
      </p:sp>
      <p:sp>
        <p:nvSpPr>
          <p:cNvPr id="16" name="Text 13"/>
          <p:cNvSpPr/>
          <p:nvPr/>
        </p:nvSpPr>
        <p:spPr>
          <a:xfrm>
            <a:off x="5212080" y="3145536"/>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Newsletter inclusion</a:t>
            </a:r>
            <a:endParaRPr lang="en-US" sz="1150" dirty="0"/>
          </a:p>
        </p:txBody>
      </p:sp>
      <p:sp>
        <p:nvSpPr>
          <p:cNvPr id="17" name="Shape 14"/>
          <p:cNvSpPr/>
          <p:nvPr/>
        </p:nvSpPr>
        <p:spPr>
          <a:xfrm>
            <a:off x="5212080" y="3429000"/>
            <a:ext cx="6248095" cy="0"/>
          </a:xfrm>
          <a:prstGeom prst="line">
            <a:avLst/>
          </a:prstGeom>
          <a:noFill/>
          <a:ln w="9525">
            <a:solidFill>
              <a:srgbClr val="C9C0B2"/>
            </a:solidFill>
            <a:prstDash val="solid"/>
          </a:ln>
        </p:spPr>
      </p:sp>
      <p:sp>
        <p:nvSpPr>
          <p:cNvPr id="18" name="Text 15"/>
          <p:cNvSpPr/>
          <p:nvPr/>
        </p:nvSpPr>
        <p:spPr>
          <a:xfrm>
            <a:off x="5212080" y="3429000"/>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Priority editorial scheduling</a:t>
            </a:r>
            <a:endParaRPr lang="en-US" sz="1150" dirty="0"/>
          </a:p>
        </p:txBody>
      </p:sp>
      <p:sp>
        <p:nvSpPr>
          <p:cNvPr id="19" name="Shape 16"/>
          <p:cNvSpPr/>
          <p:nvPr/>
        </p:nvSpPr>
        <p:spPr>
          <a:xfrm>
            <a:off x="5212080" y="3712464"/>
            <a:ext cx="6248095" cy="0"/>
          </a:xfrm>
          <a:prstGeom prst="line">
            <a:avLst/>
          </a:prstGeom>
          <a:noFill/>
          <a:ln w="9525">
            <a:solidFill>
              <a:srgbClr val="C9C0B2"/>
            </a:solidFill>
            <a:prstDash val="solid"/>
          </a:ln>
        </p:spPr>
      </p:sp>
      <p:sp>
        <p:nvSpPr>
          <p:cNvPr id="20" name="Text 17"/>
          <p:cNvSpPr/>
          <p:nvPr/>
        </p:nvSpPr>
        <p:spPr>
          <a:xfrm>
            <a:off x="5212080" y="3712464"/>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Homepage or market-page rotation</a:t>
            </a:r>
            <a:endParaRPr lang="en-US" sz="1150" dirty="0"/>
          </a:p>
        </p:txBody>
      </p:sp>
      <p:sp>
        <p:nvSpPr>
          <p:cNvPr id="21" name="Shape 18"/>
          <p:cNvSpPr/>
          <p:nvPr/>
        </p:nvSpPr>
        <p:spPr>
          <a:xfrm>
            <a:off x="5212080" y="3995928"/>
            <a:ext cx="6248095" cy="0"/>
          </a:xfrm>
          <a:prstGeom prst="line">
            <a:avLst/>
          </a:prstGeom>
          <a:noFill/>
          <a:ln w="9525">
            <a:solidFill>
              <a:srgbClr val="C9C0B2"/>
            </a:solidFill>
            <a:prstDash val="solid"/>
          </a:ln>
        </p:spPr>
      </p:sp>
      <p:sp>
        <p:nvSpPr>
          <p:cNvPr id="22" name="Text 19"/>
          <p:cNvSpPr/>
          <p:nvPr/>
        </p:nvSpPr>
        <p:spPr>
          <a:xfrm>
            <a:off x="5212080" y="3995928"/>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Additional social distribution</a:t>
            </a:r>
            <a:endParaRPr lang="en-US" sz="1150" dirty="0"/>
          </a:p>
        </p:txBody>
      </p:sp>
      <p:sp>
        <p:nvSpPr>
          <p:cNvPr id="23" name="Shape 20"/>
          <p:cNvSpPr/>
          <p:nvPr/>
        </p:nvSpPr>
        <p:spPr>
          <a:xfrm>
            <a:off x="5212080" y="4279392"/>
            <a:ext cx="6248095" cy="0"/>
          </a:xfrm>
          <a:prstGeom prst="line">
            <a:avLst/>
          </a:prstGeom>
          <a:noFill/>
          <a:ln w="9525">
            <a:solidFill>
              <a:srgbClr val="C9C0B2"/>
            </a:solidFill>
            <a:prstDash val="solid"/>
          </a:ln>
        </p:spPr>
      </p:sp>
      <p:sp>
        <p:nvSpPr>
          <p:cNvPr id="24" name="Text 21"/>
          <p:cNvSpPr/>
          <p:nvPr/>
        </p:nvSpPr>
        <p:spPr>
          <a:xfrm>
            <a:off x="5212080" y="4279392"/>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Programmatic campaign planning</a:t>
            </a:r>
            <a:endParaRPr lang="en-US" sz="1150" dirty="0"/>
          </a:p>
        </p:txBody>
      </p:sp>
      <p:sp>
        <p:nvSpPr>
          <p:cNvPr id="25" name="Shape 22"/>
          <p:cNvSpPr/>
          <p:nvPr/>
        </p:nvSpPr>
        <p:spPr>
          <a:xfrm>
            <a:off x="5212080" y="4562856"/>
            <a:ext cx="6248095" cy="0"/>
          </a:xfrm>
          <a:prstGeom prst="line">
            <a:avLst/>
          </a:prstGeom>
          <a:noFill/>
          <a:ln w="9525">
            <a:solidFill>
              <a:srgbClr val="C9C0B2"/>
            </a:solidFill>
            <a:prstDash val="solid"/>
          </a:ln>
        </p:spPr>
      </p:sp>
      <p:sp>
        <p:nvSpPr>
          <p:cNvPr id="26" name="Text 23"/>
          <p:cNvSpPr/>
          <p:nvPr/>
        </p:nvSpPr>
        <p:spPr>
          <a:xfrm>
            <a:off x="5212080" y="4562856"/>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Audience-targeting setup</a:t>
            </a:r>
            <a:endParaRPr lang="en-US" sz="1150" dirty="0"/>
          </a:p>
        </p:txBody>
      </p:sp>
      <p:sp>
        <p:nvSpPr>
          <p:cNvPr id="27" name="Shape 24"/>
          <p:cNvSpPr/>
          <p:nvPr/>
        </p:nvSpPr>
        <p:spPr>
          <a:xfrm>
            <a:off x="5212080" y="4846320"/>
            <a:ext cx="6248095" cy="0"/>
          </a:xfrm>
          <a:prstGeom prst="line">
            <a:avLst/>
          </a:prstGeom>
          <a:noFill/>
          <a:ln w="9525">
            <a:solidFill>
              <a:srgbClr val="C9C0B2"/>
            </a:solidFill>
            <a:prstDash val="solid"/>
          </a:ln>
        </p:spPr>
      </p:sp>
      <p:sp>
        <p:nvSpPr>
          <p:cNvPr id="28" name="Text 25"/>
          <p:cNvSpPr/>
          <p:nvPr/>
        </p:nvSpPr>
        <p:spPr>
          <a:xfrm>
            <a:off x="5212080" y="4846320"/>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Campaign reporting framework</a:t>
            </a:r>
            <a:endParaRPr lang="en-US" sz="1150" dirty="0"/>
          </a:p>
        </p:txBody>
      </p:sp>
      <p:sp>
        <p:nvSpPr>
          <p:cNvPr id="29" name="Shape 26"/>
          <p:cNvSpPr/>
          <p:nvPr/>
        </p:nvSpPr>
        <p:spPr>
          <a:xfrm>
            <a:off x="5212080" y="5129784"/>
            <a:ext cx="6248095" cy="0"/>
          </a:xfrm>
          <a:prstGeom prst="line">
            <a:avLst/>
          </a:prstGeom>
          <a:noFill/>
          <a:ln w="9525">
            <a:solidFill>
              <a:srgbClr val="C9C0B2"/>
            </a:solidFill>
            <a:prstDash val="solid"/>
          </a:ln>
        </p:spPr>
      </p:sp>
      <p:sp>
        <p:nvSpPr>
          <p:cNvPr id="30" name="Text 27"/>
          <p:cNvSpPr/>
          <p:nvPr/>
        </p:nvSpPr>
        <p:spPr>
          <a:xfrm>
            <a:off x="5212080" y="5129784"/>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Option to add programmatic media spend</a:t>
            </a:r>
            <a:endParaRPr lang="en-US" sz="1150" dirty="0"/>
          </a:p>
        </p:txBody>
      </p:sp>
      <p:sp>
        <p:nvSpPr>
          <p:cNvPr id="31" name="Shape 28"/>
          <p:cNvSpPr/>
          <p:nvPr/>
        </p:nvSpPr>
        <p:spPr>
          <a:xfrm>
            <a:off x="5212080" y="5413248"/>
            <a:ext cx="6248095" cy="0"/>
          </a:xfrm>
          <a:prstGeom prst="line">
            <a:avLst/>
          </a:prstGeom>
          <a:noFill/>
          <a:ln w="9525">
            <a:solidFill>
              <a:srgbClr val="C9C0B2"/>
            </a:solidFill>
            <a:prstDash val="solid"/>
          </a:ln>
        </p:spPr>
      </p:sp>
      <p:sp>
        <p:nvSpPr>
          <p:cNvPr id="32" name="Text 29"/>
          <p:cNvSpPr/>
          <p:nvPr/>
        </p:nvSpPr>
        <p:spPr>
          <a:xfrm>
            <a:off x="5212080" y="5596128"/>
            <a:ext cx="6248095" cy="274320"/>
          </a:xfrm>
          <a:prstGeom prst="rect">
            <a:avLst/>
          </a:prstGeom>
          <a:noFill/>
          <a:ln/>
        </p:spPr>
        <p:txBody>
          <a:bodyPr wrap="square" lIns="0" tIns="0" rIns="0" bIns="0" rtlCol="0" anchor="t"/>
          <a:lstStyle/>
          <a:p>
            <a:pPr indent="0" marL="0">
              <a:lnSpc>
                <a:spcPct val="125000"/>
              </a:lnSpc>
              <a:buNone/>
            </a:pPr>
            <a:r>
              <a:rPr lang="en-US" sz="1000" dirty="0">
                <a:solidFill>
                  <a:srgbClr val="575751"/>
                </a:solidFill>
                <a:latin typeface="Jost" pitchFamily="34" charset="0"/>
                <a:ea typeface="Jost" pitchFamily="34" charset="-122"/>
                <a:cs typeface="Jost" pitchFamily="34" charset="-120"/>
              </a:rPr>
              <a:t>Programmatic media spend is billed separately.</a:t>
            </a:r>
            <a:endParaRPr lang="en-US" sz="1000" dirty="0"/>
          </a:p>
        </p:txBody>
      </p:sp>
      <p:sp>
        <p:nvSpPr>
          <p:cNvPr id="33" name="Text 30">
            <a:hlinkClick r:id="rId3" tooltip="matterofplace.com/submit"/>
          </p:cNvPr>
          <p:cNvSpPr/>
          <p:nvPr/>
        </p:nvSpPr>
        <p:spPr>
          <a:xfrm>
            <a:off x="5212080" y="5989320"/>
            <a:ext cx="2743200" cy="274320"/>
          </a:xfrm>
          <a:prstGeom prst="rect">
            <a:avLst/>
          </a:prstGeom>
          <a:noFill/>
          <a:ln/>
        </p:spPr>
        <p:txBody>
          <a:bodyPr wrap="square" lIns="0" tIns="0" rIns="0" bIns="0" rtlCol="0" anchor="ctr"/>
          <a:lstStyle/>
          <a:p>
            <a:pPr indent="0" marL="0">
              <a:buNone/>
            </a:pPr>
            <a:r>
              <a:rPr lang="en-US" sz="900" u="sng" spc="250" kern="0" dirty="0">
                <a:solidFill>
                  <a:srgbClr val="11110F"/>
                </a:solidFill>
                <a:latin typeface="Jost" pitchFamily="34" charset="0"/>
                <a:ea typeface="Jost" pitchFamily="34" charset="-122"/>
                <a:cs typeface="Jost" pitchFamily="34" charset="-120"/>
                <a:hlinkClick r:id="rId3" invalidUrl="" action="" tgtFrame="" tooltip="matterofplace.com/submit" history="1" highlightClick="0" endSnd="0">
                  <a:extLst>
                    <a:ext uri="{A12FA001-AC4F-418D-AE19-62706E023703}">
                      <ahyp:hlinkClr xmlns:ahyp="http://schemas.microsoft.com/office/drawing/2018/hyperlinkcolor" val="tx"/>
                    </a:ext>
                  </a:extLst>
                </a:hlinkClick>
              </a:rPr>
              <a:t>Expand the Reach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B"/>
        </a:solidFill>
      </p:bgPr>
    </p:bg>
    <p:spTree>
      <p:nvGrpSpPr>
        <p:cNvPr id="1" name=""/>
        <p:cNvGrpSpPr/>
        <p:nvPr/>
      </p:nvGrpSpPr>
      <p:grpSpPr>
        <a:xfrm>
          <a:off x="0" y="0"/>
          <a:ext cx="0" cy="0"/>
          <a:chOff x="0" y="0"/>
          <a:chExt cx="0" cy="0"/>
        </a:xfrm>
      </p:grpSpPr>
      <p:pic>
        <p:nvPicPr>
          <p:cNvPr id="2" name="Image 0" descr="E:/Matter Of Place/Matter Of Place Codebase/src/assets/gallery/coast-terrace.jpg">    </p:cNvPr>
          <p:cNvPicPr>
            <a:picLocks noChangeAspect="1"/>
          </p:cNvPicPr>
          <p:nvPr/>
        </p:nvPicPr>
        <p:blipFill>
          <a:blip r:embed="rId1"/>
          <a:srcRect l="0" r="0" t="0" b="0"/>
          <a:stretch/>
        </p:blipFill>
        <p:spPr>
          <a:xfrm>
            <a:off x="7711135" y="0"/>
            <a:ext cx="4480560" cy="6858000"/>
          </a:xfrm>
          <a:prstGeom prst="rect">
            <a:avLst/>
          </a:prstGeom>
        </p:spPr>
      </p:pic>
      <p:sp>
        <p:nvSpPr>
          <p:cNvPr id="3" name="Text 0">
            <a:hlinkClick r:id="rId2" tooltip="Back to the agenda" action="ppaction://hlinksldjump"/>
          </p:cNvPr>
          <p:cNvSpPr/>
          <p:nvPr/>
        </p:nvSpPr>
        <p:spPr>
          <a:xfrm>
            <a:off x="588233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73152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588233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08 / 14</a:t>
            </a:r>
            <a:endParaRPr lang="en-US" sz="750" dirty="0"/>
          </a:p>
        </p:txBody>
      </p:sp>
      <p:sp>
        <p:nvSpPr>
          <p:cNvPr id="6" name="Text 3"/>
          <p:cNvSpPr/>
          <p:nvPr/>
        </p:nvSpPr>
        <p:spPr>
          <a:xfrm>
            <a:off x="73152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PROPERTY EXPOSURE</a:t>
            </a:r>
            <a:endParaRPr lang="en-US" sz="900" dirty="0"/>
          </a:p>
        </p:txBody>
      </p:sp>
      <p:sp>
        <p:nvSpPr>
          <p:cNvPr id="7" name="Text 4"/>
          <p:cNvSpPr/>
          <p:nvPr/>
        </p:nvSpPr>
        <p:spPr>
          <a:xfrm>
            <a:off x="731520" y="1188720"/>
            <a:ext cx="44192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The Campaign</a:t>
            </a:r>
            <a:endParaRPr lang="en-US" sz="3800" dirty="0"/>
          </a:p>
        </p:txBody>
      </p:sp>
      <p:sp>
        <p:nvSpPr>
          <p:cNvPr id="8" name="Text 5"/>
          <p:cNvSpPr/>
          <p:nvPr/>
        </p:nvSpPr>
        <p:spPr>
          <a:xfrm>
            <a:off x="5150815" y="1188720"/>
            <a:ext cx="1828800" cy="822960"/>
          </a:xfrm>
          <a:prstGeom prst="rect">
            <a:avLst/>
          </a:prstGeom>
          <a:noFill/>
          <a:ln/>
        </p:spPr>
        <p:txBody>
          <a:bodyPr wrap="square" lIns="0" tIns="0" rIns="0" bIns="0" rtlCol="0" anchor="t"/>
          <a:lstStyle/>
          <a:p>
            <a:pPr algn="r" indent="0" marL="0">
              <a:buNone/>
            </a:pPr>
            <a:r>
              <a:rPr lang="en-US" sz="3400" dirty="0">
                <a:solidFill>
                  <a:srgbClr val="11110F"/>
                </a:solidFill>
                <a:latin typeface="Cormorant Garamond" pitchFamily="34" charset="0"/>
                <a:ea typeface="Cormorant Garamond" pitchFamily="34" charset="-122"/>
                <a:cs typeface="Cormorant Garamond" pitchFamily="34" charset="-120"/>
              </a:rPr>
              <a:t>$1,495</a:t>
            </a:r>
            <a:endParaRPr lang="en-US" sz="3400" dirty="0"/>
          </a:p>
        </p:txBody>
      </p:sp>
      <p:sp>
        <p:nvSpPr>
          <p:cNvPr id="9" name="Text 6"/>
          <p:cNvSpPr/>
          <p:nvPr/>
        </p:nvSpPr>
        <p:spPr>
          <a:xfrm>
            <a:off x="731520" y="1920240"/>
            <a:ext cx="6248095" cy="502920"/>
          </a:xfrm>
          <a:prstGeom prst="rect">
            <a:avLst/>
          </a:prstGeom>
          <a:noFill/>
          <a:ln/>
        </p:spPr>
        <p:txBody>
          <a:bodyPr wrap="square" lIns="0" tIns="0" rIns="0" bIns="0" rtlCol="0" anchor="t"/>
          <a:lstStyle/>
          <a:p>
            <a:pPr indent="0" marL="0">
              <a:buNone/>
            </a:pPr>
            <a:r>
              <a:rPr lang="en-US" sz="1500" i="1" dirty="0">
                <a:solidFill>
                  <a:srgbClr val="575751"/>
                </a:solidFill>
                <a:latin typeface="Cormorant Garamond" pitchFamily="34" charset="0"/>
                <a:ea typeface="Cormorant Garamond" pitchFamily="34" charset="-122"/>
                <a:cs typeface="Cormorant Garamond" pitchFamily="34" charset="-120"/>
              </a:rPr>
              <a:t>A deeper, multi-channel property campaign.</a:t>
            </a:r>
            <a:endParaRPr lang="en-US" sz="1500" dirty="0"/>
          </a:p>
        </p:txBody>
      </p:sp>
      <p:sp>
        <p:nvSpPr>
          <p:cNvPr id="10" name="Text 7"/>
          <p:cNvSpPr/>
          <p:nvPr/>
        </p:nvSpPr>
        <p:spPr>
          <a:xfrm>
            <a:off x="731520" y="2487168"/>
            <a:ext cx="6248095" cy="274320"/>
          </a:xfrm>
          <a:prstGeom prst="rect">
            <a:avLst/>
          </a:prstGeom>
          <a:noFill/>
          <a:ln/>
        </p:spPr>
        <p:txBody>
          <a:bodyPr wrap="square" lIns="0" tIns="0" rIns="0" bIns="0" rtlCol="0" anchor="ctr"/>
          <a:lstStyle/>
          <a:p>
            <a:pPr indent="0" marL="0">
              <a:buNone/>
            </a:pPr>
            <a:r>
              <a:rPr lang="en-US" sz="1000" spc="50" kern="0" dirty="0">
                <a:solidFill>
                  <a:srgbClr val="575751"/>
                </a:solidFill>
                <a:latin typeface="Jost" pitchFamily="34" charset="0"/>
                <a:ea typeface="Jost" pitchFamily="34" charset="-122"/>
                <a:cs typeface="Jost" pitchFamily="34" charset="-120"/>
              </a:rPr>
              <a:t>Recommended media investment: $500 to $2,500+</a:t>
            </a:r>
            <a:endParaRPr lang="en-US" sz="1000" dirty="0"/>
          </a:p>
        </p:txBody>
      </p:sp>
      <p:sp>
        <p:nvSpPr>
          <p:cNvPr id="11" name="Shape 8"/>
          <p:cNvSpPr/>
          <p:nvPr/>
        </p:nvSpPr>
        <p:spPr>
          <a:xfrm>
            <a:off x="731520" y="2871216"/>
            <a:ext cx="6248095" cy="0"/>
          </a:xfrm>
          <a:prstGeom prst="line">
            <a:avLst/>
          </a:prstGeom>
          <a:noFill/>
          <a:ln w="9525">
            <a:solidFill>
              <a:srgbClr val="C9C0B2"/>
            </a:solidFill>
            <a:prstDash val="solid"/>
          </a:ln>
        </p:spPr>
      </p:sp>
      <p:sp>
        <p:nvSpPr>
          <p:cNvPr id="12" name="Text 9"/>
          <p:cNvSpPr/>
          <p:nvPr/>
        </p:nvSpPr>
        <p:spPr>
          <a:xfrm>
            <a:off x="731520" y="2871216"/>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Everything in The Reach</a:t>
            </a:r>
            <a:endParaRPr lang="en-US" sz="1150" dirty="0"/>
          </a:p>
        </p:txBody>
      </p:sp>
      <p:sp>
        <p:nvSpPr>
          <p:cNvPr id="13" name="Shape 10"/>
          <p:cNvSpPr/>
          <p:nvPr/>
        </p:nvSpPr>
        <p:spPr>
          <a:xfrm>
            <a:off x="731520" y="3154680"/>
            <a:ext cx="6248095" cy="0"/>
          </a:xfrm>
          <a:prstGeom prst="line">
            <a:avLst/>
          </a:prstGeom>
          <a:noFill/>
          <a:ln w="9525">
            <a:solidFill>
              <a:srgbClr val="C9C0B2"/>
            </a:solidFill>
            <a:prstDash val="solid"/>
          </a:ln>
        </p:spPr>
      </p:sp>
      <p:sp>
        <p:nvSpPr>
          <p:cNvPr id="14" name="Text 11"/>
          <p:cNvSpPr/>
          <p:nvPr/>
        </p:nvSpPr>
        <p:spPr>
          <a:xfrm>
            <a:off x="731520" y="3154680"/>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Deeper editorial research and an expanded property story</a:t>
            </a:r>
            <a:endParaRPr lang="en-US" sz="1150" dirty="0"/>
          </a:p>
        </p:txBody>
      </p:sp>
      <p:sp>
        <p:nvSpPr>
          <p:cNvPr id="15" name="Shape 12"/>
          <p:cNvSpPr/>
          <p:nvPr/>
        </p:nvSpPr>
        <p:spPr>
          <a:xfrm>
            <a:off x="731520" y="3438144"/>
            <a:ext cx="6248095" cy="0"/>
          </a:xfrm>
          <a:prstGeom prst="line">
            <a:avLst/>
          </a:prstGeom>
          <a:noFill/>
          <a:ln w="9525">
            <a:solidFill>
              <a:srgbClr val="C9C0B2"/>
            </a:solidFill>
            <a:prstDash val="solid"/>
          </a:ln>
        </p:spPr>
      </p:sp>
      <p:sp>
        <p:nvSpPr>
          <p:cNvPr id="16" name="Text 13"/>
          <p:cNvSpPr/>
          <p:nvPr/>
        </p:nvSpPr>
        <p:spPr>
          <a:xfrm>
            <a:off x="731520" y="3438144"/>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Multi-post editorial treatment</a:t>
            </a:r>
            <a:endParaRPr lang="en-US" sz="1150" dirty="0"/>
          </a:p>
        </p:txBody>
      </p:sp>
      <p:sp>
        <p:nvSpPr>
          <p:cNvPr id="17" name="Shape 14"/>
          <p:cNvSpPr/>
          <p:nvPr/>
        </p:nvSpPr>
        <p:spPr>
          <a:xfrm>
            <a:off x="731520" y="3721608"/>
            <a:ext cx="6248095" cy="0"/>
          </a:xfrm>
          <a:prstGeom prst="line">
            <a:avLst/>
          </a:prstGeom>
          <a:noFill/>
          <a:ln w="9525">
            <a:solidFill>
              <a:srgbClr val="C9C0B2"/>
            </a:solidFill>
            <a:prstDash val="solid"/>
          </a:ln>
        </p:spPr>
      </p:sp>
      <p:sp>
        <p:nvSpPr>
          <p:cNvPr id="18" name="Text 15"/>
          <p:cNvSpPr/>
          <p:nvPr/>
        </p:nvSpPr>
        <p:spPr>
          <a:xfrm>
            <a:off x="731520" y="3721608"/>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Short-form video or reel from supplied assets</a:t>
            </a:r>
            <a:endParaRPr lang="en-US" sz="1150" dirty="0"/>
          </a:p>
        </p:txBody>
      </p:sp>
      <p:sp>
        <p:nvSpPr>
          <p:cNvPr id="19" name="Shape 16"/>
          <p:cNvSpPr/>
          <p:nvPr/>
        </p:nvSpPr>
        <p:spPr>
          <a:xfrm>
            <a:off x="731520" y="4005072"/>
            <a:ext cx="6248095" cy="0"/>
          </a:xfrm>
          <a:prstGeom prst="line">
            <a:avLst/>
          </a:prstGeom>
          <a:noFill/>
          <a:ln w="9525">
            <a:solidFill>
              <a:srgbClr val="C9C0B2"/>
            </a:solidFill>
            <a:prstDash val="solid"/>
          </a:ln>
        </p:spPr>
      </p:sp>
      <p:sp>
        <p:nvSpPr>
          <p:cNvPr id="20" name="Text 17"/>
          <p:cNvSpPr/>
          <p:nvPr/>
        </p:nvSpPr>
        <p:spPr>
          <a:xfrm>
            <a:off x="731520" y="4005072"/>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Standalone property email</a:t>
            </a:r>
            <a:endParaRPr lang="en-US" sz="1150" dirty="0"/>
          </a:p>
        </p:txBody>
      </p:sp>
      <p:sp>
        <p:nvSpPr>
          <p:cNvPr id="21" name="Shape 18"/>
          <p:cNvSpPr/>
          <p:nvPr/>
        </p:nvSpPr>
        <p:spPr>
          <a:xfrm>
            <a:off x="731520" y="4288536"/>
            <a:ext cx="6248095" cy="0"/>
          </a:xfrm>
          <a:prstGeom prst="line">
            <a:avLst/>
          </a:prstGeom>
          <a:noFill/>
          <a:ln w="9525">
            <a:solidFill>
              <a:srgbClr val="C9C0B2"/>
            </a:solidFill>
            <a:prstDash val="solid"/>
          </a:ln>
        </p:spPr>
      </p:sp>
      <p:sp>
        <p:nvSpPr>
          <p:cNvPr id="22" name="Text 19"/>
          <p:cNvSpPr/>
          <p:nvPr/>
        </p:nvSpPr>
        <p:spPr>
          <a:xfrm>
            <a:off x="731520" y="4288536"/>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Priority homepage positioning</a:t>
            </a:r>
            <a:endParaRPr lang="en-US" sz="1150" dirty="0"/>
          </a:p>
        </p:txBody>
      </p:sp>
      <p:sp>
        <p:nvSpPr>
          <p:cNvPr id="23" name="Shape 20"/>
          <p:cNvSpPr/>
          <p:nvPr/>
        </p:nvSpPr>
        <p:spPr>
          <a:xfrm>
            <a:off x="731520" y="4572000"/>
            <a:ext cx="6248095" cy="0"/>
          </a:xfrm>
          <a:prstGeom prst="line">
            <a:avLst/>
          </a:prstGeom>
          <a:noFill/>
          <a:ln w="9525">
            <a:solidFill>
              <a:srgbClr val="C9C0B2"/>
            </a:solidFill>
            <a:prstDash val="solid"/>
          </a:ln>
        </p:spPr>
      </p:sp>
      <p:sp>
        <p:nvSpPr>
          <p:cNvPr id="24" name="Text 21"/>
          <p:cNvSpPr/>
          <p:nvPr/>
        </p:nvSpPr>
        <p:spPr>
          <a:xfrm>
            <a:off x="731520" y="4572000"/>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A 10 to 14 day campaign window</a:t>
            </a:r>
            <a:endParaRPr lang="en-US" sz="1150" dirty="0"/>
          </a:p>
        </p:txBody>
      </p:sp>
      <p:sp>
        <p:nvSpPr>
          <p:cNvPr id="25" name="Shape 22"/>
          <p:cNvSpPr/>
          <p:nvPr/>
        </p:nvSpPr>
        <p:spPr>
          <a:xfrm>
            <a:off x="731520" y="4855464"/>
            <a:ext cx="6248095" cy="0"/>
          </a:xfrm>
          <a:prstGeom prst="line">
            <a:avLst/>
          </a:prstGeom>
          <a:noFill/>
          <a:ln w="9525">
            <a:solidFill>
              <a:srgbClr val="C9C0B2"/>
            </a:solidFill>
            <a:prstDash val="solid"/>
          </a:ln>
        </p:spPr>
      </p:sp>
      <p:sp>
        <p:nvSpPr>
          <p:cNvPr id="26" name="Text 23"/>
          <p:cNvSpPr/>
          <p:nvPr/>
        </p:nvSpPr>
        <p:spPr>
          <a:xfrm>
            <a:off x="731520" y="4855464"/>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Multiple creative variants where appropriate</a:t>
            </a:r>
            <a:endParaRPr lang="en-US" sz="1150" dirty="0"/>
          </a:p>
        </p:txBody>
      </p:sp>
      <p:sp>
        <p:nvSpPr>
          <p:cNvPr id="27" name="Shape 24"/>
          <p:cNvSpPr/>
          <p:nvPr/>
        </p:nvSpPr>
        <p:spPr>
          <a:xfrm>
            <a:off x="731520" y="5138928"/>
            <a:ext cx="6248095" cy="0"/>
          </a:xfrm>
          <a:prstGeom prst="line">
            <a:avLst/>
          </a:prstGeom>
          <a:noFill/>
          <a:ln w="9525">
            <a:solidFill>
              <a:srgbClr val="C9C0B2"/>
            </a:solidFill>
            <a:prstDash val="solid"/>
          </a:ln>
        </p:spPr>
      </p:sp>
      <p:sp>
        <p:nvSpPr>
          <p:cNvPr id="28" name="Text 25"/>
          <p:cNvSpPr/>
          <p:nvPr/>
        </p:nvSpPr>
        <p:spPr>
          <a:xfrm>
            <a:off x="731520" y="5138928"/>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Programmatic media and retargeting strategy</a:t>
            </a:r>
            <a:endParaRPr lang="en-US" sz="1150" dirty="0"/>
          </a:p>
        </p:txBody>
      </p:sp>
      <p:sp>
        <p:nvSpPr>
          <p:cNvPr id="29" name="Shape 26"/>
          <p:cNvSpPr/>
          <p:nvPr/>
        </p:nvSpPr>
        <p:spPr>
          <a:xfrm>
            <a:off x="731520" y="5422392"/>
            <a:ext cx="6248095" cy="0"/>
          </a:xfrm>
          <a:prstGeom prst="line">
            <a:avLst/>
          </a:prstGeom>
          <a:noFill/>
          <a:ln w="9525">
            <a:solidFill>
              <a:srgbClr val="C9C0B2"/>
            </a:solidFill>
            <a:prstDash val="solid"/>
          </a:ln>
        </p:spPr>
      </p:sp>
      <p:sp>
        <p:nvSpPr>
          <p:cNvPr id="30" name="Text 27"/>
          <p:cNvSpPr/>
          <p:nvPr/>
        </p:nvSpPr>
        <p:spPr>
          <a:xfrm>
            <a:off x="731520" y="5422392"/>
            <a:ext cx="6248095" cy="283464"/>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Campaign optimization and post-campaign reporting</a:t>
            </a:r>
            <a:endParaRPr lang="en-US" sz="1150" dirty="0"/>
          </a:p>
        </p:txBody>
      </p:sp>
      <p:sp>
        <p:nvSpPr>
          <p:cNvPr id="31" name="Shape 28"/>
          <p:cNvSpPr/>
          <p:nvPr/>
        </p:nvSpPr>
        <p:spPr>
          <a:xfrm>
            <a:off x="731520" y="5705856"/>
            <a:ext cx="6248095" cy="0"/>
          </a:xfrm>
          <a:prstGeom prst="line">
            <a:avLst/>
          </a:prstGeom>
          <a:noFill/>
          <a:ln w="9525">
            <a:solidFill>
              <a:srgbClr val="C9C0B2"/>
            </a:solidFill>
            <a:prstDash val="solid"/>
          </a:ln>
        </p:spPr>
      </p:sp>
      <p:sp>
        <p:nvSpPr>
          <p:cNvPr id="32" name="Text 29">
            <a:hlinkClick r:id="rId3" tooltip="matterofplace.com/submit"/>
          </p:cNvPr>
          <p:cNvSpPr/>
          <p:nvPr/>
        </p:nvSpPr>
        <p:spPr>
          <a:xfrm>
            <a:off x="731520" y="5989320"/>
            <a:ext cx="2743200" cy="274320"/>
          </a:xfrm>
          <a:prstGeom prst="rect">
            <a:avLst/>
          </a:prstGeom>
          <a:noFill/>
          <a:ln/>
        </p:spPr>
        <p:txBody>
          <a:bodyPr wrap="square" lIns="0" tIns="0" rIns="0" bIns="0" rtlCol="0" anchor="ctr"/>
          <a:lstStyle/>
          <a:p>
            <a:pPr indent="0" marL="0">
              <a:buNone/>
            </a:pPr>
            <a:r>
              <a:rPr lang="en-US" sz="900" u="sng" spc="250" kern="0" dirty="0">
                <a:solidFill>
                  <a:srgbClr val="11110F"/>
                </a:solidFill>
                <a:latin typeface="Jost" pitchFamily="34" charset="0"/>
                <a:ea typeface="Jost" pitchFamily="34" charset="-122"/>
                <a:cs typeface="Jost" pitchFamily="34" charset="-120"/>
                <a:hlinkClick r:id="rId3" invalidUrl="" action="" tgtFrame="" tooltip="matterofplace.com/submit" history="1" highlightClick="0" endSnd="0">
                  <a:extLst>
                    <a:ext uri="{A12FA001-AC4F-418D-AE19-62706E023703}">
                      <ahyp:hlinkClr xmlns:ahyp="http://schemas.microsoft.com/office/drawing/2018/hyperlinkcolor" val="tx"/>
                    </a:ext>
                  </a:extLst>
                </a:hlinkClick>
              </a:rPr>
              <a:t>Build a Campaign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AE1"/>
        </a:solidFill>
      </p:bgPr>
    </p:bg>
    <p:spTree>
      <p:nvGrpSpPr>
        <p:cNvPr id="1" name=""/>
        <p:cNvGrpSpPr/>
        <p:nvPr/>
      </p:nvGrpSpPr>
      <p:grpSpPr>
        <a:xfrm>
          <a:off x="0" y="0"/>
          <a:ext cx="0" cy="0"/>
          <a:chOff x="0" y="0"/>
          <a:chExt cx="0" cy="0"/>
        </a:xfrm>
      </p:grpSpPr>
      <p:pic>
        <p:nvPicPr>
          <p:cNvPr id="2" name="Image 0" descr="E:/Matter Of Place/Matter Of Place Codebase/src/assets/brooklyn.jpg">    </p:cNvPr>
          <p:cNvPicPr>
            <a:picLocks noChangeAspect="1"/>
          </p:cNvPicPr>
          <p:nvPr/>
        </p:nvPicPr>
        <p:blipFill>
          <a:blip r:embed="rId1"/>
          <a:srcRect l="0" r="0" t="0" b="0"/>
          <a:stretch/>
        </p:blipFill>
        <p:spPr>
          <a:xfrm>
            <a:off x="0" y="0"/>
            <a:ext cx="4480560" cy="6858000"/>
          </a:xfrm>
          <a:prstGeom prst="rect">
            <a:avLst/>
          </a:prstGeom>
        </p:spPr>
      </p:pic>
      <p:sp>
        <p:nvSpPr>
          <p:cNvPr id="3" name="Text 0">
            <a:hlinkClick r:id="rId2" tooltip="Back to the agenda" action="ppaction://hlinksldjump"/>
          </p:cNvPr>
          <p:cNvSpPr/>
          <p:nvPr/>
        </p:nvSpPr>
        <p:spPr>
          <a:xfrm>
            <a:off x="103628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521208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3628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09 / 14</a:t>
            </a:r>
            <a:endParaRPr lang="en-US" sz="750" dirty="0"/>
          </a:p>
        </p:txBody>
      </p:sp>
      <p:sp>
        <p:nvSpPr>
          <p:cNvPr id="6" name="Text 3"/>
          <p:cNvSpPr/>
          <p:nvPr/>
        </p:nvSpPr>
        <p:spPr>
          <a:xfrm>
            <a:off x="521208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PROPERTY EXPOSURE</a:t>
            </a:r>
            <a:endParaRPr lang="en-US" sz="900" dirty="0"/>
          </a:p>
        </p:txBody>
      </p:sp>
      <p:sp>
        <p:nvSpPr>
          <p:cNvPr id="7" name="Text 4"/>
          <p:cNvSpPr/>
          <p:nvPr/>
        </p:nvSpPr>
        <p:spPr>
          <a:xfrm>
            <a:off x="5212080" y="1188720"/>
            <a:ext cx="44192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Five Features</a:t>
            </a:r>
            <a:endParaRPr lang="en-US" sz="3800" dirty="0"/>
          </a:p>
        </p:txBody>
      </p:sp>
      <p:sp>
        <p:nvSpPr>
          <p:cNvPr id="8" name="Text 5"/>
          <p:cNvSpPr/>
          <p:nvPr/>
        </p:nvSpPr>
        <p:spPr>
          <a:xfrm>
            <a:off x="9631375" y="1188720"/>
            <a:ext cx="1828800" cy="822960"/>
          </a:xfrm>
          <a:prstGeom prst="rect">
            <a:avLst/>
          </a:prstGeom>
          <a:noFill/>
          <a:ln/>
        </p:spPr>
        <p:txBody>
          <a:bodyPr wrap="square" lIns="0" tIns="0" rIns="0" bIns="0" rtlCol="0" anchor="t"/>
          <a:lstStyle/>
          <a:p>
            <a:pPr algn="r" indent="0" marL="0">
              <a:buNone/>
            </a:pPr>
            <a:r>
              <a:rPr lang="en-US" sz="3400" dirty="0">
                <a:solidFill>
                  <a:srgbClr val="11110F"/>
                </a:solidFill>
                <a:latin typeface="Cormorant Garamond" pitchFamily="34" charset="0"/>
                <a:ea typeface="Cormorant Garamond" pitchFamily="34" charset="-122"/>
                <a:cs typeface="Cormorant Garamond" pitchFamily="34" charset="-120"/>
              </a:rPr>
              <a:t>$1,250</a:t>
            </a:r>
            <a:endParaRPr lang="en-US" sz="3400" dirty="0"/>
          </a:p>
        </p:txBody>
      </p:sp>
      <p:sp>
        <p:nvSpPr>
          <p:cNvPr id="9" name="Text 6"/>
          <p:cNvSpPr/>
          <p:nvPr/>
        </p:nvSpPr>
        <p:spPr>
          <a:xfrm>
            <a:off x="5212080" y="1920240"/>
            <a:ext cx="6248095" cy="502920"/>
          </a:xfrm>
          <a:prstGeom prst="rect">
            <a:avLst/>
          </a:prstGeom>
          <a:noFill/>
          <a:ln/>
        </p:spPr>
        <p:txBody>
          <a:bodyPr wrap="square" lIns="0" tIns="0" rIns="0" bIns="0" rtlCol="0" anchor="t"/>
          <a:lstStyle/>
          <a:p>
            <a:pPr indent="0" marL="0">
              <a:buNone/>
            </a:pPr>
            <a:r>
              <a:rPr lang="en-US" sz="1500" i="1" dirty="0">
                <a:solidFill>
                  <a:srgbClr val="575751"/>
                </a:solidFill>
                <a:latin typeface="Cormorant Garamond" pitchFamily="34" charset="0"/>
                <a:ea typeface="Cormorant Garamond" pitchFamily="34" charset="-122"/>
                <a:cs typeface="Cormorant Garamond" pitchFamily="34" charset="-120"/>
              </a:rPr>
              <a:t>For agents, teams and brokerages with several qualifying properties.</a:t>
            </a:r>
            <a:endParaRPr lang="en-US" sz="1500" dirty="0"/>
          </a:p>
        </p:txBody>
      </p:sp>
      <p:sp>
        <p:nvSpPr>
          <p:cNvPr id="10" name="Text 7"/>
          <p:cNvSpPr/>
          <p:nvPr/>
        </p:nvSpPr>
        <p:spPr>
          <a:xfrm>
            <a:off x="5212080" y="2487168"/>
            <a:ext cx="6248095" cy="274320"/>
          </a:xfrm>
          <a:prstGeom prst="rect">
            <a:avLst/>
          </a:prstGeom>
          <a:noFill/>
          <a:ln/>
        </p:spPr>
        <p:txBody>
          <a:bodyPr wrap="square" lIns="0" tIns="0" rIns="0" bIns="0" rtlCol="0" anchor="ctr"/>
          <a:lstStyle/>
          <a:p>
            <a:pPr indent="0" marL="0">
              <a:buNone/>
            </a:pPr>
            <a:r>
              <a:rPr lang="en-US" sz="1000" spc="50" kern="0" dirty="0">
                <a:solidFill>
                  <a:srgbClr val="575751"/>
                </a:solidFill>
                <a:latin typeface="Jost" pitchFamily="34" charset="0"/>
                <a:ea typeface="Jost" pitchFamily="34" charset="-122"/>
                <a:cs typeface="Jost" pitchFamily="34" charset="-120"/>
              </a:rPr>
              <a:t>$250 per property</a:t>
            </a:r>
            <a:endParaRPr lang="en-US" sz="1000" dirty="0"/>
          </a:p>
        </p:txBody>
      </p:sp>
      <p:sp>
        <p:nvSpPr>
          <p:cNvPr id="11" name="Shape 8"/>
          <p:cNvSpPr/>
          <p:nvPr/>
        </p:nvSpPr>
        <p:spPr>
          <a:xfrm>
            <a:off x="5212080" y="2871216"/>
            <a:ext cx="6248095" cy="0"/>
          </a:xfrm>
          <a:prstGeom prst="line">
            <a:avLst/>
          </a:prstGeom>
          <a:noFill/>
          <a:ln w="9525">
            <a:solidFill>
              <a:srgbClr val="C9C0B2"/>
            </a:solidFill>
            <a:prstDash val="solid"/>
          </a:ln>
        </p:spPr>
      </p:sp>
      <p:sp>
        <p:nvSpPr>
          <p:cNvPr id="12" name="Text 9"/>
          <p:cNvSpPr/>
          <p:nvPr/>
        </p:nvSpPr>
        <p:spPr>
          <a:xfrm>
            <a:off x="5212080" y="2871216"/>
            <a:ext cx="6248095" cy="384048"/>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Five Feature credits</a:t>
            </a:r>
            <a:endParaRPr lang="en-US" sz="1150" dirty="0"/>
          </a:p>
        </p:txBody>
      </p:sp>
      <p:sp>
        <p:nvSpPr>
          <p:cNvPr id="13" name="Shape 10"/>
          <p:cNvSpPr/>
          <p:nvPr/>
        </p:nvSpPr>
        <p:spPr>
          <a:xfrm>
            <a:off x="5212080" y="3255264"/>
            <a:ext cx="6248095" cy="0"/>
          </a:xfrm>
          <a:prstGeom prst="line">
            <a:avLst/>
          </a:prstGeom>
          <a:noFill/>
          <a:ln w="9525">
            <a:solidFill>
              <a:srgbClr val="C9C0B2"/>
            </a:solidFill>
            <a:prstDash val="solid"/>
          </a:ln>
        </p:spPr>
      </p:sp>
      <p:sp>
        <p:nvSpPr>
          <p:cNvPr id="14" name="Text 11"/>
          <p:cNvSpPr/>
          <p:nvPr/>
        </p:nvSpPr>
        <p:spPr>
          <a:xfrm>
            <a:off x="5212080" y="3255264"/>
            <a:ext cx="6248095" cy="384048"/>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No expiration during the initial launch period</a:t>
            </a:r>
            <a:endParaRPr lang="en-US" sz="1150" dirty="0"/>
          </a:p>
        </p:txBody>
      </p:sp>
      <p:sp>
        <p:nvSpPr>
          <p:cNvPr id="15" name="Shape 12"/>
          <p:cNvSpPr/>
          <p:nvPr/>
        </p:nvSpPr>
        <p:spPr>
          <a:xfrm>
            <a:off x="5212080" y="3639312"/>
            <a:ext cx="6248095" cy="0"/>
          </a:xfrm>
          <a:prstGeom prst="line">
            <a:avLst/>
          </a:prstGeom>
          <a:noFill/>
          <a:ln w="9525">
            <a:solidFill>
              <a:srgbClr val="C9C0B2"/>
            </a:solidFill>
            <a:prstDash val="solid"/>
          </a:ln>
        </p:spPr>
      </p:sp>
      <p:sp>
        <p:nvSpPr>
          <p:cNvPr id="16" name="Text 13"/>
          <p:cNvSpPr/>
          <p:nvPr/>
        </p:nvSpPr>
        <p:spPr>
          <a:xfrm>
            <a:off x="5212080" y="3639312"/>
            <a:ext cx="6248095" cy="384048"/>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Submit properties individually</a:t>
            </a:r>
            <a:endParaRPr lang="en-US" sz="1150" dirty="0"/>
          </a:p>
        </p:txBody>
      </p:sp>
      <p:sp>
        <p:nvSpPr>
          <p:cNvPr id="17" name="Shape 14"/>
          <p:cNvSpPr/>
          <p:nvPr/>
        </p:nvSpPr>
        <p:spPr>
          <a:xfrm>
            <a:off x="5212080" y="4023360"/>
            <a:ext cx="6248095" cy="0"/>
          </a:xfrm>
          <a:prstGeom prst="line">
            <a:avLst/>
          </a:prstGeom>
          <a:noFill/>
          <a:ln w="9525">
            <a:solidFill>
              <a:srgbClr val="C9C0B2"/>
            </a:solidFill>
            <a:prstDash val="solid"/>
          </a:ln>
        </p:spPr>
      </p:sp>
      <p:sp>
        <p:nvSpPr>
          <p:cNvPr id="18" name="Text 15"/>
          <p:cNvSpPr/>
          <p:nvPr/>
        </p:nvSpPr>
        <p:spPr>
          <a:xfrm>
            <a:off x="5212080" y="4023360"/>
            <a:ext cx="6248095" cy="384048"/>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Every property remains subject to editorial approval</a:t>
            </a:r>
            <a:endParaRPr lang="en-US" sz="1150" dirty="0"/>
          </a:p>
        </p:txBody>
      </p:sp>
      <p:sp>
        <p:nvSpPr>
          <p:cNvPr id="19" name="Shape 16"/>
          <p:cNvSpPr/>
          <p:nvPr/>
        </p:nvSpPr>
        <p:spPr>
          <a:xfrm>
            <a:off x="5212080" y="4407408"/>
            <a:ext cx="6248095" cy="0"/>
          </a:xfrm>
          <a:prstGeom prst="line">
            <a:avLst/>
          </a:prstGeom>
          <a:noFill/>
          <a:ln w="9525">
            <a:solidFill>
              <a:srgbClr val="C9C0B2"/>
            </a:solidFill>
            <a:prstDash val="solid"/>
          </a:ln>
        </p:spPr>
      </p:sp>
      <p:sp>
        <p:nvSpPr>
          <p:cNvPr id="20" name="Text 17"/>
          <p:cNvSpPr/>
          <p:nvPr/>
        </p:nvSpPr>
        <p:spPr>
          <a:xfrm>
            <a:off x="5212080" y="4407408"/>
            <a:ext cx="6248095" cy="384048"/>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Declined properties do not use a credit</a:t>
            </a:r>
            <a:endParaRPr lang="en-US" sz="1150" dirty="0"/>
          </a:p>
        </p:txBody>
      </p:sp>
      <p:sp>
        <p:nvSpPr>
          <p:cNvPr id="21" name="Shape 18"/>
          <p:cNvSpPr/>
          <p:nvPr/>
        </p:nvSpPr>
        <p:spPr>
          <a:xfrm>
            <a:off x="5212080" y="4791456"/>
            <a:ext cx="6248095" cy="0"/>
          </a:xfrm>
          <a:prstGeom prst="line">
            <a:avLst/>
          </a:prstGeom>
          <a:noFill/>
          <a:ln w="9525">
            <a:solidFill>
              <a:srgbClr val="C9C0B2"/>
            </a:solidFill>
            <a:prstDash val="solid"/>
          </a:ln>
        </p:spPr>
      </p:sp>
      <p:sp>
        <p:nvSpPr>
          <p:cNvPr id="22" name="Text 19"/>
          <p:cNvSpPr/>
          <p:nvPr/>
        </p:nvSpPr>
        <p:spPr>
          <a:xfrm>
            <a:off x="5212080" y="4791456"/>
            <a:ext cx="6248095" cy="384048"/>
          </a:xfrm>
          <a:prstGeom prst="rect">
            <a:avLst/>
          </a:prstGeom>
          <a:noFill/>
          <a:ln/>
        </p:spPr>
        <p:txBody>
          <a:bodyPr wrap="square" lIns="0" tIns="0" rIns="0" bIns="0" rtlCol="0" anchor="ctr"/>
          <a:lstStyle/>
          <a:p>
            <a:pPr indent="0" marL="0">
              <a:buNone/>
            </a:pPr>
            <a:r>
              <a:rPr lang="en-US" sz="1150" dirty="0">
                <a:solidFill>
                  <a:srgbClr val="11110F"/>
                </a:solidFill>
                <a:latin typeface="Jost" pitchFamily="34" charset="0"/>
                <a:ea typeface="Jost" pitchFamily="34" charset="-122"/>
                <a:cs typeface="Jost" pitchFamily="34" charset="-120"/>
              </a:rPr>
              <a:t>Distribution upgrades available per property</a:t>
            </a:r>
            <a:endParaRPr lang="en-US" sz="1150" dirty="0"/>
          </a:p>
        </p:txBody>
      </p:sp>
      <p:sp>
        <p:nvSpPr>
          <p:cNvPr id="23" name="Shape 20"/>
          <p:cNvSpPr/>
          <p:nvPr/>
        </p:nvSpPr>
        <p:spPr>
          <a:xfrm>
            <a:off x="5212080" y="5175504"/>
            <a:ext cx="6248095" cy="0"/>
          </a:xfrm>
          <a:prstGeom prst="line">
            <a:avLst/>
          </a:prstGeom>
          <a:noFill/>
          <a:ln w="9525">
            <a:solidFill>
              <a:srgbClr val="C9C0B2"/>
            </a:solidFill>
            <a:prstDash val="solid"/>
          </a:ln>
        </p:spPr>
      </p:sp>
      <p:sp>
        <p:nvSpPr>
          <p:cNvPr id="24" name="Text 21">
            <a:hlinkClick r:id="rId3" tooltip="matterofplace.com/submit"/>
          </p:cNvPr>
          <p:cNvSpPr/>
          <p:nvPr/>
        </p:nvSpPr>
        <p:spPr>
          <a:xfrm>
            <a:off x="5212080" y="5989320"/>
            <a:ext cx="2743200" cy="274320"/>
          </a:xfrm>
          <a:prstGeom prst="rect">
            <a:avLst/>
          </a:prstGeom>
          <a:noFill/>
          <a:ln/>
        </p:spPr>
        <p:txBody>
          <a:bodyPr wrap="square" lIns="0" tIns="0" rIns="0" bIns="0" rtlCol="0" anchor="ctr"/>
          <a:lstStyle/>
          <a:p>
            <a:pPr indent="0" marL="0">
              <a:buNone/>
            </a:pPr>
            <a:r>
              <a:rPr lang="en-US" sz="900" u="sng" spc="250" kern="0" dirty="0">
                <a:solidFill>
                  <a:srgbClr val="11110F"/>
                </a:solidFill>
                <a:latin typeface="Jost" pitchFamily="34" charset="0"/>
                <a:ea typeface="Jost" pitchFamily="34" charset="-122"/>
                <a:cs typeface="Jost" pitchFamily="34" charset="-120"/>
                <a:hlinkClick r:id="rId3" invalidUrl="" action="" tgtFrame="" tooltip="matterofplace.com/submit" history="1" highlightClick="0" endSnd="0">
                  <a:extLst>
                    <a:ext uri="{A12FA001-AC4F-418D-AE19-62706E023703}">
                      <ahyp:hlinkClr xmlns:ahyp="http://schemas.microsoft.com/office/drawing/2018/hyperlinkcolor" val="tx"/>
                    </a:ext>
                  </a:extLst>
                </a:hlinkClick>
              </a:rPr>
              <a:t>Secure Five Features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B"/>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p:nvPr/>
        </p:nvSpPr>
        <p:spPr>
          <a:xfrm>
            <a:off x="105914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1"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3" name="Text 1"/>
          <p:cNvSpPr/>
          <p:nvPr/>
        </p:nvSpPr>
        <p:spPr>
          <a:xfrm>
            <a:off x="54864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4" name="Text 2"/>
          <p:cNvSpPr/>
          <p:nvPr/>
        </p:nvSpPr>
        <p:spPr>
          <a:xfrm>
            <a:off x="105914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10 / 14</a:t>
            </a:r>
            <a:endParaRPr lang="en-US" sz="750" dirty="0"/>
          </a:p>
        </p:txBody>
      </p:sp>
      <p:sp>
        <p:nvSpPr>
          <p:cNvPr id="5" name="Text 3"/>
          <p:cNvSpPr/>
          <p:nvPr/>
        </p:nvSpPr>
        <p:spPr>
          <a:xfrm>
            <a:off x="73152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PROPERTY EXPOSURE</a:t>
            </a:r>
            <a:endParaRPr lang="en-US" sz="900" dirty="0"/>
          </a:p>
        </p:txBody>
      </p:sp>
      <p:sp>
        <p:nvSpPr>
          <p:cNvPr id="6" name="Text 4"/>
          <p:cNvSpPr/>
          <p:nvPr/>
        </p:nvSpPr>
        <p:spPr>
          <a:xfrm>
            <a:off x="731520" y="1188720"/>
            <a:ext cx="9144000"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The four products, side by side.</a:t>
            </a:r>
            <a:endParaRPr lang="en-US" sz="3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10728655" cy="914400"/>
        </p:xfrm>
        <a:graphic>
          <a:graphicData uri="http://schemas.openxmlformats.org/drawingml/2006/table">
            <a:tbl>
              <a:tblPr/>
              <a:tblGrid>
                <a:gridCol w="1371600"/>
                <a:gridCol w="2468880"/>
                <a:gridCol w="2468880"/>
                <a:gridCol w="2468880"/>
                <a:gridCol w="1950415"/>
              </a:tblGrid>
              <a:tr h="566928">
                <a:tc>
                  <a:txBody>
                    <a:bodyPr/>
                    <a:lstStyle/>
                    <a:p>
                      <a:pPr indent="0" marL="0">
                        <a:buNone/>
                      </a:pP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The Feature</a:t>
                      </a:r>
                      <a:endParaRPr lang="en-US" sz="18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The Reach</a:t>
                      </a:r>
                      <a:endParaRPr lang="en-US" sz="1800" dirty="0">
                        <a:latin typeface="Cormorant Garamond" charset="0"/>
                        <a:ea typeface="Cormorant Garamond" charset="0"/>
                        <a:cs typeface="Cormorant Garamond" charset="0"/>
                      </a:endParaRPr>
                    </a:p>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Recommended</a:t>
                      </a:r>
                      <a:endParaRPr lang="en-US" sz="18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The Campaign</a:t>
                      </a:r>
                      <a:endParaRPr lang="en-US" sz="18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800" dirty="0">
                          <a:solidFill>
                            <a:srgbClr val="11110F"/>
                          </a:solidFill>
                          <a:latin typeface="Cormorant Garamond" pitchFamily="34" charset="0"/>
                          <a:ea typeface="Cormorant Garamond" pitchFamily="34" charset="-122"/>
                          <a:cs typeface="Cormorant Garamond" pitchFamily="34" charset="-120"/>
                        </a:rPr>
                        <a:t>Five Features</a:t>
                      </a:r>
                      <a:endParaRPr lang="en-US" sz="18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r h="457200">
                <a:tc>
                  <a:txBody>
                    <a:bodyPr/>
                    <a:lstStyle/>
                    <a:p>
                      <a:pPr indent="0" marL="0">
                        <a:buNone/>
                      </a:pPr>
                      <a:r>
                        <a:rPr lang="en-US" sz="800" spc="200" kern="0" dirty="0">
                          <a:solidFill>
                            <a:srgbClr val="8B877F"/>
                          </a:solidFill>
                          <a:latin typeface="Jost" pitchFamily="34" charset="0"/>
                          <a:ea typeface="Jost" pitchFamily="34" charset="-122"/>
                          <a:cs typeface="Jost" pitchFamily="34" charset="-120"/>
                        </a:rPr>
                        <a:t>PRICE</a:t>
                      </a:r>
                      <a:endParaRPr lang="en-US" sz="80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2000" dirty="0">
                          <a:solidFill>
                            <a:srgbClr val="11110F"/>
                          </a:solidFill>
                          <a:latin typeface="Cormorant Garamond" pitchFamily="34" charset="0"/>
                          <a:ea typeface="Cormorant Garamond" pitchFamily="34" charset="-122"/>
                          <a:cs typeface="Cormorant Garamond" pitchFamily="34" charset="-120"/>
                        </a:rPr>
                        <a:t>$295</a:t>
                      </a:r>
                      <a:endParaRPr lang="en-US" sz="20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2000" dirty="0">
                          <a:solidFill>
                            <a:srgbClr val="11110F"/>
                          </a:solidFill>
                          <a:latin typeface="Cormorant Garamond" pitchFamily="34" charset="0"/>
                          <a:ea typeface="Cormorant Garamond" pitchFamily="34" charset="-122"/>
                          <a:cs typeface="Cormorant Garamond" pitchFamily="34" charset="-120"/>
                        </a:rPr>
                        <a:t>$695</a:t>
                      </a:r>
                      <a:endParaRPr lang="en-US" sz="20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2000" dirty="0">
                          <a:solidFill>
                            <a:srgbClr val="11110F"/>
                          </a:solidFill>
                          <a:latin typeface="Cormorant Garamond" pitchFamily="34" charset="0"/>
                          <a:ea typeface="Cormorant Garamond" pitchFamily="34" charset="-122"/>
                          <a:cs typeface="Cormorant Garamond" pitchFamily="34" charset="-120"/>
                        </a:rPr>
                        <a:t>$1,495</a:t>
                      </a:r>
                      <a:endParaRPr lang="en-US" sz="20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2000" dirty="0">
                          <a:solidFill>
                            <a:srgbClr val="11110F"/>
                          </a:solidFill>
                          <a:latin typeface="Cormorant Garamond" pitchFamily="34" charset="0"/>
                          <a:ea typeface="Cormorant Garamond" pitchFamily="34" charset="-122"/>
                          <a:cs typeface="Cormorant Garamond" pitchFamily="34" charset="-120"/>
                        </a:rPr>
                        <a:t>$1,250</a:t>
                      </a:r>
                      <a:endParaRPr lang="en-US" sz="2000" dirty="0">
                        <a:latin typeface="Cormorant Garamond" charset="0"/>
                        <a:ea typeface="Cormorant Garamond" charset="0"/>
                        <a:cs typeface="Cormorant Garamond"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r h="566928">
                <a:tc>
                  <a:txBody>
                    <a:bodyPr/>
                    <a:lstStyle/>
                    <a:p>
                      <a:pPr indent="0" marL="0">
                        <a:buNone/>
                      </a:pPr>
                      <a:r>
                        <a:rPr lang="en-US" sz="800" spc="200" kern="0" dirty="0">
                          <a:solidFill>
                            <a:srgbClr val="8B877F"/>
                          </a:solidFill>
                          <a:latin typeface="Jost" pitchFamily="34" charset="0"/>
                          <a:ea typeface="Jost" pitchFamily="34" charset="-122"/>
                          <a:cs typeface="Jost" pitchFamily="34" charset="-120"/>
                        </a:rPr>
                        <a:t>PURPOSE</a:t>
                      </a:r>
                      <a:endParaRPr lang="en-US" sz="80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Editorial presence.</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Editorial presence, expanded through precision distribution.</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A deeper, multi-channel property campaign.</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For agents, teams and brokerages with several qualifying properties.</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r h="411480">
                <a:tc>
                  <a:txBody>
                    <a:bodyPr/>
                    <a:lstStyle/>
                    <a:p>
                      <a:pPr indent="0" marL="0">
                        <a:buNone/>
                      </a:pPr>
                      <a:r>
                        <a:rPr lang="en-US" sz="800" spc="200" kern="0" dirty="0">
                          <a:solidFill>
                            <a:srgbClr val="8B877F"/>
                          </a:solidFill>
                          <a:latin typeface="Jost" pitchFamily="34" charset="0"/>
                          <a:ea typeface="Jost" pitchFamily="34" charset="-122"/>
                          <a:cs typeface="Jost" pitchFamily="34" charset="-120"/>
                        </a:rPr>
                        <a:t>BUILDS ON</a:t>
                      </a:r>
                      <a:endParaRPr lang="en-US" sz="80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A permanent editorial page</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Everything in The Feature</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Everything in The Reach</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Five Feature credits</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r h="713232">
                <a:tc>
                  <a:txBody>
                    <a:bodyPr/>
                    <a:lstStyle/>
                    <a:p>
                      <a:pPr indent="0" marL="0">
                        <a:buNone/>
                      </a:pPr>
                      <a:r>
                        <a:rPr lang="en-US" sz="800" spc="200" kern="0" dirty="0">
                          <a:solidFill>
                            <a:srgbClr val="8B877F"/>
                          </a:solidFill>
                          <a:latin typeface="Jost" pitchFamily="34" charset="0"/>
                          <a:ea typeface="Jost" pitchFamily="34" charset="-122"/>
                          <a:cs typeface="Jost" pitchFamily="34" charset="-120"/>
                        </a:rPr>
                        <a:t>ADDS</a:t>
                      </a:r>
                      <a:endParaRPr lang="en-US" sz="80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Narrative, image sequencing, social carousel, attribution, inquiry routing</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Stories, newsletter, priority scheduling, campaign planning</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Expanded story, short-form video, standalone email, 10 to 14 day window</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Submit properties individually; distribution upgrades per property</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r h="502920">
                <a:tc>
                  <a:txBody>
                    <a:bodyPr/>
                    <a:lstStyle/>
                    <a:p>
                      <a:pPr indent="0" marL="0">
                        <a:buNone/>
                      </a:pPr>
                      <a:r>
                        <a:rPr lang="en-US" sz="800" spc="200" kern="0" dirty="0">
                          <a:solidFill>
                            <a:srgbClr val="8B877F"/>
                          </a:solidFill>
                          <a:latin typeface="Jost" pitchFamily="34" charset="0"/>
                          <a:ea typeface="Jost" pitchFamily="34" charset="-122"/>
                          <a:cs typeface="Jost" pitchFamily="34" charset="-120"/>
                        </a:rPr>
                        <a:t>PAID MEDIA</a:t>
                      </a:r>
                      <a:endParaRPr lang="en-US" sz="80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Not part of The Feature</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Optional, billed separately</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Recommended media investment: $500 to $2,500+, billed separately</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Per property, billed separately</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r h="384048">
                <a:tc>
                  <a:txBody>
                    <a:bodyPr/>
                    <a:lstStyle/>
                    <a:p>
                      <a:pPr indent="0" marL="0">
                        <a:buNone/>
                      </a:pPr>
                      <a:r>
                        <a:rPr lang="en-US" sz="800" spc="200" kern="0" dirty="0">
                          <a:solidFill>
                            <a:srgbClr val="8B877F"/>
                          </a:solidFill>
                          <a:latin typeface="Jost" pitchFamily="34" charset="0"/>
                          <a:ea typeface="Jost" pitchFamily="34" charset="-122"/>
                          <a:cs typeface="Jost" pitchFamily="34" charset="-120"/>
                        </a:rPr>
                        <a:t>PER PROPERTY</a:t>
                      </a:r>
                      <a:endParaRPr lang="en-US" sz="80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$295</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$695</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$1,495</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c>
                  <a:txBody>
                    <a:bodyPr/>
                    <a:lstStyle/>
                    <a:p>
                      <a:pPr indent="0" marL="0">
                        <a:buNone/>
                      </a:pPr>
                      <a:r>
                        <a:rPr lang="en-US" sz="1050" dirty="0">
                          <a:solidFill>
                            <a:srgbClr val="575751"/>
                          </a:solidFill>
                          <a:latin typeface="Jost" pitchFamily="34" charset="0"/>
                          <a:ea typeface="Jost" pitchFamily="34" charset="-122"/>
                          <a:cs typeface="Jost" pitchFamily="34" charset="-120"/>
                        </a:rPr>
                        <a:t>$250 per property</a:t>
                      </a:r>
                      <a:endParaRPr lang="en-US" sz="1050" dirty="0">
                        <a:latin typeface="Jost" charset="0"/>
                        <a:ea typeface="Jost" charset="0"/>
                        <a:cs typeface="Jost" charset="0"/>
                      </a:endParaRPr>
                    </a:p>
                  </a:txBody>
                  <a:tcPr marL="0" marR="109728" marT="73152" marB="73152" anchor="t">
                    <a:lnL w="9525" cap="flat" cmpd="sng" algn="ctr">
                      <a:solidFill>
                        <a:srgbClr val="C9C0B2"/>
                      </a:solidFill>
                      <a:prstDash val="solid"/>
                      <a:round/>
                      <a:headEnd type="none" w="med" len="med"/>
                      <a:tailEnd type="none" w="med" len="med"/>
                    </a:lnL>
                    <a:lnR w="9525" cap="flat" cmpd="sng" algn="ctr">
                      <a:solidFill>
                        <a:srgbClr val="C9C0B2"/>
                      </a:solidFill>
                      <a:prstDash val="solid"/>
                      <a:round/>
                      <a:headEnd type="none" w="med" len="med"/>
                      <a:tailEnd type="none" w="med" len="med"/>
                    </a:lnR>
                    <a:lnT w="9525" cap="flat" cmpd="sng" algn="ctr">
                      <a:solidFill>
                        <a:srgbClr val="C9C0B2"/>
                      </a:solidFill>
                      <a:prstDash val="solid"/>
                      <a:round/>
                      <a:headEnd type="none" w="med" len="med"/>
                      <a:tailEnd type="none" w="med" len="med"/>
                    </a:lnT>
                    <a:lnB w="9525" cap="flat" cmpd="sng" algn="ctr">
                      <a:solidFill>
                        <a:srgbClr val="C9C0B2"/>
                      </a:solidFill>
                      <a:prstDash val="solid"/>
                      <a:round/>
                      <a:headEnd type="none" w="med" len="med"/>
                      <a:tailEnd type="none" w="med" len="med"/>
                    </a:lnB>
                    <a:solidFill>
                      <a:srgbClr val="F5F2E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AE1"/>
        </a:solidFill>
      </p:bgPr>
    </p:bg>
    <p:spTree>
      <p:nvGrpSpPr>
        <p:cNvPr id="1" name=""/>
        <p:cNvGrpSpPr/>
        <p:nvPr/>
      </p:nvGrpSpPr>
      <p:grpSpPr>
        <a:xfrm>
          <a:off x="0" y="0"/>
          <a:ext cx="0" cy="0"/>
          <a:chOff x="0" y="0"/>
          <a:chExt cx="0" cy="0"/>
        </a:xfrm>
      </p:grpSpPr>
      <p:pic>
        <p:nvPicPr>
          <p:cNvPr id="2" name="Image 0" descr="E:/Matter Of Place/Matter Of Place Codebase/src/assets/naples.jpg">    </p:cNvPr>
          <p:cNvPicPr>
            <a:picLocks noChangeAspect="1"/>
          </p:cNvPicPr>
          <p:nvPr/>
        </p:nvPicPr>
        <p:blipFill>
          <a:blip r:embed="rId1"/>
          <a:srcRect l="0" r="0" t="0" b="0"/>
          <a:stretch/>
        </p:blipFill>
        <p:spPr>
          <a:xfrm>
            <a:off x="0" y="0"/>
            <a:ext cx="4480560" cy="6858000"/>
          </a:xfrm>
          <a:prstGeom prst="rect">
            <a:avLst/>
          </a:prstGeom>
        </p:spPr>
      </p:pic>
      <p:sp>
        <p:nvSpPr>
          <p:cNvPr id="3" name="Text 0">
            <a:hlinkClick r:id="rId2" tooltip="Back to the agenda" action="ppaction://hlinksldjump"/>
          </p:cNvPr>
          <p:cNvSpPr/>
          <p:nvPr/>
        </p:nvSpPr>
        <p:spPr>
          <a:xfrm>
            <a:off x="103628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521208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3628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11 / 14</a:t>
            </a:r>
            <a:endParaRPr lang="en-US" sz="750" dirty="0"/>
          </a:p>
        </p:txBody>
      </p:sp>
      <p:sp>
        <p:nvSpPr>
          <p:cNvPr id="6" name="Text 3"/>
          <p:cNvSpPr/>
          <p:nvPr/>
        </p:nvSpPr>
        <p:spPr>
          <a:xfrm>
            <a:off x="521208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PRECISION DISTRIBUTION</a:t>
            </a:r>
            <a:endParaRPr lang="en-US" sz="900" dirty="0"/>
          </a:p>
        </p:txBody>
      </p:sp>
      <p:sp>
        <p:nvSpPr>
          <p:cNvPr id="7" name="Text 4"/>
          <p:cNvSpPr/>
          <p:nvPr/>
        </p:nvSpPr>
        <p:spPr>
          <a:xfrm>
            <a:off x="5212080" y="1188720"/>
            <a:ext cx="62480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Beyond the post.</a:t>
            </a:r>
            <a:endParaRPr lang="en-US" sz="3800" dirty="0"/>
          </a:p>
        </p:txBody>
      </p:sp>
      <p:sp>
        <p:nvSpPr>
          <p:cNvPr id="8" name="Text 5"/>
          <p:cNvSpPr/>
          <p:nvPr/>
        </p:nvSpPr>
        <p:spPr>
          <a:xfrm>
            <a:off x="5212080" y="2011680"/>
            <a:ext cx="5699455" cy="640080"/>
          </a:xfrm>
          <a:prstGeom prst="rect">
            <a:avLst/>
          </a:prstGeom>
          <a:noFill/>
          <a:ln/>
        </p:spPr>
        <p:txBody>
          <a:bodyPr wrap="square" lIns="0" tIns="0" rIns="0" bIns="0" rtlCol="0" anchor="t"/>
          <a:lstStyle/>
          <a:p>
            <a:pPr indent="0" marL="0">
              <a:lnSpc>
                <a:spcPct val="125000"/>
              </a:lnSpc>
              <a:buNone/>
            </a:pPr>
            <a:r>
              <a:rPr lang="en-US" sz="1300" dirty="0">
                <a:solidFill>
                  <a:srgbClr val="575751"/>
                </a:solidFill>
                <a:latin typeface="Jost" pitchFamily="34" charset="0"/>
                <a:ea typeface="Jost" pitchFamily="34" charset="-122"/>
                <a:cs typeface="Jost" pitchFamily="34" charset="-120"/>
              </a:rPr>
              <a:t>Selected campaigns can extend beyond our owned audience through targeted programmatic media across premium inventory.</a:t>
            </a:r>
            <a:endParaRPr lang="en-US" sz="1300" dirty="0"/>
          </a:p>
        </p:txBody>
      </p:sp>
      <p:sp>
        <p:nvSpPr>
          <p:cNvPr id="9" name="Shape 6"/>
          <p:cNvSpPr/>
          <p:nvPr/>
        </p:nvSpPr>
        <p:spPr>
          <a:xfrm>
            <a:off x="5212080" y="2788920"/>
            <a:ext cx="6248095" cy="0"/>
          </a:xfrm>
          <a:prstGeom prst="line">
            <a:avLst/>
          </a:prstGeom>
          <a:noFill/>
          <a:ln w="9525">
            <a:solidFill>
              <a:srgbClr val="C9C0B2"/>
            </a:solidFill>
            <a:prstDash val="solid"/>
          </a:ln>
        </p:spPr>
      </p:sp>
      <p:sp>
        <p:nvSpPr>
          <p:cNvPr id="10" name="Text 7"/>
          <p:cNvSpPr/>
          <p:nvPr/>
        </p:nvSpPr>
        <p:spPr>
          <a:xfrm>
            <a:off x="5212080" y="2788920"/>
            <a:ext cx="2743200" cy="457200"/>
          </a:xfrm>
          <a:prstGeom prst="rect">
            <a:avLst/>
          </a:prstGeom>
          <a:noFill/>
          <a:ln/>
        </p:spPr>
        <p:txBody>
          <a:bodyPr wrap="square" lIns="0" tIns="0" rIns="0" bIns="0" rtlCol="0" anchor="ctr"/>
          <a:lstStyle/>
          <a:p>
            <a:pPr indent="0" marL="0">
              <a:buNone/>
            </a:pPr>
            <a:r>
              <a:rPr lang="en-US" sz="850" spc="200" kern="0" dirty="0">
                <a:solidFill>
                  <a:srgbClr val="575751"/>
                </a:solidFill>
                <a:latin typeface="Jost" pitchFamily="34" charset="0"/>
                <a:ea typeface="Jost" pitchFamily="34" charset="-122"/>
                <a:cs typeface="Jost" pitchFamily="34" charset="-120"/>
              </a:rPr>
              <a:t>MEDIA FROM</a:t>
            </a:r>
            <a:endParaRPr lang="en-US" sz="850" dirty="0"/>
          </a:p>
        </p:txBody>
      </p:sp>
      <p:sp>
        <p:nvSpPr>
          <p:cNvPr id="11" name="Text 8"/>
          <p:cNvSpPr/>
          <p:nvPr/>
        </p:nvSpPr>
        <p:spPr>
          <a:xfrm>
            <a:off x="7955280" y="2788920"/>
            <a:ext cx="3504895" cy="457200"/>
          </a:xfrm>
          <a:prstGeom prst="rect">
            <a:avLst/>
          </a:prstGeom>
          <a:noFill/>
          <a:ln/>
        </p:spPr>
        <p:txBody>
          <a:bodyPr wrap="square" lIns="0" tIns="0" rIns="0" bIns="0" rtlCol="0" anchor="ctr"/>
          <a:lstStyle/>
          <a:p>
            <a:pPr algn="r" indent="0" marL="0">
              <a:buNone/>
            </a:pPr>
            <a:r>
              <a:rPr lang="en-US" sz="1800" dirty="0">
                <a:solidFill>
                  <a:srgbClr val="11110F"/>
                </a:solidFill>
                <a:latin typeface="Cormorant Garamond" pitchFamily="34" charset="0"/>
                <a:ea typeface="Cormorant Garamond" pitchFamily="34" charset="-122"/>
                <a:cs typeface="Cormorant Garamond" pitchFamily="34" charset="-120"/>
              </a:rPr>
              <a:t>$250</a:t>
            </a:r>
            <a:endParaRPr lang="en-US" sz="1800" dirty="0"/>
          </a:p>
        </p:txBody>
      </p:sp>
      <p:sp>
        <p:nvSpPr>
          <p:cNvPr id="12" name="Shape 9"/>
          <p:cNvSpPr/>
          <p:nvPr/>
        </p:nvSpPr>
        <p:spPr>
          <a:xfrm>
            <a:off x="5212080" y="3246120"/>
            <a:ext cx="6248095" cy="0"/>
          </a:xfrm>
          <a:prstGeom prst="line">
            <a:avLst/>
          </a:prstGeom>
          <a:noFill/>
          <a:ln w="9525">
            <a:solidFill>
              <a:srgbClr val="C9C0B2"/>
            </a:solidFill>
            <a:prstDash val="solid"/>
          </a:ln>
        </p:spPr>
      </p:sp>
      <p:sp>
        <p:nvSpPr>
          <p:cNvPr id="13" name="Text 10"/>
          <p:cNvSpPr/>
          <p:nvPr/>
        </p:nvSpPr>
        <p:spPr>
          <a:xfrm>
            <a:off x="5212080" y="3246120"/>
            <a:ext cx="2743200" cy="457200"/>
          </a:xfrm>
          <a:prstGeom prst="rect">
            <a:avLst/>
          </a:prstGeom>
          <a:noFill/>
          <a:ln/>
        </p:spPr>
        <p:txBody>
          <a:bodyPr wrap="square" lIns="0" tIns="0" rIns="0" bIns="0" rtlCol="0" anchor="ctr"/>
          <a:lstStyle/>
          <a:p>
            <a:pPr indent="0" marL="0">
              <a:buNone/>
            </a:pPr>
            <a:r>
              <a:rPr lang="en-US" sz="850" spc="200" kern="0" dirty="0">
                <a:solidFill>
                  <a:srgbClr val="575751"/>
                </a:solidFill>
                <a:latin typeface="Jost" pitchFamily="34" charset="0"/>
                <a:ea typeface="Jost" pitchFamily="34" charset="-122"/>
                <a:cs typeface="Jost" pitchFamily="34" charset="-120"/>
              </a:rPr>
              <a:t>MANAGEMENT</a:t>
            </a:r>
            <a:endParaRPr lang="en-US" sz="850" dirty="0"/>
          </a:p>
        </p:txBody>
      </p:sp>
      <p:sp>
        <p:nvSpPr>
          <p:cNvPr id="14" name="Text 11"/>
          <p:cNvSpPr/>
          <p:nvPr/>
        </p:nvSpPr>
        <p:spPr>
          <a:xfrm>
            <a:off x="7955280" y="3246120"/>
            <a:ext cx="3504895" cy="457200"/>
          </a:xfrm>
          <a:prstGeom prst="rect">
            <a:avLst/>
          </a:prstGeom>
          <a:noFill/>
          <a:ln/>
        </p:spPr>
        <p:txBody>
          <a:bodyPr wrap="square" lIns="0" tIns="0" rIns="0" bIns="0" rtlCol="0" anchor="ctr"/>
          <a:lstStyle/>
          <a:p>
            <a:pPr algn="r" indent="0" marL="0">
              <a:buNone/>
            </a:pPr>
            <a:r>
              <a:rPr lang="en-US" sz="1800" dirty="0">
                <a:solidFill>
                  <a:srgbClr val="11110F"/>
                </a:solidFill>
                <a:latin typeface="Cormorant Garamond" pitchFamily="34" charset="0"/>
                <a:ea typeface="Cormorant Garamond" pitchFamily="34" charset="-122"/>
                <a:cs typeface="Cormorant Garamond" pitchFamily="34" charset="-120"/>
              </a:rPr>
              <a:t>15% of media spend</a:t>
            </a:r>
            <a:endParaRPr lang="en-US" sz="1800" dirty="0"/>
          </a:p>
        </p:txBody>
      </p:sp>
      <p:sp>
        <p:nvSpPr>
          <p:cNvPr id="15" name="Shape 12"/>
          <p:cNvSpPr/>
          <p:nvPr/>
        </p:nvSpPr>
        <p:spPr>
          <a:xfrm>
            <a:off x="5212080" y="3703320"/>
            <a:ext cx="6248095" cy="0"/>
          </a:xfrm>
          <a:prstGeom prst="line">
            <a:avLst/>
          </a:prstGeom>
          <a:noFill/>
          <a:ln w="9525">
            <a:solidFill>
              <a:srgbClr val="C9C0B2"/>
            </a:solidFill>
            <a:prstDash val="solid"/>
          </a:ln>
        </p:spPr>
      </p:sp>
      <p:sp>
        <p:nvSpPr>
          <p:cNvPr id="16" name="Text 13"/>
          <p:cNvSpPr/>
          <p:nvPr/>
        </p:nvSpPr>
        <p:spPr>
          <a:xfrm>
            <a:off x="5212080" y="3703320"/>
            <a:ext cx="2743200" cy="457200"/>
          </a:xfrm>
          <a:prstGeom prst="rect">
            <a:avLst/>
          </a:prstGeom>
          <a:noFill/>
          <a:ln/>
        </p:spPr>
        <p:txBody>
          <a:bodyPr wrap="square" lIns="0" tIns="0" rIns="0" bIns="0" rtlCol="0" anchor="ctr"/>
          <a:lstStyle/>
          <a:p>
            <a:pPr indent="0" marL="0">
              <a:buNone/>
            </a:pPr>
            <a:r>
              <a:rPr lang="en-US" sz="850" spc="200" kern="0" dirty="0">
                <a:solidFill>
                  <a:srgbClr val="575751"/>
                </a:solidFill>
                <a:latin typeface="Jost" pitchFamily="34" charset="0"/>
                <a:ea typeface="Jost" pitchFamily="34" charset="-122"/>
                <a:cs typeface="Jost" pitchFamily="34" charset="-120"/>
              </a:rPr>
              <a:t>MINIMUM MANAGEMENT FEE</a:t>
            </a:r>
            <a:endParaRPr lang="en-US" sz="850" dirty="0"/>
          </a:p>
        </p:txBody>
      </p:sp>
      <p:sp>
        <p:nvSpPr>
          <p:cNvPr id="17" name="Text 14"/>
          <p:cNvSpPr/>
          <p:nvPr/>
        </p:nvSpPr>
        <p:spPr>
          <a:xfrm>
            <a:off x="7955280" y="3703320"/>
            <a:ext cx="3504895" cy="457200"/>
          </a:xfrm>
          <a:prstGeom prst="rect">
            <a:avLst/>
          </a:prstGeom>
          <a:noFill/>
          <a:ln/>
        </p:spPr>
        <p:txBody>
          <a:bodyPr wrap="square" lIns="0" tIns="0" rIns="0" bIns="0" rtlCol="0" anchor="ctr"/>
          <a:lstStyle/>
          <a:p>
            <a:pPr algn="r" indent="0" marL="0">
              <a:buNone/>
            </a:pPr>
            <a:r>
              <a:rPr lang="en-US" sz="1800" dirty="0">
                <a:solidFill>
                  <a:srgbClr val="11110F"/>
                </a:solidFill>
                <a:latin typeface="Cormorant Garamond" pitchFamily="34" charset="0"/>
                <a:ea typeface="Cormorant Garamond" pitchFamily="34" charset="-122"/>
                <a:cs typeface="Cormorant Garamond" pitchFamily="34" charset="-120"/>
              </a:rPr>
              <a:t>$100</a:t>
            </a:r>
            <a:endParaRPr lang="en-US" sz="1800" dirty="0"/>
          </a:p>
        </p:txBody>
      </p:sp>
      <p:sp>
        <p:nvSpPr>
          <p:cNvPr id="18" name="Shape 15"/>
          <p:cNvSpPr/>
          <p:nvPr/>
        </p:nvSpPr>
        <p:spPr>
          <a:xfrm>
            <a:off x="5212080" y="4160520"/>
            <a:ext cx="6248095" cy="0"/>
          </a:xfrm>
          <a:prstGeom prst="line">
            <a:avLst/>
          </a:prstGeom>
          <a:noFill/>
          <a:ln w="9525">
            <a:solidFill>
              <a:srgbClr val="C9C0B2"/>
            </a:solidFill>
            <a:prstDash val="solid"/>
          </a:ln>
        </p:spPr>
      </p:sp>
      <p:sp>
        <p:nvSpPr>
          <p:cNvPr id="19" name="Text 16"/>
          <p:cNvSpPr/>
          <p:nvPr/>
        </p:nvSpPr>
        <p:spPr>
          <a:xfrm>
            <a:off x="5212080" y="443484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FORMATS</a:t>
            </a:r>
            <a:endParaRPr lang="en-US" sz="900" dirty="0"/>
          </a:p>
        </p:txBody>
      </p:sp>
      <p:sp>
        <p:nvSpPr>
          <p:cNvPr id="20" name="Text 17"/>
          <p:cNvSpPr/>
          <p:nvPr/>
        </p:nvSpPr>
        <p:spPr>
          <a:xfrm>
            <a:off x="5212080" y="4709160"/>
            <a:ext cx="6248095" cy="320040"/>
          </a:xfrm>
          <a:prstGeom prst="rect">
            <a:avLst/>
          </a:prstGeom>
          <a:noFill/>
          <a:ln/>
        </p:spPr>
        <p:txBody>
          <a:bodyPr wrap="square" lIns="0" tIns="0" rIns="0" bIns="0" rtlCol="0" anchor="t"/>
          <a:lstStyle/>
          <a:p>
            <a:pPr indent="0" marL="0">
              <a:lnSpc>
                <a:spcPct val="125000"/>
              </a:lnSpc>
              <a:buNone/>
            </a:pPr>
            <a:r>
              <a:rPr lang="en-US" sz="1300" dirty="0">
                <a:solidFill>
                  <a:srgbClr val="11110F"/>
                </a:solidFill>
                <a:latin typeface="Jost" pitchFamily="34" charset="0"/>
                <a:ea typeface="Jost" pitchFamily="34" charset="-122"/>
                <a:cs typeface="Jost" pitchFamily="34" charset="-120"/>
              </a:rPr>
              <a:t>Premium display  ·  Native  ·  Online video  ·  Retargeting  ·  CTV  ·  Select DOOH</a:t>
            </a:r>
            <a:endParaRPr lang="en-US" sz="1300" dirty="0"/>
          </a:p>
        </p:txBody>
      </p:sp>
      <p:sp>
        <p:nvSpPr>
          <p:cNvPr id="21" name="Text 18"/>
          <p:cNvSpPr/>
          <p:nvPr/>
        </p:nvSpPr>
        <p:spPr>
          <a:xfrm>
            <a:off x="5212080" y="5166360"/>
            <a:ext cx="6248095" cy="457200"/>
          </a:xfrm>
          <a:prstGeom prst="rect">
            <a:avLst/>
          </a:prstGeom>
          <a:noFill/>
          <a:ln/>
        </p:spPr>
        <p:txBody>
          <a:bodyPr wrap="square" lIns="0" tIns="0" rIns="0" bIns="0" rtlCol="0" anchor="t"/>
          <a:lstStyle/>
          <a:p>
            <a:pPr indent="0" marL="0">
              <a:lnSpc>
                <a:spcPct val="125000"/>
              </a:lnSpc>
              <a:buNone/>
            </a:pPr>
            <a:r>
              <a:rPr lang="en-US" sz="1100" dirty="0">
                <a:solidFill>
                  <a:srgbClr val="575751"/>
                </a:solidFill>
                <a:latin typeface="Jost" pitchFamily="34" charset="0"/>
                <a:ea typeface="Jost" pitchFamily="34" charset="-122"/>
                <a:cs typeface="Jost" pitchFamily="34" charset="-120"/>
              </a:rPr>
              <a:t>Channel selection varies by campaign. Media budgets are separate from editorial product fees.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B"/>
        </a:solidFill>
      </p:bgPr>
    </p:bg>
    <p:spTree>
      <p:nvGrpSpPr>
        <p:cNvPr id="1" name=""/>
        <p:cNvGrpSpPr/>
        <p:nvPr/>
      </p:nvGrpSpPr>
      <p:grpSpPr>
        <a:xfrm>
          <a:off x="0" y="0"/>
          <a:ext cx="0" cy="0"/>
          <a:chOff x="0" y="0"/>
          <a:chExt cx="0" cy="0"/>
        </a:xfrm>
      </p:grpSpPr>
      <p:pic>
        <p:nvPicPr>
          <p:cNvPr id="2" name="Image 0" descr="E:/Matter Of Place/Matter Of Place Codebase/src/assets/gallery/desert-colonnade.jpg">    </p:cNvPr>
          <p:cNvPicPr>
            <a:picLocks noChangeAspect="1"/>
          </p:cNvPicPr>
          <p:nvPr/>
        </p:nvPicPr>
        <p:blipFill>
          <a:blip r:embed="rId1"/>
          <a:srcRect l="0" r="0" t="0" b="0"/>
          <a:stretch/>
        </p:blipFill>
        <p:spPr>
          <a:xfrm>
            <a:off x="7711135" y="0"/>
            <a:ext cx="4480560" cy="6858000"/>
          </a:xfrm>
          <a:prstGeom prst="rect">
            <a:avLst/>
          </a:prstGeom>
        </p:spPr>
      </p:pic>
      <p:sp>
        <p:nvSpPr>
          <p:cNvPr id="3" name="Text 0">
            <a:hlinkClick r:id="rId2" tooltip="Back to the agenda" action="ppaction://hlinksldjump"/>
          </p:cNvPr>
          <p:cNvSpPr/>
          <p:nvPr/>
        </p:nvSpPr>
        <p:spPr>
          <a:xfrm>
            <a:off x="588233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73152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588233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12 / 14</a:t>
            </a:r>
            <a:endParaRPr lang="en-US" sz="750" dirty="0"/>
          </a:p>
        </p:txBody>
      </p:sp>
      <p:sp>
        <p:nvSpPr>
          <p:cNvPr id="6" name="Text 3"/>
          <p:cNvSpPr/>
          <p:nvPr/>
        </p:nvSpPr>
        <p:spPr>
          <a:xfrm>
            <a:off x="73152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WHAT WE DO NOT DO</a:t>
            </a:r>
            <a:endParaRPr lang="en-US" sz="900" dirty="0"/>
          </a:p>
        </p:txBody>
      </p:sp>
      <p:sp>
        <p:nvSpPr>
          <p:cNvPr id="7" name="Text 4"/>
          <p:cNvSpPr/>
          <p:nvPr/>
        </p:nvSpPr>
        <p:spPr>
          <a:xfrm>
            <a:off x="731520" y="1188720"/>
            <a:ext cx="6248095"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Clear from the start.</a:t>
            </a:r>
            <a:endParaRPr lang="en-US" sz="3800" dirty="0"/>
          </a:p>
        </p:txBody>
      </p:sp>
      <p:sp>
        <p:nvSpPr>
          <p:cNvPr id="8" name="Shape 5"/>
          <p:cNvSpPr/>
          <p:nvPr/>
        </p:nvSpPr>
        <p:spPr>
          <a:xfrm>
            <a:off x="731520" y="2286000"/>
            <a:ext cx="6248095" cy="0"/>
          </a:xfrm>
          <a:prstGeom prst="line">
            <a:avLst/>
          </a:prstGeom>
          <a:noFill/>
          <a:ln w="9525">
            <a:solidFill>
              <a:srgbClr val="C9C0B2"/>
            </a:solidFill>
            <a:prstDash val="solid"/>
          </a:ln>
        </p:spPr>
      </p:sp>
      <p:sp>
        <p:nvSpPr>
          <p:cNvPr id="9" name="Text 6"/>
          <p:cNvSpPr/>
          <p:nvPr/>
        </p:nvSpPr>
        <p:spPr>
          <a:xfrm>
            <a:off x="731520" y="2286000"/>
            <a:ext cx="6248095" cy="566928"/>
          </a:xfrm>
          <a:prstGeom prst="rect">
            <a:avLst/>
          </a:prstGeom>
          <a:noFill/>
          <a:ln/>
        </p:spPr>
        <p:txBody>
          <a:bodyPr wrap="square" lIns="0" tIns="0" rIns="0" bIns="0" rtlCol="0" anchor="ctr"/>
          <a:lstStyle/>
          <a:p>
            <a:pPr indent="0" marL="0">
              <a:buNone/>
            </a:pPr>
            <a:r>
              <a:rPr lang="en-US" sz="1900" dirty="0">
                <a:solidFill>
                  <a:srgbClr val="11110F"/>
                </a:solidFill>
                <a:latin typeface="Cormorant Garamond" pitchFamily="34" charset="0"/>
                <a:ea typeface="Cormorant Garamond" pitchFamily="34" charset="-122"/>
                <a:cs typeface="Cormorant Garamond" pitchFamily="34" charset="-120"/>
              </a:rPr>
              <a:t>No guaranteed buyers, leads or sales.</a:t>
            </a:r>
            <a:endParaRPr lang="en-US" sz="1900" dirty="0"/>
          </a:p>
        </p:txBody>
      </p:sp>
      <p:sp>
        <p:nvSpPr>
          <p:cNvPr id="10" name="Shape 7"/>
          <p:cNvSpPr/>
          <p:nvPr/>
        </p:nvSpPr>
        <p:spPr>
          <a:xfrm>
            <a:off x="731520" y="2852928"/>
            <a:ext cx="6248095" cy="0"/>
          </a:xfrm>
          <a:prstGeom prst="line">
            <a:avLst/>
          </a:prstGeom>
          <a:noFill/>
          <a:ln w="9525">
            <a:solidFill>
              <a:srgbClr val="C9C0B2"/>
            </a:solidFill>
            <a:prstDash val="solid"/>
          </a:ln>
        </p:spPr>
      </p:sp>
      <p:sp>
        <p:nvSpPr>
          <p:cNvPr id="11" name="Text 8"/>
          <p:cNvSpPr/>
          <p:nvPr/>
        </p:nvSpPr>
        <p:spPr>
          <a:xfrm>
            <a:off x="731520" y="2852928"/>
            <a:ext cx="6248095" cy="566928"/>
          </a:xfrm>
          <a:prstGeom prst="rect">
            <a:avLst/>
          </a:prstGeom>
          <a:noFill/>
          <a:ln/>
        </p:spPr>
        <p:txBody>
          <a:bodyPr wrap="square" lIns="0" tIns="0" rIns="0" bIns="0" rtlCol="0" anchor="ctr"/>
          <a:lstStyle/>
          <a:p>
            <a:pPr indent="0" marL="0">
              <a:buNone/>
            </a:pPr>
            <a:r>
              <a:rPr lang="en-US" sz="1900" dirty="0">
                <a:solidFill>
                  <a:srgbClr val="11110F"/>
                </a:solidFill>
                <a:latin typeface="Cormorant Garamond" pitchFamily="34" charset="0"/>
                <a:ea typeface="Cormorant Garamond" pitchFamily="34" charset="-122"/>
                <a:cs typeface="Cormorant Garamond" pitchFamily="34" charset="-120"/>
              </a:rPr>
              <a:t>No new developments.</a:t>
            </a:r>
            <a:endParaRPr lang="en-US" sz="1900" dirty="0"/>
          </a:p>
        </p:txBody>
      </p:sp>
      <p:sp>
        <p:nvSpPr>
          <p:cNvPr id="12" name="Shape 9"/>
          <p:cNvSpPr/>
          <p:nvPr/>
        </p:nvSpPr>
        <p:spPr>
          <a:xfrm>
            <a:off x="731520" y="3419856"/>
            <a:ext cx="6248095" cy="0"/>
          </a:xfrm>
          <a:prstGeom prst="line">
            <a:avLst/>
          </a:prstGeom>
          <a:noFill/>
          <a:ln w="9525">
            <a:solidFill>
              <a:srgbClr val="C9C0B2"/>
            </a:solidFill>
            <a:prstDash val="solid"/>
          </a:ln>
        </p:spPr>
      </p:sp>
      <p:sp>
        <p:nvSpPr>
          <p:cNvPr id="13" name="Text 10"/>
          <p:cNvSpPr/>
          <p:nvPr/>
        </p:nvSpPr>
        <p:spPr>
          <a:xfrm>
            <a:off x="731520" y="3419856"/>
            <a:ext cx="6248095" cy="566928"/>
          </a:xfrm>
          <a:prstGeom prst="rect">
            <a:avLst/>
          </a:prstGeom>
          <a:noFill/>
          <a:ln/>
        </p:spPr>
        <p:txBody>
          <a:bodyPr wrap="square" lIns="0" tIns="0" rIns="0" bIns="0" rtlCol="0" anchor="ctr"/>
          <a:lstStyle/>
          <a:p>
            <a:pPr indent="0" marL="0">
              <a:buNone/>
            </a:pPr>
            <a:r>
              <a:rPr lang="en-US" sz="1900" dirty="0">
                <a:solidFill>
                  <a:srgbClr val="11110F"/>
                </a:solidFill>
                <a:latin typeface="Cormorant Garamond" pitchFamily="34" charset="0"/>
                <a:ea typeface="Cormorant Garamond" pitchFamily="34" charset="-122"/>
                <a:cs typeface="Cormorant Garamond" pitchFamily="34" charset="-120"/>
              </a:rPr>
              <a:t>No markets outside California, New York and Florida.</a:t>
            </a:r>
            <a:endParaRPr lang="en-US" sz="1900" dirty="0"/>
          </a:p>
        </p:txBody>
      </p:sp>
      <p:sp>
        <p:nvSpPr>
          <p:cNvPr id="14" name="Shape 11"/>
          <p:cNvSpPr/>
          <p:nvPr/>
        </p:nvSpPr>
        <p:spPr>
          <a:xfrm>
            <a:off x="731520" y="3986784"/>
            <a:ext cx="6248095" cy="0"/>
          </a:xfrm>
          <a:prstGeom prst="line">
            <a:avLst/>
          </a:prstGeom>
          <a:noFill/>
          <a:ln w="9525">
            <a:solidFill>
              <a:srgbClr val="C9C0B2"/>
            </a:solidFill>
            <a:prstDash val="solid"/>
          </a:ln>
        </p:spPr>
      </p:sp>
      <p:sp>
        <p:nvSpPr>
          <p:cNvPr id="15" name="Text 12"/>
          <p:cNvSpPr/>
          <p:nvPr/>
        </p:nvSpPr>
        <p:spPr>
          <a:xfrm>
            <a:off x="731520" y="3986784"/>
            <a:ext cx="6248095" cy="566928"/>
          </a:xfrm>
          <a:prstGeom prst="rect">
            <a:avLst/>
          </a:prstGeom>
          <a:noFill/>
          <a:ln/>
        </p:spPr>
        <p:txBody>
          <a:bodyPr wrap="square" lIns="0" tIns="0" rIns="0" bIns="0" rtlCol="0" anchor="ctr"/>
          <a:lstStyle/>
          <a:p>
            <a:pPr indent="0" marL="0">
              <a:buNone/>
            </a:pPr>
            <a:r>
              <a:rPr lang="en-US" sz="1900" dirty="0">
                <a:solidFill>
                  <a:srgbClr val="11110F"/>
                </a:solidFill>
                <a:latin typeface="Cormorant Garamond" pitchFamily="34" charset="0"/>
                <a:ea typeface="Cormorant Garamond" pitchFamily="34" charset="-122"/>
                <a:cs typeface="Cormorant Garamond" pitchFamily="34" charset="-120"/>
              </a:rPr>
              <a:t>No acceptance for payment alone.</a:t>
            </a:r>
            <a:endParaRPr lang="en-US" sz="1900" dirty="0"/>
          </a:p>
        </p:txBody>
      </p:sp>
      <p:sp>
        <p:nvSpPr>
          <p:cNvPr id="16" name="Shape 13"/>
          <p:cNvSpPr/>
          <p:nvPr/>
        </p:nvSpPr>
        <p:spPr>
          <a:xfrm>
            <a:off x="731520" y="4553712"/>
            <a:ext cx="6248095" cy="0"/>
          </a:xfrm>
          <a:prstGeom prst="line">
            <a:avLst/>
          </a:prstGeom>
          <a:noFill/>
          <a:ln w="9525">
            <a:solidFill>
              <a:srgbClr val="C9C0B2"/>
            </a:solidFill>
            <a:prstDash val="solid"/>
          </a:ln>
        </p:spPr>
      </p:sp>
      <p:sp>
        <p:nvSpPr>
          <p:cNvPr id="17" name="Text 14"/>
          <p:cNvSpPr/>
          <p:nvPr/>
        </p:nvSpPr>
        <p:spPr>
          <a:xfrm>
            <a:off x="731520" y="4846320"/>
            <a:ext cx="6248095" cy="457200"/>
          </a:xfrm>
          <a:prstGeom prst="rect">
            <a:avLst/>
          </a:prstGeom>
          <a:noFill/>
          <a:ln/>
        </p:spPr>
        <p:txBody>
          <a:bodyPr wrap="square" lIns="0" tIns="0" rIns="0" bIns="0" rtlCol="0" anchor="t"/>
          <a:lstStyle/>
          <a:p>
            <a:pPr indent="0" marL="0">
              <a:lnSpc>
                <a:spcPct val="125000"/>
              </a:lnSpc>
              <a:buNone/>
            </a:pPr>
            <a:r>
              <a:rPr lang="en-US" sz="1300" dirty="0">
                <a:solidFill>
                  <a:srgbClr val="575751"/>
                </a:solidFill>
                <a:latin typeface="Jost" pitchFamily="34" charset="0"/>
                <a:ea typeface="Jost" pitchFamily="34" charset="-122"/>
                <a:cs typeface="Jost" pitchFamily="34" charset="-120"/>
              </a:rPr>
              <a:t>We provide editorial exposure and media distribution, not transaction guarantees.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AE1"/>
        </a:solidFill>
      </p:bgPr>
    </p:bg>
    <p:spTree>
      <p:nvGrpSpPr>
        <p:cNvPr id="1" name=""/>
        <p:cNvGrpSpPr/>
        <p:nvPr/>
      </p:nvGrpSpPr>
      <p:grpSpPr>
        <a:xfrm>
          <a:off x="0" y="0"/>
          <a:ext cx="0" cy="0"/>
          <a:chOff x="0" y="0"/>
          <a:chExt cx="0" cy="0"/>
        </a:xfrm>
      </p:grpSpPr>
      <p:sp>
        <p:nvSpPr>
          <p:cNvPr id="2" name="Text 0">
            <a:hlinkClick r:id="rId1" tooltip="Back to the agenda" action="ppaction://hlinksldjump"/>
          </p:cNvPr>
          <p:cNvSpPr/>
          <p:nvPr/>
        </p:nvSpPr>
        <p:spPr>
          <a:xfrm>
            <a:off x="105914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11110F"/>
                </a:solidFill>
                <a:latin typeface="Jost" pitchFamily="34" charset="0"/>
                <a:ea typeface="Jost" pitchFamily="34" charset="-122"/>
                <a:cs typeface="Jost" pitchFamily="34" charset="-120"/>
                <a:hlinkClick r:id="rId1"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3" name="Text 1"/>
          <p:cNvSpPr/>
          <p:nvPr/>
        </p:nvSpPr>
        <p:spPr>
          <a:xfrm>
            <a:off x="54864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4" name="Text 2"/>
          <p:cNvSpPr/>
          <p:nvPr/>
        </p:nvSpPr>
        <p:spPr>
          <a:xfrm>
            <a:off x="105914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13 / 14</a:t>
            </a:r>
            <a:endParaRPr lang="en-US" sz="750" dirty="0"/>
          </a:p>
        </p:txBody>
      </p:sp>
      <p:sp>
        <p:nvSpPr>
          <p:cNvPr id="5" name="Text 3"/>
          <p:cNvSpPr/>
          <p:nvPr/>
        </p:nvSpPr>
        <p:spPr>
          <a:xfrm>
            <a:off x="731520" y="868680"/>
            <a:ext cx="5486400" cy="274320"/>
          </a:xfrm>
          <a:prstGeom prst="rect">
            <a:avLst/>
          </a:prstGeom>
          <a:noFill/>
          <a:ln/>
        </p:spPr>
        <p:txBody>
          <a:bodyPr wrap="square" lIns="0" tIns="0" rIns="0" bIns="0" rtlCol="0" anchor="ctr"/>
          <a:lstStyle/>
          <a:p>
            <a:pPr indent="0" marL="0">
              <a:buNone/>
            </a:pPr>
            <a:r>
              <a:rPr lang="en-US" sz="900" spc="300" kern="0" dirty="0">
                <a:solidFill>
                  <a:srgbClr val="575751"/>
                </a:solidFill>
                <a:latin typeface="Jost" pitchFamily="34" charset="0"/>
                <a:ea typeface="Jost" pitchFamily="34" charset="-122"/>
                <a:cs typeface="Jost" pitchFamily="34" charset="-120"/>
              </a:rPr>
              <a:t>QUESTIONS</a:t>
            </a:r>
            <a:endParaRPr lang="en-US" sz="900" dirty="0"/>
          </a:p>
        </p:txBody>
      </p:sp>
      <p:sp>
        <p:nvSpPr>
          <p:cNvPr id="6" name="Text 4"/>
          <p:cNvSpPr/>
          <p:nvPr/>
        </p:nvSpPr>
        <p:spPr>
          <a:xfrm>
            <a:off x="731520" y="1188720"/>
            <a:ext cx="9144000" cy="1188720"/>
          </a:xfrm>
          <a:prstGeom prst="rect">
            <a:avLst/>
          </a:prstGeom>
          <a:noFill/>
          <a:ln/>
        </p:spPr>
        <p:txBody>
          <a:bodyPr wrap="square" lIns="0" tIns="0" rIns="0" bIns="0" rtlCol="0" anchor="t"/>
          <a:lstStyle/>
          <a:p>
            <a:pPr indent="0" marL="0">
              <a:buNone/>
            </a:pPr>
            <a:r>
              <a:rPr lang="en-US" sz="3800" dirty="0">
                <a:solidFill>
                  <a:srgbClr val="11110F"/>
                </a:solidFill>
                <a:latin typeface="Cormorant Garamond" pitchFamily="34" charset="0"/>
                <a:ea typeface="Cormorant Garamond" pitchFamily="34" charset="-122"/>
                <a:cs typeface="Cormorant Garamond" pitchFamily="34" charset="-120"/>
              </a:rPr>
              <a:t>What partners ask first.</a:t>
            </a:r>
            <a:endParaRPr lang="en-US" sz="3800" dirty="0"/>
          </a:p>
        </p:txBody>
      </p:sp>
      <p:sp>
        <p:nvSpPr>
          <p:cNvPr id="7" name="Shape 5"/>
          <p:cNvSpPr/>
          <p:nvPr/>
        </p:nvSpPr>
        <p:spPr>
          <a:xfrm>
            <a:off x="731520" y="2103120"/>
            <a:ext cx="5090008" cy="0"/>
          </a:xfrm>
          <a:prstGeom prst="line">
            <a:avLst/>
          </a:prstGeom>
          <a:noFill/>
          <a:ln w="9525">
            <a:solidFill>
              <a:srgbClr val="C9C0B2"/>
            </a:solidFill>
            <a:prstDash val="solid"/>
          </a:ln>
        </p:spPr>
      </p:sp>
      <p:sp>
        <p:nvSpPr>
          <p:cNvPr id="8" name="Text 6"/>
          <p:cNvSpPr/>
          <p:nvPr/>
        </p:nvSpPr>
        <p:spPr>
          <a:xfrm>
            <a:off x="731520" y="2176272"/>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Does paying guarantee acceptance?</a:t>
            </a:r>
            <a:endParaRPr lang="en-US" sz="1500" dirty="0"/>
          </a:p>
        </p:txBody>
      </p:sp>
      <p:sp>
        <p:nvSpPr>
          <p:cNvPr id="9" name="Text 7"/>
          <p:cNvSpPr/>
          <p:nvPr/>
        </p:nvSpPr>
        <p:spPr>
          <a:xfrm>
            <a:off x="731520" y="2505456"/>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No. Every property is subject to the Matter of Place editorial standard.</a:t>
            </a:r>
            <a:endParaRPr lang="en-US" sz="1050" dirty="0"/>
          </a:p>
        </p:txBody>
      </p:sp>
      <p:sp>
        <p:nvSpPr>
          <p:cNvPr id="10" name="Shape 8"/>
          <p:cNvSpPr/>
          <p:nvPr/>
        </p:nvSpPr>
        <p:spPr>
          <a:xfrm>
            <a:off x="731520" y="3127248"/>
            <a:ext cx="5090008" cy="0"/>
          </a:xfrm>
          <a:prstGeom prst="line">
            <a:avLst/>
          </a:prstGeom>
          <a:noFill/>
          <a:ln w="9525">
            <a:solidFill>
              <a:srgbClr val="C9C0B2"/>
            </a:solidFill>
            <a:prstDash val="solid"/>
          </a:ln>
        </p:spPr>
      </p:sp>
      <p:sp>
        <p:nvSpPr>
          <p:cNvPr id="11" name="Text 9"/>
          <p:cNvSpPr/>
          <p:nvPr/>
        </p:nvSpPr>
        <p:spPr>
          <a:xfrm>
            <a:off x="731520" y="3200400"/>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Do you guarantee buyers or leads?</a:t>
            </a:r>
            <a:endParaRPr lang="en-US" sz="1500" dirty="0"/>
          </a:p>
        </p:txBody>
      </p:sp>
      <p:sp>
        <p:nvSpPr>
          <p:cNvPr id="12" name="Text 10"/>
          <p:cNvSpPr/>
          <p:nvPr/>
        </p:nvSpPr>
        <p:spPr>
          <a:xfrm>
            <a:off x="731520" y="3529584"/>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No. Matter of Place provides editorial exposure and media distribution, not transaction guarantees.</a:t>
            </a:r>
            <a:endParaRPr lang="en-US" sz="1050" dirty="0"/>
          </a:p>
        </p:txBody>
      </p:sp>
      <p:sp>
        <p:nvSpPr>
          <p:cNvPr id="13" name="Shape 11"/>
          <p:cNvSpPr/>
          <p:nvPr/>
        </p:nvSpPr>
        <p:spPr>
          <a:xfrm>
            <a:off x="731520" y="4151376"/>
            <a:ext cx="5090008" cy="0"/>
          </a:xfrm>
          <a:prstGeom prst="line">
            <a:avLst/>
          </a:prstGeom>
          <a:noFill/>
          <a:ln w="9525">
            <a:solidFill>
              <a:srgbClr val="C9C0B2"/>
            </a:solidFill>
            <a:prstDash val="solid"/>
          </a:ln>
        </p:spPr>
      </p:sp>
      <p:sp>
        <p:nvSpPr>
          <p:cNvPr id="14" name="Text 12"/>
          <p:cNvSpPr/>
          <p:nvPr/>
        </p:nvSpPr>
        <p:spPr>
          <a:xfrm>
            <a:off x="731520" y="4224528"/>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Can I submit properties outside California, New York or Florida?</a:t>
            </a:r>
            <a:endParaRPr lang="en-US" sz="1500" dirty="0"/>
          </a:p>
        </p:txBody>
      </p:sp>
      <p:sp>
        <p:nvSpPr>
          <p:cNvPr id="15" name="Text 13"/>
          <p:cNvSpPr/>
          <p:nvPr/>
        </p:nvSpPr>
        <p:spPr>
          <a:xfrm>
            <a:off x="731520" y="4754880"/>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Not currently.</a:t>
            </a:r>
            <a:endParaRPr lang="en-US" sz="1050" dirty="0"/>
          </a:p>
        </p:txBody>
      </p:sp>
      <p:sp>
        <p:nvSpPr>
          <p:cNvPr id="16" name="Shape 14"/>
          <p:cNvSpPr/>
          <p:nvPr/>
        </p:nvSpPr>
        <p:spPr>
          <a:xfrm>
            <a:off x="731520" y="5175504"/>
            <a:ext cx="5090008" cy="0"/>
          </a:xfrm>
          <a:prstGeom prst="line">
            <a:avLst/>
          </a:prstGeom>
          <a:noFill/>
          <a:ln w="9525">
            <a:solidFill>
              <a:srgbClr val="C9C0B2"/>
            </a:solidFill>
            <a:prstDash val="solid"/>
          </a:ln>
        </p:spPr>
      </p:sp>
      <p:sp>
        <p:nvSpPr>
          <p:cNvPr id="17" name="Text 15"/>
          <p:cNvSpPr/>
          <p:nvPr/>
        </p:nvSpPr>
        <p:spPr>
          <a:xfrm>
            <a:off x="731520" y="5248656"/>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Do you work with new developments?</a:t>
            </a:r>
            <a:endParaRPr lang="en-US" sz="1500" dirty="0"/>
          </a:p>
        </p:txBody>
      </p:sp>
      <p:sp>
        <p:nvSpPr>
          <p:cNvPr id="18" name="Text 16"/>
          <p:cNvSpPr/>
          <p:nvPr/>
        </p:nvSpPr>
        <p:spPr>
          <a:xfrm>
            <a:off x="731520" y="5577840"/>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Not currently. Matter of Place is focused on existing residential property.</a:t>
            </a:r>
            <a:endParaRPr lang="en-US" sz="1050" dirty="0"/>
          </a:p>
        </p:txBody>
      </p:sp>
      <p:sp>
        <p:nvSpPr>
          <p:cNvPr id="19" name="Shape 17"/>
          <p:cNvSpPr/>
          <p:nvPr/>
        </p:nvSpPr>
        <p:spPr>
          <a:xfrm>
            <a:off x="6370168" y="2103120"/>
            <a:ext cx="5090008" cy="0"/>
          </a:xfrm>
          <a:prstGeom prst="line">
            <a:avLst/>
          </a:prstGeom>
          <a:noFill/>
          <a:ln w="9525">
            <a:solidFill>
              <a:srgbClr val="C9C0B2"/>
            </a:solidFill>
            <a:prstDash val="solid"/>
          </a:ln>
        </p:spPr>
      </p:sp>
      <p:sp>
        <p:nvSpPr>
          <p:cNvPr id="20" name="Text 18"/>
          <p:cNvSpPr/>
          <p:nvPr/>
        </p:nvSpPr>
        <p:spPr>
          <a:xfrm>
            <a:off x="6370168" y="2176272"/>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Is paid media included?</a:t>
            </a:r>
            <a:endParaRPr lang="en-US" sz="1500" dirty="0"/>
          </a:p>
        </p:txBody>
      </p:sp>
      <p:sp>
        <p:nvSpPr>
          <p:cNvPr id="21" name="Text 19"/>
          <p:cNvSpPr/>
          <p:nvPr/>
        </p:nvSpPr>
        <p:spPr>
          <a:xfrm>
            <a:off x="6370168" y="2505456"/>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No. Programmatic media budgets are separate from editorial product fees.</a:t>
            </a:r>
            <a:endParaRPr lang="en-US" sz="1050" dirty="0"/>
          </a:p>
        </p:txBody>
      </p:sp>
      <p:sp>
        <p:nvSpPr>
          <p:cNvPr id="22" name="Shape 20"/>
          <p:cNvSpPr/>
          <p:nvPr/>
        </p:nvSpPr>
        <p:spPr>
          <a:xfrm>
            <a:off x="6370168" y="3127248"/>
            <a:ext cx="5090008" cy="0"/>
          </a:xfrm>
          <a:prstGeom prst="line">
            <a:avLst/>
          </a:prstGeom>
          <a:noFill/>
          <a:ln w="9525">
            <a:solidFill>
              <a:srgbClr val="C9C0B2"/>
            </a:solidFill>
            <a:prstDash val="solid"/>
          </a:ln>
        </p:spPr>
      </p:sp>
      <p:sp>
        <p:nvSpPr>
          <p:cNvPr id="23" name="Text 21"/>
          <p:cNvSpPr/>
          <p:nvPr/>
        </p:nvSpPr>
        <p:spPr>
          <a:xfrm>
            <a:off x="6370168" y="3200400"/>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Can agents purchase multiple Features?</a:t>
            </a:r>
            <a:endParaRPr lang="en-US" sz="1500" dirty="0"/>
          </a:p>
        </p:txBody>
      </p:sp>
      <p:sp>
        <p:nvSpPr>
          <p:cNvPr id="24" name="Text 22"/>
          <p:cNvSpPr/>
          <p:nvPr/>
        </p:nvSpPr>
        <p:spPr>
          <a:xfrm>
            <a:off x="6370168" y="3529584"/>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Yes. Five Feature credits are available for $1,250.</a:t>
            </a:r>
            <a:endParaRPr lang="en-US" sz="1050" dirty="0"/>
          </a:p>
        </p:txBody>
      </p:sp>
      <p:sp>
        <p:nvSpPr>
          <p:cNvPr id="25" name="Shape 23"/>
          <p:cNvSpPr/>
          <p:nvPr/>
        </p:nvSpPr>
        <p:spPr>
          <a:xfrm>
            <a:off x="6370168" y="4151376"/>
            <a:ext cx="5090008" cy="0"/>
          </a:xfrm>
          <a:prstGeom prst="line">
            <a:avLst/>
          </a:prstGeom>
          <a:noFill/>
          <a:ln w="9525">
            <a:solidFill>
              <a:srgbClr val="C9C0B2"/>
            </a:solidFill>
            <a:prstDash val="solid"/>
          </a:ln>
        </p:spPr>
      </p:sp>
      <p:sp>
        <p:nvSpPr>
          <p:cNvPr id="26" name="Text 24"/>
          <p:cNvSpPr/>
          <p:nvPr/>
        </p:nvSpPr>
        <p:spPr>
          <a:xfrm>
            <a:off x="6370168" y="4224528"/>
            <a:ext cx="5090008" cy="457200"/>
          </a:xfrm>
          <a:prstGeom prst="rect">
            <a:avLst/>
          </a:prstGeom>
          <a:noFill/>
          <a:ln/>
        </p:spPr>
        <p:txBody>
          <a:bodyPr wrap="square" lIns="0" tIns="0" rIns="0" bIns="0" rtlCol="0" anchor="t"/>
          <a:lstStyle/>
          <a:p>
            <a:pPr indent="0" marL="0">
              <a:buNone/>
            </a:pPr>
            <a:r>
              <a:rPr lang="en-US" sz="1500" dirty="0">
                <a:solidFill>
                  <a:srgbClr val="11110F"/>
                </a:solidFill>
                <a:latin typeface="Cormorant Garamond" pitchFamily="34" charset="0"/>
                <a:ea typeface="Cormorant Garamond" pitchFamily="34" charset="-122"/>
                <a:cs typeface="Cormorant Garamond" pitchFamily="34" charset="-120"/>
              </a:rPr>
              <a:t>Can a property remain discreet?</a:t>
            </a:r>
            <a:endParaRPr lang="en-US" sz="1500" dirty="0"/>
          </a:p>
        </p:txBody>
      </p:sp>
      <p:sp>
        <p:nvSpPr>
          <p:cNvPr id="27" name="Text 25"/>
          <p:cNvSpPr/>
          <p:nvPr/>
        </p:nvSpPr>
        <p:spPr>
          <a:xfrm>
            <a:off x="6370168" y="4553712"/>
            <a:ext cx="5090008" cy="411480"/>
          </a:xfrm>
          <a:prstGeom prst="rect">
            <a:avLst/>
          </a:prstGeom>
          <a:noFill/>
          <a:ln/>
        </p:spPr>
        <p:txBody>
          <a:bodyPr wrap="square" lIns="0" tIns="0" rIns="0" bIns="0" rtlCol="0" anchor="t"/>
          <a:lstStyle/>
          <a:p>
            <a:pPr indent="0" marL="0">
              <a:lnSpc>
                <a:spcPct val="120000"/>
              </a:lnSpc>
              <a:buNone/>
            </a:pPr>
            <a:r>
              <a:rPr lang="en-US" sz="1050" dirty="0">
                <a:solidFill>
                  <a:srgbClr val="575751"/>
                </a:solidFill>
                <a:latin typeface="Jost" pitchFamily="34" charset="0"/>
                <a:ea typeface="Jost" pitchFamily="34" charset="-122"/>
                <a:cs typeface="Jost" pitchFamily="34" charset="-120"/>
              </a:rPr>
              <a:t>Yes. Sensitive property details can be handled discreetly where appropriate.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0F"/>
        </a:solidFill>
      </p:bgPr>
    </p:bg>
    <p:spTree>
      <p:nvGrpSpPr>
        <p:cNvPr id="1" name=""/>
        <p:cNvGrpSpPr/>
        <p:nvPr/>
      </p:nvGrpSpPr>
      <p:grpSpPr>
        <a:xfrm>
          <a:off x="0" y="0"/>
          <a:ext cx="0" cy="0"/>
          <a:chOff x="0" y="0"/>
          <a:chExt cx="0" cy="0"/>
        </a:xfrm>
      </p:grpSpPr>
      <p:pic>
        <p:nvPicPr>
          <p:cNvPr id="2" name="Image 0" descr="E:/Matter Of Place/Matter Of Place Codebase/src/assets/mill-valley.jpg">    </p:cNvPr>
          <p:cNvPicPr>
            <a:picLocks noChangeAspect="1"/>
          </p:cNvPicPr>
          <p:nvPr/>
        </p:nvPicPr>
        <p:blipFill>
          <a:blip r:embed="rId1"/>
          <a:srcRect l="0" r="0" t="0" b="0"/>
          <a:stretch/>
        </p:blipFill>
        <p:spPr>
          <a:xfrm>
            <a:off x="0" y="0"/>
            <a:ext cx="5669280" cy="6858000"/>
          </a:xfrm>
          <a:prstGeom prst="rect">
            <a:avLst/>
          </a:prstGeom>
        </p:spPr>
      </p:pic>
      <p:sp>
        <p:nvSpPr>
          <p:cNvPr id="3" name="Text 0">
            <a:hlinkClick r:id="rId2" tooltip="Back to the agenda" action="ppaction://hlinksldjump"/>
          </p:cNvPr>
          <p:cNvSpPr/>
          <p:nvPr/>
        </p:nvSpPr>
        <p:spPr>
          <a:xfrm>
            <a:off x="10591495" y="292608"/>
            <a:ext cx="1097280" cy="274320"/>
          </a:xfrm>
          <a:prstGeom prst="rect">
            <a:avLst/>
          </a:prstGeom>
          <a:noFill/>
          <a:ln/>
        </p:spPr>
        <p:txBody>
          <a:bodyPr wrap="square" lIns="0" tIns="0" rIns="0" bIns="0" rtlCol="0" anchor="ctr"/>
          <a:lstStyle/>
          <a:p>
            <a:pPr algn="r" indent="0" marL="0">
              <a:buNone/>
            </a:pPr>
            <a:r>
              <a:rPr lang="en-US" sz="900" u="sng" spc="250" kern="0" dirty="0">
                <a:solidFill>
                  <a:srgbClr val="EEEAE1"/>
                </a:solidFill>
                <a:latin typeface="Jost" pitchFamily="34" charset="0"/>
                <a:ea typeface="Jost" pitchFamily="34" charset="-122"/>
                <a:cs typeface="Jost" pitchFamily="34" charset="-120"/>
                <a:hlinkClick r:id="rId2" action="ppaction://hlinksldjump" tooltip="Back to the agenda">
                  <a:extLst>
                    <a:ext uri="{A12FA001-AC4F-418D-AE19-62706E023703}">
                      <ahyp:hlinkClr xmlns:ahyp="http://schemas.microsoft.com/office/drawing/2018/hyperlinkcolor" val="tx"/>
                    </a:ext>
                  </a:extLst>
                </a:hlinkClick>
              </a:rPr>
              <a:t>Agenda</a:t>
            </a:r>
            <a:endParaRPr lang="en-US" sz="900" dirty="0"/>
          </a:p>
        </p:txBody>
      </p:sp>
      <p:sp>
        <p:nvSpPr>
          <p:cNvPr id="4" name="Text 1"/>
          <p:cNvSpPr/>
          <p:nvPr/>
        </p:nvSpPr>
        <p:spPr>
          <a:xfrm>
            <a:off x="6400800" y="6355080"/>
            <a:ext cx="45720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MATTER OF PLACE  ·  FOR PARTNERS</a:t>
            </a:r>
            <a:endParaRPr lang="en-US" sz="750" dirty="0"/>
          </a:p>
        </p:txBody>
      </p:sp>
      <p:sp>
        <p:nvSpPr>
          <p:cNvPr id="5" name="Text 2"/>
          <p:cNvSpPr/>
          <p:nvPr/>
        </p:nvSpPr>
        <p:spPr>
          <a:xfrm>
            <a:off x="10591495" y="6355080"/>
            <a:ext cx="1097280" cy="228600"/>
          </a:xfrm>
          <a:prstGeom prst="rect">
            <a:avLst/>
          </a:prstGeom>
          <a:noFill/>
          <a:ln/>
        </p:spPr>
        <p:txBody>
          <a:bodyPr wrap="square" lIns="0" tIns="0" rIns="0" bIns="0" rtlCol="0" anchor="ctr"/>
          <a:lstStyle/>
          <a:p>
            <a:pPr algn="r" indent="0" marL="0">
              <a:buNone/>
            </a:pPr>
            <a:r>
              <a:rPr lang="en-US" sz="750" spc="250" kern="0" dirty="0">
                <a:solidFill>
                  <a:srgbClr val="8B877F"/>
                </a:solidFill>
                <a:latin typeface="Jost" pitchFamily="34" charset="0"/>
                <a:ea typeface="Jost" pitchFamily="34" charset="-122"/>
                <a:cs typeface="Jost" pitchFamily="34" charset="-120"/>
              </a:rPr>
              <a:t>14 / 14</a:t>
            </a:r>
            <a:endParaRPr lang="en-US" sz="750" dirty="0"/>
          </a:p>
        </p:txBody>
      </p:sp>
      <p:sp>
        <p:nvSpPr>
          <p:cNvPr id="6" name="Text 3"/>
          <p:cNvSpPr/>
          <p:nvPr/>
        </p:nvSpPr>
        <p:spPr>
          <a:xfrm>
            <a:off x="6400800" y="868680"/>
            <a:ext cx="5059375" cy="274320"/>
          </a:xfrm>
          <a:prstGeom prst="rect">
            <a:avLst/>
          </a:prstGeom>
          <a:noFill/>
          <a:ln/>
        </p:spPr>
        <p:txBody>
          <a:bodyPr wrap="square" lIns="0" tIns="0" rIns="0" bIns="0" rtlCol="0" anchor="ctr"/>
          <a:lstStyle/>
          <a:p>
            <a:pPr indent="0" marL="0">
              <a:buNone/>
            </a:pPr>
            <a:r>
              <a:rPr lang="en-US" sz="900" spc="300" kern="0" dirty="0">
                <a:solidFill>
                  <a:srgbClr val="C9C0B2"/>
                </a:solidFill>
                <a:latin typeface="Jost" pitchFamily="34" charset="0"/>
                <a:ea typeface="Jost" pitchFamily="34" charset="-122"/>
                <a:cs typeface="Jost" pitchFamily="34" charset="-120"/>
              </a:rPr>
              <a:t>HOW TO SUBMIT</a:t>
            </a:r>
            <a:endParaRPr lang="en-US" sz="900" dirty="0"/>
          </a:p>
        </p:txBody>
      </p:sp>
      <p:sp>
        <p:nvSpPr>
          <p:cNvPr id="7" name="Text 4"/>
          <p:cNvSpPr/>
          <p:nvPr/>
        </p:nvSpPr>
        <p:spPr>
          <a:xfrm>
            <a:off x="6400800" y="1188720"/>
            <a:ext cx="5059375" cy="1280160"/>
          </a:xfrm>
          <a:prstGeom prst="rect">
            <a:avLst/>
          </a:prstGeom>
          <a:noFill/>
          <a:ln/>
        </p:spPr>
        <p:txBody>
          <a:bodyPr wrap="square" lIns="0" tIns="0" rIns="0" bIns="0" rtlCol="0" anchor="t"/>
          <a:lstStyle/>
          <a:p>
            <a:pPr indent="0" marL="0">
              <a:buNone/>
            </a:pPr>
            <a:r>
              <a:rPr lang="en-US" sz="3400" dirty="0">
                <a:solidFill>
                  <a:srgbClr val="EEEAE1"/>
                </a:solidFill>
                <a:latin typeface="Cormorant Garamond" pitchFamily="34" charset="0"/>
                <a:ea typeface="Cormorant Garamond" pitchFamily="34" charset="-122"/>
                <a:cs typeface="Cormorant Garamond" pitchFamily="34" charset="-120"/>
              </a:rPr>
              <a:t>Send us the property and its story.</a:t>
            </a:r>
            <a:endParaRPr lang="en-US" sz="3400" dirty="0"/>
          </a:p>
        </p:txBody>
      </p:sp>
      <p:sp>
        <p:nvSpPr>
          <p:cNvPr id="8" name="Text 5">
            <a:hlinkClick r:id="rId3" tooltip="Submit a property"/>
          </p:cNvPr>
          <p:cNvSpPr/>
          <p:nvPr/>
        </p:nvSpPr>
        <p:spPr>
          <a:xfrm>
            <a:off x="6400800" y="2743200"/>
            <a:ext cx="5059375" cy="548640"/>
          </a:xfrm>
          <a:prstGeom prst="rect">
            <a:avLst/>
          </a:prstGeom>
          <a:noFill/>
          <a:ln/>
        </p:spPr>
        <p:txBody>
          <a:bodyPr wrap="square" lIns="0" tIns="0" rIns="0" bIns="0" rtlCol="0" anchor="ctr"/>
          <a:lstStyle/>
          <a:p>
            <a:pPr indent="0" marL="0">
              <a:buNone/>
            </a:pPr>
            <a:r>
              <a:rPr lang="en-US" sz="2800" u="sng" dirty="0">
                <a:solidFill>
                  <a:srgbClr val="EEEAE1"/>
                </a:solidFill>
                <a:latin typeface="Cormorant Garamond" pitchFamily="34" charset="0"/>
                <a:ea typeface="Cormorant Garamond" pitchFamily="34" charset="-122"/>
                <a:cs typeface="Cormorant Garamond" pitchFamily="34" charset="-120"/>
                <a:hlinkClick r:id="rId3" invalidUrl="" action="" tgtFrame="" tooltip="Submit a property" history="1" highlightClick="0" endSnd="0">
                  <a:extLst>
                    <a:ext uri="{A12FA001-AC4F-418D-AE19-62706E023703}">
                      <ahyp:hlinkClr xmlns:ahyp="http://schemas.microsoft.com/office/drawing/2018/hyperlinkcolor" val="tx"/>
                    </a:ext>
                  </a:extLst>
                </a:hlinkClick>
              </a:rPr>
              <a:t>matterofplace.com/submit</a:t>
            </a:r>
            <a:endParaRPr lang="en-US" sz="2800" dirty="0"/>
          </a:p>
        </p:txBody>
      </p:sp>
      <p:sp>
        <p:nvSpPr>
          <p:cNvPr id="9" name="Shape 6"/>
          <p:cNvSpPr/>
          <p:nvPr/>
        </p:nvSpPr>
        <p:spPr>
          <a:xfrm>
            <a:off x="6400800" y="3337560"/>
            <a:ext cx="5059375" cy="0"/>
          </a:xfrm>
          <a:prstGeom prst="line">
            <a:avLst/>
          </a:prstGeom>
          <a:noFill/>
          <a:ln w="9525">
            <a:solidFill>
              <a:srgbClr val="C9C0B2"/>
            </a:solidFill>
            <a:prstDash val="solid"/>
          </a:ln>
        </p:spPr>
      </p:sp>
      <p:sp>
        <p:nvSpPr>
          <p:cNvPr id="10" name="Text 7"/>
          <p:cNvSpPr/>
          <p:nvPr/>
        </p:nvSpPr>
        <p:spPr>
          <a:xfrm>
            <a:off x="6400800" y="3566160"/>
            <a:ext cx="5059375" cy="320040"/>
          </a:xfrm>
          <a:prstGeom prst="rect">
            <a:avLst/>
          </a:prstGeom>
          <a:noFill/>
          <a:ln/>
        </p:spPr>
        <p:txBody>
          <a:bodyPr wrap="square" lIns="0" tIns="0" rIns="0" bIns="0" rtlCol="0" anchor="ctr"/>
          <a:lstStyle/>
          <a:p>
            <a:pPr indent="0" marL="0">
              <a:buNone/>
            </a:pPr>
            <a:r>
              <a:rPr lang="en-US" sz="1300" dirty="0">
                <a:solidFill>
                  <a:srgbClr val="C9C0B2"/>
                </a:solidFill>
                <a:latin typeface="Jost" pitchFamily="34" charset="0"/>
                <a:ea typeface="Jost" pitchFamily="34" charset="-122"/>
                <a:cs typeface="Jost" pitchFamily="34" charset="-120"/>
              </a:rPr>
              <a:t>We review every submission and reply.</a:t>
            </a:r>
            <a:endParaRPr lang="en-US" sz="1300" dirty="0"/>
          </a:p>
        </p:txBody>
      </p:sp>
      <p:sp>
        <p:nvSpPr>
          <p:cNvPr id="11" name="Text 8"/>
          <p:cNvSpPr/>
          <p:nvPr/>
        </p:nvSpPr>
        <p:spPr>
          <a:xfrm>
            <a:off x="6400800" y="3931920"/>
            <a:ext cx="5059375" cy="320040"/>
          </a:xfrm>
          <a:prstGeom prst="rect">
            <a:avLst/>
          </a:prstGeom>
          <a:noFill/>
          <a:ln/>
        </p:spPr>
        <p:txBody>
          <a:bodyPr wrap="square" lIns="0" tIns="0" rIns="0" bIns="0" rtlCol="0" anchor="ctr"/>
          <a:lstStyle/>
          <a:p>
            <a:pPr indent="0" marL="0">
              <a:buNone/>
            </a:pPr>
            <a:r>
              <a:rPr lang="en-US" sz="1300" dirty="0">
                <a:solidFill>
                  <a:srgbClr val="C9C0B2"/>
                </a:solidFill>
                <a:latin typeface="Jost" pitchFamily="34" charset="0"/>
                <a:ea typeface="Jost" pitchFamily="34" charset="-122"/>
                <a:cs typeface="Jost" pitchFamily="34" charset="-120"/>
              </a:rPr>
              <a:t>California, New York and Florida. Existing residential property.</a:t>
            </a:r>
            <a:endParaRPr lang="en-US" sz="1300" dirty="0"/>
          </a:p>
        </p:txBody>
      </p:sp>
      <p:sp>
        <p:nvSpPr>
          <p:cNvPr id="12" name="Shape 9"/>
          <p:cNvSpPr/>
          <p:nvPr/>
        </p:nvSpPr>
        <p:spPr>
          <a:xfrm>
            <a:off x="6441226" y="4917306"/>
            <a:ext cx="262770" cy="328462"/>
          </a:xfrm>
          <a:custGeom>
            <a:avLst/>
            <a:gdLst/>
            <a:ahLst/>
            <a:cxnLst/>
            <a:rect l="l" t="t" r="r" b="b"/>
            <a:pathLst>
              <a:path w="262770" h="328462">
                <a:moveTo>
                  <a:pt x="0" y="0"/>
                </a:moveTo>
                <a:lnTo>
                  <a:pt x="131385" y="55586"/>
                </a:lnTo>
                <a:lnTo>
                  <a:pt x="60639" y="80852"/>
                </a:lnTo>
                <a:lnTo>
                  <a:pt x="60639" y="298143"/>
                </a:lnTo>
                <a:lnTo>
                  <a:pt x="0" y="328462"/>
                </a:lnTo>
                <a:close/>
              </a:path>
            </a:pathLst>
          </a:custGeom>
          <a:solidFill>
            <a:srgbClr val="EEEAE1">
              <a:alpha val="90000"/>
            </a:srgbClr>
          </a:solidFill>
          <a:ln/>
        </p:spPr>
      </p:sp>
      <p:sp>
        <p:nvSpPr>
          <p:cNvPr id="13" name="Shape 10"/>
          <p:cNvSpPr/>
          <p:nvPr/>
        </p:nvSpPr>
        <p:spPr>
          <a:xfrm>
            <a:off x="6441226" y="4917306"/>
            <a:ext cx="262770" cy="328462"/>
          </a:xfrm>
          <a:custGeom>
            <a:avLst/>
            <a:gdLst/>
            <a:ahLst/>
            <a:cxnLst/>
            <a:rect l="l" t="t" r="r" b="b"/>
            <a:pathLst>
              <a:path w="262770" h="328462">
                <a:moveTo>
                  <a:pt x="0" y="0"/>
                </a:moveTo>
                <a:lnTo>
                  <a:pt x="262770" y="0"/>
                </a:lnTo>
                <a:lnTo>
                  <a:pt x="262770" y="328462"/>
                </a:lnTo>
                <a:lnTo>
                  <a:pt x="202131" y="298143"/>
                </a:lnTo>
                <a:lnTo>
                  <a:pt x="202131" y="80852"/>
                </a:lnTo>
                <a:close/>
              </a:path>
            </a:pathLst>
          </a:custGeom>
          <a:solidFill>
            <a:srgbClr val="EEEAE1">
              <a:alpha val="40000"/>
            </a:srgbClr>
          </a:solidFill>
          <a:ln/>
        </p:spPr>
      </p:sp>
      <p:sp>
        <p:nvSpPr>
          <p:cNvPr id="14" name="Text 11"/>
          <p:cNvSpPr/>
          <p:nvPr/>
        </p:nvSpPr>
        <p:spPr>
          <a:xfrm>
            <a:off x="6903720" y="4937760"/>
            <a:ext cx="3657600" cy="251460"/>
          </a:xfrm>
          <a:prstGeom prst="rect">
            <a:avLst/>
          </a:prstGeom>
          <a:noFill/>
          <a:ln/>
        </p:spPr>
        <p:txBody>
          <a:bodyPr wrap="square" lIns="0" tIns="0" rIns="0" bIns="0" rtlCol="0" anchor="ctr"/>
          <a:lstStyle/>
          <a:p>
            <a:pPr algn="l" indent="0" marL="0">
              <a:buNone/>
            </a:pPr>
            <a:r>
              <a:rPr lang="en-US" sz="1100" spc="264" kern="0" dirty="0">
                <a:solidFill>
                  <a:srgbClr val="EEEAE1"/>
                </a:solidFill>
                <a:latin typeface="Jost" pitchFamily="34" charset="0"/>
                <a:ea typeface="Jost" pitchFamily="34" charset="-122"/>
                <a:cs typeface="Jost" pitchFamily="34" charset="-120"/>
              </a:rPr>
              <a:t>MΛTTER </a:t>
            </a:r>
            <a:pPr algn="l" indent="0" marL="0">
              <a:buNone/>
            </a:pPr>
            <a:r>
              <a:rPr lang="en-US" sz="600" spc="264" kern="0" dirty="0">
                <a:solidFill>
                  <a:srgbClr val="EEEAE1"/>
                </a:solidFill>
                <a:latin typeface="Jost" pitchFamily="34" charset="0"/>
                <a:ea typeface="Jost" pitchFamily="34" charset="-122"/>
                <a:cs typeface="Jost" pitchFamily="34" charset="-120"/>
              </a:rPr>
              <a:t>OF</a:t>
            </a:r>
            <a:pPr algn="l" indent="0" marL="0">
              <a:buNone/>
            </a:pPr>
            <a:r>
              <a:rPr lang="en-US" sz="1100" spc="264" kern="0" dirty="0">
                <a:solidFill>
                  <a:srgbClr val="EEEAE1"/>
                </a:solidFill>
                <a:latin typeface="Jost" pitchFamily="34" charset="0"/>
                <a:ea typeface="Jost" pitchFamily="34" charset="-122"/>
                <a:cs typeface="Jost" pitchFamily="34" charset="-120"/>
              </a:rPr>
              <a:t> PLΛCE</a:t>
            </a:r>
            <a:endParaRPr lang="en-US" sz="1100" dirty="0"/>
          </a:p>
        </p:txBody>
      </p:sp>
      <p:sp>
        <p:nvSpPr>
          <p:cNvPr id="15" name="Text 12"/>
          <p:cNvSpPr/>
          <p:nvPr/>
        </p:nvSpPr>
        <p:spPr>
          <a:xfrm>
            <a:off x="6903720" y="5230368"/>
            <a:ext cx="3657600" cy="228600"/>
          </a:xfrm>
          <a:prstGeom prst="rect">
            <a:avLst/>
          </a:prstGeom>
          <a:noFill/>
          <a:ln/>
        </p:spPr>
        <p:txBody>
          <a:bodyPr wrap="square" lIns="0" tIns="0" rIns="0" bIns="0" rtlCol="0" anchor="ctr"/>
          <a:lstStyle/>
          <a:p>
            <a:pPr indent="0" marL="0">
              <a:buNone/>
            </a:pPr>
            <a:r>
              <a:rPr lang="en-US" sz="750" spc="250" kern="0" dirty="0">
                <a:solidFill>
                  <a:srgbClr val="8B877F"/>
                </a:solidFill>
                <a:latin typeface="Jost" pitchFamily="34" charset="0"/>
                <a:ea typeface="Jost" pitchFamily="34" charset="-122"/>
                <a:cs typeface="Jost" pitchFamily="34" charset="-120"/>
              </a:rPr>
              <a:t>A PRODUCT OF OMNIKOM</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Omnikom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Matter of Place for partners</dc:title>
  <dc:subject>PptxGenJS Presentation</dc:subject>
  <dc:creator>Matter of Place</dc:creator>
  <cp:lastModifiedBy>Matter of Place</cp:lastModifiedBy>
  <cp:revision>1</cp:revision>
  <dcterms:created xsi:type="dcterms:W3CDTF">2026-09-30T06:15:08Z</dcterms:created>
  <dcterms:modified xsi:type="dcterms:W3CDTF">2026-09-30T06:15:08Z</dcterms:modified>
</cp:coreProperties>
</file>